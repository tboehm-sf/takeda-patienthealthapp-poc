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presentation explores how deepening the Salesforce platform can transform the way Takeda shows up for patients — not just as a pharmaceutical company, but as a genuine partner in their health journey.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Patients with complex conditions face a disjointed experience — information in silos, support that comes too late, and communications that don't feel personal. This is the problem Takeda has the opportunity to solve.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vision is a patient experience that feels continuous, proactive, and human — where every interaction is informed by the full context of that patient's journey. Salesforce makes this possible at scale.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Salesforce brings three complementary capabilities together in a unified ecosystem. Health Cloud creates a 360° view of each patient. Data Cloud and Marketing Cloud enable intelligent, timely outreach. Agentforce brings AI-powered support that scales without losing the human touch.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Health Cloud gives Takeda a complete, real-time picture of each patient — bringing together clinical data, program enrollments, HCP relationships, and support interactions into a single profile that every team can act 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Cloud unifies patient data from every source — clinical systems, program enrollments, behavioural signals — and feeds that intelligence into Marketing Cloud to deliver communications that are genuinely relevant. The result is engagement that feels personal, not broadcast.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Agentforce enables intelligent AI agents that handle routine patient inquiries, proactively follow up on missed doses or program steps, and escalate seamlessly to human support when needed. Patients get faster, more consistent experiences — and care teams can focus where it matters most.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more connected, personalised, proactive engagement model drives better adherence, higher trust, and ultimately better health outcomes — which is the mission at the heart of everything Takeda does.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path forward is structured to deliver value at each stage. Phase 1 establishes the data and care management foundation. Phase 2 activates personalised patient journeys at scale. Phase 3 introduces AI-powered support that continuously learns and improves. We'd love to explore what this looks like specifically for Takeda.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arc maps the emotional and clinical journey of a patient with moderate-to-severe plaque psoriasis prescribed zasocitinib and supported by Takeda's 'For You With You: Psoriasis' digital companion app. The app feature set is directly grounded in Takeda's existing IBD companion app, extrapolated to dermatology. Key Phase 3 data: zasocitinib delivered approximately twice the skin clearance of the current best oral therapy (deucravacitinib).</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details what the 'For You With You: Zasocitinib' digital companion app does at each stage of the patient journey. Every feature shown is grounded in a direct equivalent from Takeda's existing IBD companion app — not a concept, but an extrapolation from a live, deployed product. The IBD-to-psoriasis feature mapping is shown in the legend (bottom right). Notable additions unique to dermatology: photo diary with baseline comparison, body map annotation, DLQI tracking, and clearance milestone celebrations. The Phase 3 stat (approximately 2x vs. current best oral therapy) is from Takeda's March 2026 press release.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maps every feature in Takeda's 'For You With You: IBD' digital companion app to its proposed equivalent for zasocitinib (moderate-to-severe plaque psoriasis). The IBD app provides the architectural and functional blueprint; the zasocitinib app is an extension, not a new build. Symptom tracking, disease activity scoring, medication management, HCP integration, and wellbeing tools all have direct one-to-one equivalents.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Continuing the capability mapping: triggers &amp; lifestyle tools, education library, and community features all translate directly from the IBD app. The final section highlights four capabilities that are new and unique to dermatology — photo diary with baseline comparison, clearance milestone celebrations (PASI 75/90), Phase 3 efficacy messaging, and the platform extensibility story: zasocitinib is also in development for Crohn's disease, meaning the same Salesforce-backed app infrastructure could serve patients across both IBD and dermatology indications.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589520" y="-1554480"/>
            <a:ext cx="5852160" cy="5852160"/>
          </a:xfrm>
          <a:prstGeom prst="ellipse">
            <a:avLst/>
          </a:prstGeom>
          <a:solidFill>
            <a:srgbClr val="005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503920" y="-640080"/>
            <a:ext cx="4023360" cy="4023360"/>
          </a:xfrm>
          <a:prstGeom prst="ellipse">
            <a:avLst/>
          </a:prstGeom>
          <a:solidFill>
            <a:srgbClr val="007B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2560320"/>
            <a:ext cx="164592" cy="2011680"/>
          </a:xfrm>
          <a:prstGeom prst="rect">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365760"/>
            <a:ext cx="5486400" cy="548640"/>
          </a:xfrm>
          <a:prstGeom prst="rect">
            <a:avLst/>
          </a:prstGeom>
          <a:noFill/>
        </p:spPr>
        <p:txBody>
          <a:bodyPr wrap="square">
            <a:spAutoFit/>
          </a:bodyPr>
          <a:lstStyle/>
          <a:p>
            <a:pPr algn="l"/>
            <a:r>
              <a:rPr sz="1300" b="1" i="0">
                <a:solidFill>
                  <a:srgbClr val="AABBCC"/>
                </a:solidFill>
                <a:latin typeface="Calibri"/>
              </a:rPr>
              <a:t>TAKEDA  ×  SALESFORCE</a:t>
            </a:r>
          </a:p>
        </p:txBody>
      </p:sp>
      <p:sp>
        <p:nvSpPr>
          <p:cNvPr id="7" name="TextBox 6"/>
          <p:cNvSpPr txBox="1"/>
          <p:nvPr/>
        </p:nvSpPr>
        <p:spPr>
          <a:xfrm>
            <a:off x="502920" y="1828800"/>
            <a:ext cx="7315200" cy="2926080"/>
          </a:xfrm>
          <a:prstGeom prst="rect">
            <a:avLst/>
          </a:prstGeom>
          <a:noFill/>
        </p:spPr>
        <p:txBody>
          <a:bodyPr wrap="square">
            <a:spAutoFit/>
          </a:bodyPr>
          <a:lstStyle/>
          <a:p>
            <a:pPr algn="l">
              <a:lnSpc>
                <a:spcPts val="5800"/>
              </a:lnSpc>
            </a:pPr>
            <a:r>
              <a:rPr sz="5200" b="1">
                <a:solidFill>
                  <a:srgbClr val="FFFFFF"/>
                </a:solidFill>
                <a:latin typeface="Calibri"/>
              </a:rPr>
              <a:t>Every Patient.</a:t>
            </a:r>
          </a:p>
          <a:p>
            <a:pPr algn="l">
              <a:lnSpc>
                <a:spcPts val="5800"/>
              </a:lnSpc>
            </a:pPr>
            <a:r>
              <a:rPr sz="5200" b="1">
                <a:solidFill>
                  <a:srgbClr val="FFFFFF"/>
                </a:solidFill>
                <a:latin typeface="Calibri"/>
              </a:rPr>
              <a:t>Every Moment.</a:t>
            </a:r>
          </a:p>
          <a:p>
            <a:pPr algn="l">
              <a:lnSpc>
                <a:spcPts val="5800"/>
              </a:lnSpc>
            </a:pPr>
            <a:r>
              <a:rPr sz="5200" b="1">
                <a:solidFill>
                  <a:srgbClr val="FFFFFF"/>
                </a:solidFill>
                <a:latin typeface="Calibri"/>
              </a:rPr>
              <a:t>More Connected.</a:t>
            </a:r>
          </a:p>
        </p:txBody>
      </p:sp>
      <p:sp>
        <p:nvSpPr>
          <p:cNvPr id="8" name="TextBox 7"/>
          <p:cNvSpPr txBox="1"/>
          <p:nvPr/>
        </p:nvSpPr>
        <p:spPr>
          <a:xfrm>
            <a:off x="502920" y="4892040"/>
            <a:ext cx="7772400" cy="731520"/>
          </a:xfrm>
          <a:prstGeom prst="rect">
            <a:avLst/>
          </a:prstGeom>
          <a:noFill/>
        </p:spPr>
        <p:txBody>
          <a:bodyPr wrap="square">
            <a:spAutoFit/>
          </a:bodyPr>
          <a:lstStyle/>
          <a:p>
            <a:pPr algn="l"/>
            <a:r>
              <a:rPr sz="1700" b="0" i="0">
                <a:solidFill>
                  <a:srgbClr val="AABBDD"/>
                </a:solidFill>
                <a:latin typeface="Calibri"/>
              </a:rPr>
              <a:t>How Salesforce can extend and evolve Takeda's patient engagement</a:t>
            </a:r>
          </a:p>
        </p:txBody>
      </p:sp>
      <p:sp>
        <p:nvSpPr>
          <p:cNvPr id="9" name="Rectangle 8"/>
          <p:cNvSpPr/>
          <p:nvPr/>
        </p:nvSpPr>
        <p:spPr>
          <a:xfrm>
            <a:off x="0" y="6446520"/>
            <a:ext cx="12188952" cy="411480"/>
          </a:xfrm>
          <a:prstGeom prst="rect">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80160"/>
          </a:xfrm>
          <a:prstGeom prst="rect">
            <a:avLst/>
          </a:prstGeom>
          <a:solidFill>
            <a:srgbClr val="1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46520"/>
            <a:ext cx="12188952" cy="411480"/>
          </a:xfrm>
          <a:prstGeom prst="rect">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74320"/>
            <a:ext cx="9144000" cy="777240"/>
          </a:xfrm>
          <a:prstGeom prst="rect">
            <a:avLst/>
          </a:prstGeom>
          <a:noFill/>
        </p:spPr>
        <p:txBody>
          <a:bodyPr wrap="square">
            <a:spAutoFit/>
          </a:bodyPr>
          <a:lstStyle/>
          <a:p>
            <a:pPr algn="l"/>
            <a:r>
              <a:rPr sz="3200" b="1" i="0">
                <a:solidFill>
                  <a:srgbClr val="FFFFFF"/>
                </a:solidFill>
                <a:latin typeface="Calibri"/>
              </a:rPr>
              <a:t>TODAY, PATIENTS NAVIGATE ALONE.</a:t>
            </a:r>
          </a:p>
        </p:txBody>
      </p:sp>
      <p:sp>
        <p:nvSpPr>
          <p:cNvPr id="6" name="Rectangle 5"/>
          <p:cNvSpPr/>
          <p:nvPr/>
        </p:nvSpPr>
        <p:spPr>
          <a:xfrm>
            <a:off x="365760" y="1920240"/>
            <a:ext cx="1920240" cy="1371600"/>
          </a:xfrm>
          <a:prstGeom prst="rect">
            <a:avLst/>
          </a:prstGeom>
          <a:solidFill>
            <a:srgbClr val="6677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965960"/>
            <a:ext cx="1920240" cy="1280160"/>
          </a:xfrm>
          <a:prstGeom prst="rect">
            <a:avLst/>
          </a:prstGeom>
          <a:noFill/>
        </p:spPr>
        <p:txBody>
          <a:bodyPr wrap="square">
            <a:spAutoFit/>
          </a:bodyPr>
          <a:lstStyle/>
          <a:p>
            <a:pPr algn="ctr"/>
            <a:r>
              <a:rPr sz="1600" b="1" i="0">
                <a:solidFill>
                  <a:srgbClr val="FFFFFF"/>
                </a:solidFill>
                <a:latin typeface="Calibri"/>
              </a:rPr>
              <a:t>Diagnosis</a:t>
            </a:r>
          </a:p>
        </p:txBody>
      </p:sp>
      <p:sp>
        <p:nvSpPr>
          <p:cNvPr id="8" name="Rectangle 7"/>
          <p:cNvSpPr/>
          <p:nvPr/>
        </p:nvSpPr>
        <p:spPr>
          <a:xfrm>
            <a:off x="2286000" y="2514600"/>
            <a:ext cx="228600" cy="73152"/>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4600" y="2496312"/>
            <a:ext cx="274320" cy="109728"/>
          </a:xfrm>
          <a:prstGeom prst="rect">
            <a:avLst/>
          </a:prstGeom>
          <a:solidFill>
            <a:srgbClr val="F4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651760" y="1920240"/>
            <a:ext cx="1920240" cy="1371600"/>
          </a:xfrm>
          <a:prstGeom prst="rect">
            <a:avLst/>
          </a:prstGeom>
          <a:solidFill>
            <a:srgbClr val="6677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51760" y="1965960"/>
            <a:ext cx="1920240" cy="1280160"/>
          </a:xfrm>
          <a:prstGeom prst="rect">
            <a:avLst/>
          </a:prstGeom>
          <a:noFill/>
        </p:spPr>
        <p:txBody>
          <a:bodyPr wrap="square">
            <a:spAutoFit/>
          </a:bodyPr>
          <a:lstStyle/>
          <a:p>
            <a:pPr algn="ctr"/>
            <a:r>
              <a:rPr sz="1600" b="1" i="0">
                <a:solidFill>
                  <a:srgbClr val="FFFFFF"/>
                </a:solidFill>
                <a:latin typeface="Calibri"/>
              </a:rPr>
              <a:t>Treatment
Start</a:t>
            </a:r>
          </a:p>
        </p:txBody>
      </p:sp>
      <p:sp>
        <p:nvSpPr>
          <p:cNvPr id="12" name="Rectangle 11"/>
          <p:cNvSpPr/>
          <p:nvPr/>
        </p:nvSpPr>
        <p:spPr>
          <a:xfrm>
            <a:off x="4572000" y="2514600"/>
            <a:ext cx="228600" cy="73152"/>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800600" y="2496312"/>
            <a:ext cx="274320" cy="109728"/>
          </a:xfrm>
          <a:prstGeom prst="rect">
            <a:avLst/>
          </a:prstGeom>
          <a:solidFill>
            <a:srgbClr val="F4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937760" y="1920240"/>
            <a:ext cx="1920240" cy="1371600"/>
          </a:xfrm>
          <a:prstGeom prst="rect">
            <a:avLst/>
          </a:prstGeom>
          <a:solidFill>
            <a:srgbClr val="6677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37760" y="1965960"/>
            <a:ext cx="1920240" cy="1280160"/>
          </a:xfrm>
          <a:prstGeom prst="rect">
            <a:avLst/>
          </a:prstGeom>
          <a:noFill/>
        </p:spPr>
        <p:txBody>
          <a:bodyPr wrap="square">
            <a:spAutoFit/>
          </a:bodyPr>
          <a:lstStyle/>
          <a:p>
            <a:pPr algn="ctr"/>
            <a:r>
              <a:rPr sz="1600" b="1" i="0">
                <a:solidFill>
                  <a:srgbClr val="FFFFFF"/>
                </a:solidFill>
                <a:latin typeface="Calibri"/>
              </a:rPr>
              <a:t>Ongoing
Support</a:t>
            </a:r>
          </a:p>
        </p:txBody>
      </p:sp>
      <p:sp>
        <p:nvSpPr>
          <p:cNvPr id="16" name="Rectangle 15"/>
          <p:cNvSpPr/>
          <p:nvPr/>
        </p:nvSpPr>
        <p:spPr>
          <a:xfrm>
            <a:off x="6858000" y="2514600"/>
            <a:ext cx="228600" cy="73152"/>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86600" y="2496312"/>
            <a:ext cx="274320" cy="109728"/>
          </a:xfrm>
          <a:prstGeom prst="rect">
            <a:avLst/>
          </a:prstGeom>
          <a:solidFill>
            <a:srgbClr val="F4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223760" y="1920240"/>
            <a:ext cx="1920240" cy="1371600"/>
          </a:xfrm>
          <a:prstGeom prst="rect">
            <a:avLst/>
          </a:prstGeom>
          <a:solidFill>
            <a:srgbClr val="6677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23760" y="1965960"/>
            <a:ext cx="1920240" cy="1280160"/>
          </a:xfrm>
          <a:prstGeom prst="rect">
            <a:avLst/>
          </a:prstGeom>
          <a:noFill/>
        </p:spPr>
        <p:txBody>
          <a:bodyPr wrap="square">
            <a:spAutoFit/>
          </a:bodyPr>
          <a:lstStyle/>
          <a:p>
            <a:pPr algn="ctr"/>
            <a:r>
              <a:rPr sz="1600" b="1" i="0">
                <a:solidFill>
                  <a:srgbClr val="FFFFFF"/>
                </a:solidFill>
                <a:latin typeface="Calibri"/>
              </a:rPr>
              <a:t>Adherence
&amp; Follow-up</a:t>
            </a:r>
          </a:p>
        </p:txBody>
      </p:sp>
      <p:sp>
        <p:nvSpPr>
          <p:cNvPr id="20" name="Rectangle 19"/>
          <p:cNvSpPr/>
          <p:nvPr/>
        </p:nvSpPr>
        <p:spPr>
          <a:xfrm>
            <a:off x="9144000" y="2514600"/>
            <a:ext cx="228600" cy="73152"/>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372600" y="2496312"/>
            <a:ext cx="274320" cy="109728"/>
          </a:xfrm>
          <a:prstGeom prst="rect">
            <a:avLst/>
          </a:prstGeom>
          <a:solidFill>
            <a:srgbClr val="F4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509760" y="1920240"/>
            <a:ext cx="1920240" cy="1371600"/>
          </a:xfrm>
          <a:prstGeom prst="rect">
            <a:avLst/>
          </a:prstGeom>
          <a:solidFill>
            <a:srgbClr val="6677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09760" y="1965960"/>
            <a:ext cx="1920240" cy="1280160"/>
          </a:xfrm>
          <a:prstGeom prst="rect">
            <a:avLst/>
          </a:prstGeom>
          <a:noFill/>
        </p:spPr>
        <p:txBody>
          <a:bodyPr wrap="square">
            <a:spAutoFit/>
          </a:bodyPr>
          <a:lstStyle/>
          <a:p>
            <a:pPr algn="ctr"/>
            <a:r>
              <a:rPr sz="1600" b="1" i="0">
                <a:solidFill>
                  <a:srgbClr val="FFFFFF"/>
                </a:solidFill>
                <a:latin typeface="Calibri"/>
              </a:rPr>
              <a:t>Outcomes</a:t>
            </a:r>
          </a:p>
        </p:txBody>
      </p:sp>
      <p:sp>
        <p:nvSpPr>
          <p:cNvPr id="24" name="Rectangle 23"/>
          <p:cNvSpPr/>
          <p:nvPr/>
        </p:nvSpPr>
        <p:spPr>
          <a:xfrm>
            <a:off x="457200" y="3840480"/>
            <a:ext cx="3474720" cy="2103120"/>
          </a:xfrm>
          <a:prstGeom prst="rect">
            <a:avLst/>
          </a:prstGeom>
          <a:solidFill>
            <a:srgbClr val="FFFFFF"/>
          </a:solidFill>
          <a:ln w="25400">
            <a:solidFill>
              <a:srgbClr val="E40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3840480"/>
            <a:ext cx="3474720" cy="347472"/>
          </a:xfrm>
          <a:prstGeom prst="rect">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3858768"/>
            <a:ext cx="3200400" cy="320040"/>
          </a:xfrm>
          <a:prstGeom prst="rect">
            <a:avLst/>
          </a:prstGeom>
          <a:noFill/>
        </p:spPr>
        <p:txBody>
          <a:bodyPr wrap="square">
            <a:spAutoFit/>
          </a:bodyPr>
          <a:lstStyle/>
          <a:p>
            <a:pPr algn="l"/>
            <a:r>
              <a:rPr sz="1200" b="1" i="0">
                <a:solidFill>
                  <a:srgbClr val="FFFFFF"/>
                </a:solidFill>
                <a:latin typeface="Calibri"/>
              </a:rPr>
              <a:t>FRAGMENTED DATA</a:t>
            </a:r>
          </a:p>
        </p:txBody>
      </p:sp>
      <p:sp>
        <p:nvSpPr>
          <p:cNvPr id="27" name="TextBox 26"/>
          <p:cNvSpPr txBox="1"/>
          <p:nvPr/>
        </p:nvSpPr>
        <p:spPr>
          <a:xfrm>
            <a:off x="594360" y="4251960"/>
            <a:ext cx="3200400" cy="1371600"/>
          </a:xfrm>
          <a:prstGeom prst="rect">
            <a:avLst/>
          </a:prstGeom>
          <a:noFill/>
        </p:spPr>
        <p:txBody>
          <a:bodyPr wrap="square">
            <a:spAutoFit/>
          </a:bodyPr>
          <a:lstStyle/>
          <a:p>
            <a:pPr algn="l"/>
            <a:r>
              <a:rPr sz="1400" b="0" i="0">
                <a:solidFill>
                  <a:srgbClr val="444455"/>
                </a:solidFill>
                <a:latin typeface="Calibri"/>
              </a:rPr>
              <a:t>Siloed systems mean
no single patient view</a:t>
            </a:r>
          </a:p>
        </p:txBody>
      </p:sp>
      <p:sp>
        <p:nvSpPr>
          <p:cNvPr id="28" name="Rectangle 27"/>
          <p:cNvSpPr/>
          <p:nvPr/>
        </p:nvSpPr>
        <p:spPr>
          <a:xfrm>
            <a:off x="4297680" y="3840480"/>
            <a:ext cx="3474720" cy="2103120"/>
          </a:xfrm>
          <a:prstGeom prst="rect">
            <a:avLst/>
          </a:prstGeom>
          <a:solidFill>
            <a:srgbClr val="FFFFFF"/>
          </a:solidFill>
          <a:ln w="25400">
            <a:solidFill>
              <a:srgbClr val="E40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297680" y="3840480"/>
            <a:ext cx="3474720" cy="347472"/>
          </a:xfrm>
          <a:prstGeom prst="rect">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34840" y="3858768"/>
            <a:ext cx="3200400" cy="320040"/>
          </a:xfrm>
          <a:prstGeom prst="rect">
            <a:avLst/>
          </a:prstGeom>
          <a:noFill/>
        </p:spPr>
        <p:txBody>
          <a:bodyPr wrap="square">
            <a:spAutoFit/>
          </a:bodyPr>
          <a:lstStyle/>
          <a:p>
            <a:pPr algn="l"/>
            <a:r>
              <a:rPr sz="1200" b="1" i="0">
                <a:solidFill>
                  <a:srgbClr val="FFFFFF"/>
                </a:solidFill>
                <a:latin typeface="Calibri"/>
              </a:rPr>
              <a:t>REACTIVE SUPPORT</a:t>
            </a:r>
          </a:p>
        </p:txBody>
      </p:sp>
      <p:sp>
        <p:nvSpPr>
          <p:cNvPr id="31" name="TextBox 30"/>
          <p:cNvSpPr txBox="1"/>
          <p:nvPr/>
        </p:nvSpPr>
        <p:spPr>
          <a:xfrm>
            <a:off x="4434840" y="4251960"/>
            <a:ext cx="3200400" cy="1371600"/>
          </a:xfrm>
          <a:prstGeom prst="rect">
            <a:avLst/>
          </a:prstGeom>
          <a:noFill/>
        </p:spPr>
        <p:txBody>
          <a:bodyPr wrap="square">
            <a:spAutoFit/>
          </a:bodyPr>
          <a:lstStyle/>
          <a:p>
            <a:pPr algn="l"/>
            <a:r>
              <a:rPr sz="1400" b="0" i="0">
                <a:solidFill>
                  <a:srgbClr val="444455"/>
                </a:solidFill>
                <a:latin typeface="Calibri"/>
              </a:rPr>
              <a:t>Help arrives after
patients disengage</a:t>
            </a:r>
          </a:p>
        </p:txBody>
      </p:sp>
      <p:sp>
        <p:nvSpPr>
          <p:cNvPr id="32" name="Rectangle 31"/>
          <p:cNvSpPr/>
          <p:nvPr/>
        </p:nvSpPr>
        <p:spPr>
          <a:xfrm>
            <a:off x="8138160" y="3840480"/>
            <a:ext cx="3474720" cy="2103120"/>
          </a:xfrm>
          <a:prstGeom prst="rect">
            <a:avLst/>
          </a:prstGeom>
          <a:solidFill>
            <a:srgbClr val="FFFFFF"/>
          </a:solidFill>
          <a:ln w="25400">
            <a:solidFill>
              <a:srgbClr val="E40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38160" y="3840480"/>
            <a:ext cx="3474720" cy="347472"/>
          </a:xfrm>
          <a:prstGeom prst="rect">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75320" y="3858768"/>
            <a:ext cx="3200400" cy="320040"/>
          </a:xfrm>
          <a:prstGeom prst="rect">
            <a:avLst/>
          </a:prstGeom>
          <a:noFill/>
        </p:spPr>
        <p:txBody>
          <a:bodyPr wrap="square">
            <a:spAutoFit/>
          </a:bodyPr>
          <a:lstStyle/>
          <a:p>
            <a:pPr algn="l"/>
            <a:r>
              <a:rPr sz="1200" b="1" i="0">
                <a:solidFill>
                  <a:srgbClr val="FFFFFF"/>
                </a:solidFill>
                <a:latin typeface="Calibri"/>
              </a:rPr>
              <a:t>GENERIC OUTREACH</a:t>
            </a:r>
          </a:p>
        </p:txBody>
      </p:sp>
      <p:sp>
        <p:nvSpPr>
          <p:cNvPr id="35" name="TextBox 34"/>
          <p:cNvSpPr txBox="1"/>
          <p:nvPr/>
        </p:nvSpPr>
        <p:spPr>
          <a:xfrm>
            <a:off x="8275320" y="4251960"/>
            <a:ext cx="3200400" cy="1371600"/>
          </a:xfrm>
          <a:prstGeom prst="rect">
            <a:avLst/>
          </a:prstGeom>
          <a:noFill/>
        </p:spPr>
        <p:txBody>
          <a:bodyPr wrap="square">
            <a:spAutoFit/>
          </a:bodyPr>
          <a:lstStyle/>
          <a:p>
            <a:pPr algn="l"/>
            <a:r>
              <a:rPr sz="1400" b="0" i="0">
                <a:solidFill>
                  <a:srgbClr val="444455"/>
                </a:solidFill>
                <a:latin typeface="Calibri"/>
              </a:rPr>
              <a:t>Communications don't
reflect patient context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46520"/>
            <a:ext cx="12188952" cy="411480"/>
          </a:xfrm>
          <a:prstGeom prst="rect">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880360" y="640080"/>
            <a:ext cx="6400800" cy="6400800"/>
          </a:xfrm>
          <a:prstGeom prst="ellipse">
            <a:avLst/>
          </a:prstGeom>
          <a:solidFill>
            <a:srgbClr val="222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3794760" y="1554480"/>
            <a:ext cx="4572000" cy="4572000"/>
          </a:xfrm>
          <a:prstGeom prst="ellipse">
            <a:avLst/>
          </a:prstGeom>
          <a:solidFill>
            <a:srgbClr val="005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709160" y="2468880"/>
            <a:ext cx="2743200" cy="2743200"/>
          </a:xfrm>
          <a:prstGeom prst="ellipse">
            <a:avLst/>
          </a:prstGeom>
          <a:solidFill>
            <a:srgbClr val="00A1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40680" y="3200400"/>
            <a:ext cx="1280160" cy="12801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20040"/>
            <a:ext cx="4572000" cy="457200"/>
          </a:xfrm>
          <a:prstGeom prst="rect">
            <a:avLst/>
          </a:prstGeom>
          <a:noFill/>
        </p:spPr>
        <p:txBody>
          <a:bodyPr wrap="square">
            <a:spAutoFit/>
          </a:bodyPr>
          <a:lstStyle/>
          <a:p>
            <a:pPr algn="l"/>
            <a:r>
              <a:rPr sz="1200" b="1" i="0">
                <a:solidFill>
                  <a:srgbClr val="E4003A"/>
                </a:solidFill>
                <a:latin typeface="Calibri"/>
              </a:rPr>
              <a:t>THE VISION</a:t>
            </a:r>
          </a:p>
        </p:txBody>
      </p:sp>
      <p:sp>
        <p:nvSpPr>
          <p:cNvPr id="9" name="TextBox 8"/>
          <p:cNvSpPr txBox="1"/>
          <p:nvPr/>
        </p:nvSpPr>
        <p:spPr>
          <a:xfrm>
            <a:off x="457200" y="777240"/>
            <a:ext cx="5669280" cy="2743200"/>
          </a:xfrm>
          <a:prstGeom prst="rect">
            <a:avLst/>
          </a:prstGeom>
          <a:noFill/>
        </p:spPr>
        <p:txBody>
          <a:bodyPr wrap="square">
            <a:spAutoFit/>
          </a:bodyPr>
          <a:lstStyle/>
          <a:p>
            <a:pPr algn="l">
              <a:lnSpc>
                <a:spcPts val="4400"/>
              </a:lnSpc>
            </a:pPr>
            <a:r>
              <a:rPr sz="3600" b="1">
                <a:solidFill>
                  <a:srgbClr val="FFFFFF"/>
                </a:solidFill>
                <a:latin typeface="Calibri"/>
              </a:rPr>
              <a:t>What if every touchpoint</a:t>
            </a:r>
          </a:p>
          <a:p>
            <a:pPr algn="l">
              <a:lnSpc>
                <a:spcPts val="4400"/>
              </a:lnSpc>
            </a:pPr>
            <a:r>
              <a:rPr sz="3600" b="1">
                <a:solidFill>
                  <a:srgbClr val="FFFFFF"/>
                </a:solidFill>
                <a:latin typeface="Calibri"/>
              </a:rPr>
              <a:t>felt designed for</a:t>
            </a:r>
          </a:p>
          <a:p>
            <a:pPr algn="l">
              <a:lnSpc>
                <a:spcPts val="4400"/>
              </a:lnSpc>
            </a:pPr>
            <a:r>
              <a:rPr sz="3600" b="1">
                <a:solidFill>
                  <a:srgbClr val="FFFFFF"/>
                </a:solidFill>
                <a:latin typeface="Calibri"/>
              </a:rPr>
              <a:t>that patient — that moment?</a:t>
            </a:r>
          </a:p>
        </p:txBody>
      </p:sp>
      <p:sp>
        <p:nvSpPr>
          <p:cNvPr id="10" name="Oval 9"/>
          <p:cNvSpPr/>
          <p:nvPr/>
        </p:nvSpPr>
        <p:spPr>
          <a:xfrm>
            <a:off x="576072" y="3840480"/>
            <a:ext cx="402336" cy="402336"/>
          </a:xfrm>
          <a:prstGeom prst="ellipse">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40480"/>
            <a:ext cx="4754880" cy="548640"/>
          </a:xfrm>
          <a:prstGeom prst="rect">
            <a:avLst/>
          </a:prstGeom>
          <a:noFill/>
        </p:spPr>
        <p:txBody>
          <a:bodyPr wrap="square">
            <a:spAutoFit/>
          </a:bodyPr>
          <a:lstStyle/>
          <a:p>
            <a:pPr algn="l"/>
            <a:r>
              <a:rPr sz="1700" b="0" i="0">
                <a:solidFill>
                  <a:srgbClr val="FFFFFF"/>
                </a:solidFill>
                <a:latin typeface="Calibri"/>
              </a:rPr>
              <a:t>Unified patient profile across every system</a:t>
            </a:r>
          </a:p>
        </p:txBody>
      </p:sp>
      <p:sp>
        <p:nvSpPr>
          <p:cNvPr id="12" name="Oval 11"/>
          <p:cNvSpPr/>
          <p:nvPr/>
        </p:nvSpPr>
        <p:spPr>
          <a:xfrm>
            <a:off x="576072" y="4498848"/>
            <a:ext cx="402336" cy="402336"/>
          </a:xfrm>
          <a:prstGeom prst="ellipse">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498848"/>
            <a:ext cx="4754880" cy="548640"/>
          </a:xfrm>
          <a:prstGeom prst="rect">
            <a:avLst/>
          </a:prstGeom>
          <a:noFill/>
        </p:spPr>
        <p:txBody>
          <a:bodyPr wrap="square">
            <a:spAutoFit/>
          </a:bodyPr>
          <a:lstStyle/>
          <a:p>
            <a:pPr algn="l"/>
            <a:r>
              <a:rPr sz="1700" b="0" i="0">
                <a:solidFill>
                  <a:srgbClr val="FFFFFF"/>
                </a:solidFill>
                <a:latin typeface="Calibri"/>
              </a:rPr>
              <a:t>Proactive, personalised support</a:t>
            </a:r>
          </a:p>
        </p:txBody>
      </p:sp>
      <p:sp>
        <p:nvSpPr>
          <p:cNvPr id="14" name="Oval 13"/>
          <p:cNvSpPr/>
          <p:nvPr/>
        </p:nvSpPr>
        <p:spPr>
          <a:xfrm>
            <a:off x="576072" y="5157216"/>
            <a:ext cx="402336" cy="402336"/>
          </a:xfrm>
          <a:prstGeom prst="ellipse">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5157216"/>
            <a:ext cx="4754880" cy="548640"/>
          </a:xfrm>
          <a:prstGeom prst="rect">
            <a:avLst/>
          </a:prstGeom>
          <a:noFill/>
        </p:spPr>
        <p:txBody>
          <a:bodyPr wrap="square">
            <a:spAutoFit/>
          </a:bodyPr>
          <a:lstStyle/>
          <a:p>
            <a:pPr algn="l"/>
            <a:r>
              <a:rPr sz="1700" b="0" i="0">
                <a:solidFill>
                  <a:srgbClr val="FFFFFF"/>
                </a:solidFill>
                <a:latin typeface="Calibri"/>
              </a:rPr>
              <a:t>Intelligent engagement at every step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1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46520"/>
            <a:ext cx="12188952" cy="411480"/>
          </a:xfrm>
          <a:prstGeom prst="rect">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56032"/>
            <a:ext cx="10972800" cy="731520"/>
          </a:xfrm>
          <a:prstGeom prst="rect">
            <a:avLst/>
          </a:prstGeom>
          <a:noFill/>
        </p:spPr>
        <p:txBody>
          <a:bodyPr wrap="square">
            <a:spAutoFit/>
          </a:bodyPr>
          <a:lstStyle/>
          <a:p>
            <a:pPr algn="l"/>
            <a:r>
              <a:rPr sz="3000" b="1" i="0">
                <a:solidFill>
                  <a:srgbClr val="FFFFFF"/>
                </a:solidFill>
                <a:latin typeface="Calibri"/>
              </a:rPr>
              <a:t>ONE PLATFORM. END-TO-END PATIENT ENGAGEMENT.</a:t>
            </a:r>
          </a:p>
        </p:txBody>
      </p:sp>
      <p:sp>
        <p:nvSpPr>
          <p:cNvPr id="6" name="Oval 5"/>
          <p:cNvSpPr/>
          <p:nvPr/>
        </p:nvSpPr>
        <p:spPr>
          <a:xfrm>
            <a:off x="4892040" y="2560319"/>
            <a:ext cx="2377440" cy="2377440"/>
          </a:xfrm>
          <a:prstGeom prst="ellipse">
            <a:avLst/>
          </a:prstGeom>
          <a:solidFill>
            <a:srgbClr val="1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74920" y="3246119"/>
            <a:ext cx="2011680" cy="1005840"/>
          </a:xfrm>
          <a:prstGeom prst="rect">
            <a:avLst/>
          </a:prstGeom>
          <a:noFill/>
        </p:spPr>
        <p:txBody>
          <a:bodyPr wrap="square">
            <a:spAutoFit/>
          </a:bodyPr>
          <a:lstStyle/>
          <a:p>
            <a:pPr algn="ctr"/>
            <a:r>
              <a:rPr sz="1500" b="1" i="0">
                <a:solidFill>
                  <a:srgbClr val="FFFFFF"/>
                </a:solidFill>
                <a:latin typeface="Calibri"/>
              </a:rPr>
              <a:t>Patient
Experience</a:t>
            </a:r>
          </a:p>
        </p:txBody>
      </p:sp>
      <p:sp>
        <p:nvSpPr>
          <p:cNvPr id="8" name="Rectangle 7"/>
          <p:cNvSpPr/>
          <p:nvPr/>
        </p:nvSpPr>
        <p:spPr>
          <a:xfrm>
            <a:off x="914400" y="1828800"/>
            <a:ext cx="2834640" cy="2103120"/>
          </a:xfrm>
          <a:prstGeom prst="rect">
            <a:avLst/>
          </a:prstGeom>
          <a:solidFill>
            <a:srgbClr val="005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1828800"/>
            <a:ext cx="2834640" cy="1097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2029968"/>
            <a:ext cx="2514600" cy="822960"/>
          </a:xfrm>
          <a:prstGeom prst="rect">
            <a:avLst/>
          </a:prstGeom>
          <a:noFill/>
        </p:spPr>
        <p:txBody>
          <a:bodyPr wrap="square">
            <a:spAutoFit/>
          </a:bodyPr>
          <a:lstStyle/>
          <a:p>
            <a:pPr algn="ctr"/>
            <a:r>
              <a:rPr sz="1700" b="1" i="0">
                <a:solidFill>
                  <a:srgbClr val="FFFFFF"/>
                </a:solidFill>
                <a:latin typeface="Calibri"/>
              </a:rPr>
              <a:t>HEALTH CLOUD</a:t>
            </a:r>
          </a:p>
        </p:txBody>
      </p:sp>
      <p:sp>
        <p:nvSpPr>
          <p:cNvPr id="11" name="TextBox 10"/>
          <p:cNvSpPr txBox="1"/>
          <p:nvPr/>
        </p:nvSpPr>
        <p:spPr>
          <a:xfrm>
            <a:off x="1078992" y="2971800"/>
            <a:ext cx="2514600" cy="594360"/>
          </a:xfrm>
          <a:prstGeom prst="rect">
            <a:avLst/>
          </a:prstGeom>
          <a:noFill/>
        </p:spPr>
        <p:txBody>
          <a:bodyPr wrap="square">
            <a:spAutoFit/>
          </a:bodyPr>
          <a:lstStyle/>
          <a:p>
            <a:pPr algn="ctr"/>
            <a:r>
              <a:rPr sz="1400" b="0" i="0">
                <a:solidFill>
                  <a:srgbClr val="DDEEFF"/>
                </a:solidFill>
                <a:latin typeface="Calibri"/>
              </a:rPr>
              <a:t>Know Your Patient</a:t>
            </a:r>
          </a:p>
        </p:txBody>
      </p:sp>
      <p:sp>
        <p:nvSpPr>
          <p:cNvPr id="12" name="Rectangle 11"/>
          <p:cNvSpPr/>
          <p:nvPr/>
        </p:nvSpPr>
        <p:spPr>
          <a:xfrm>
            <a:off x="3749040" y="2843784"/>
            <a:ext cx="1143000" cy="7315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09160" y="5120640"/>
            <a:ext cx="2834640" cy="2103120"/>
          </a:xfrm>
          <a:prstGeom prst="rect">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09160" y="5120640"/>
            <a:ext cx="2834640" cy="1097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73752" y="5321808"/>
            <a:ext cx="2514600" cy="822960"/>
          </a:xfrm>
          <a:prstGeom prst="rect">
            <a:avLst/>
          </a:prstGeom>
          <a:noFill/>
        </p:spPr>
        <p:txBody>
          <a:bodyPr wrap="square">
            <a:spAutoFit/>
          </a:bodyPr>
          <a:lstStyle/>
          <a:p>
            <a:pPr algn="ctr"/>
            <a:r>
              <a:rPr sz="1700" b="1" i="0">
                <a:solidFill>
                  <a:srgbClr val="FFFFFF"/>
                </a:solidFill>
                <a:latin typeface="Calibri"/>
              </a:rPr>
              <a:t>DATA CLOUD
+ MARKETING CLOUD</a:t>
            </a:r>
          </a:p>
        </p:txBody>
      </p:sp>
      <p:sp>
        <p:nvSpPr>
          <p:cNvPr id="16" name="TextBox 15"/>
          <p:cNvSpPr txBox="1"/>
          <p:nvPr/>
        </p:nvSpPr>
        <p:spPr>
          <a:xfrm>
            <a:off x="4873752" y="6263640"/>
            <a:ext cx="2514600" cy="594360"/>
          </a:xfrm>
          <a:prstGeom prst="rect">
            <a:avLst/>
          </a:prstGeom>
          <a:noFill/>
        </p:spPr>
        <p:txBody>
          <a:bodyPr wrap="square">
            <a:spAutoFit/>
          </a:bodyPr>
          <a:lstStyle/>
          <a:p>
            <a:pPr algn="ctr"/>
            <a:r>
              <a:rPr sz="1400" b="0" i="0">
                <a:solidFill>
                  <a:srgbClr val="DDEEFF"/>
                </a:solidFill>
                <a:latin typeface="Calibri"/>
              </a:rPr>
              <a:t>Reach Your Patient</a:t>
            </a:r>
          </a:p>
        </p:txBody>
      </p:sp>
      <p:sp>
        <p:nvSpPr>
          <p:cNvPr id="17" name="Rectangle 16"/>
          <p:cNvSpPr/>
          <p:nvPr/>
        </p:nvSpPr>
        <p:spPr>
          <a:xfrm>
            <a:off x="6044184" y="4937759"/>
            <a:ext cx="73152" cy="182881"/>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961120" y="1828800"/>
            <a:ext cx="2834640" cy="21031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961120" y="1828800"/>
            <a:ext cx="2834640" cy="1097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25712" y="2029968"/>
            <a:ext cx="2514600" cy="822960"/>
          </a:xfrm>
          <a:prstGeom prst="rect">
            <a:avLst/>
          </a:prstGeom>
          <a:noFill/>
        </p:spPr>
        <p:txBody>
          <a:bodyPr wrap="square">
            <a:spAutoFit/>
          </a:bodyPr>
          <a:lstStyle/>
          <a:p>
            <a:pPr algn="ctr"/>
            <a:r>
              <a:rPr sz="1700" b="1" i="0">
                <a:solidFill>
                  <a:srgbClr val="FFFFFF"/>
                </a:solidFill>
                <a:latin typeface="Calibri"/>
              </a:rPr>
              <a:t>AGENTFORCE + AI</a:t>
            </a:r>
          </a:p>
        </p:txBody>
      </p:sp>
      <p:sp>
        <p:nvSpPr>
          <p:cNvPr id="21" name="TextBox 20"/>
          <p:cNvSpPr txBox="1"/>
          <p:nvPr/>
        </p:nvSpPr>
        <p:spPr>
          <a:xfrm>
            <a:off x="9125712" y="2971800"/>
            <a:ext cx="2514600" cy="594360"/>
          </a:xfrm>
          <a:prstGeom prst="rect">
            <a:avLst/>
          </a:prstGeom>
          <a:noFill/>
        </p:spPr>
        <p:txBody>
          <a:bodyPr wrap="square">
            <a:spAutoFit/>
          </a:bodyPr>
          <a:lstStyle/>
          <a:p>
            <a:pPr algn="ctr"/>
            <a:r>
              <a:rPr sz="1400" b="0" i="0">
                <a:solidFill>
                  <a:srgbClr val="DDEEFF"/>
                </a:solidFill>
                <a:latin typeface="Calibri"/>
              </a:rPr>
              <a:t>Support Your Patient</a:t>
            </a:r>
          </a:p>
        </p:txBody>
      </p:sp>
      <p:sp>
        <p:nvSpPr>
          <p:cNvPr id="22" name="Rectangle 21"/>
          <p:cNvSpPr/>
          <p:nvPr/>
        </p:nvSpPr>
        <p:spPr>
          <a:xfrm>
            <a:off x="7269480" y="2843784"/>
            <a:ext cx="1691640" cy="7315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0" cy="6858000"/>
          </a:xfrm>
          <a:prstGeom prst="rect">
            <a:avLst/>
          </a:prstGeom>
          <a:solidFill>
            <a:srgbClr val="005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46520"/>
            <a:ext cx="12188952" cy="411480"/>
          </a:xfrm>
          <a:prstGeom prst="rect">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457200"/>
            <a:ext cx="4389120" cy="502920"/>
          </a:xfrm>
          <a:prstGeom prst="rect">
            <a:avLst/>
          </a:prstGeom>
          <a:noFill/>
        </p:spPr>
        <p:txBody>
          <a:bodyPr wrap="square">
            <a:spAutoFit/>
          </a:bodyPr>
          <a:lstStyle/>
          <a:p>
            <a:pPr algn="l"/>
            <a:r>
              <a:rPr sz="1300" b="1" i="0">
                <a:solidFill>
                  <a:srgbClr val="AADDFF"/>
                </a:solidFill>
                <a:latin typeface="Calibri"/>
              </a:rPr>
              <a:t>HEALTH CLOUD</a:t>
            </a:r>
          </a:p>
        </p:txBody>
      </p:sp>
      <p:sp>
        <p:nvSpPr>
          <p:cNvPr id="6" name="TextBox 5"/>
          <p:cNvSpPr txBox="1"/>
          <p:nvPr/>
        </p:nvSpPr>
        <p:spPr>
          <a:xfrm>
            <a:off x="365760" y="1005840"/>
            <a:ext cx="4389120" cy="2560320"/>
          </a:xfrm>
          <a:prstGeom prst="rect">
            <a:avLst/>
          </a:prstGeom>
          <a:noFill/>
        </p:spPr>
        <p:txBody>
          <a:bodyPr wrap="square">
            <a:spAutoFit/>
          </a:bodyPr>
          <a:lstStyle/>
          <a:p>
            <a:pPr algn="l">
              <a:lnSpc>
                <a:spcPts val="4400"/>
              </a:lnSpc>
            </a:pPr>
            <a:r>
              <a:rPr sz="3600" b="1">
                <a:solidFill>
                  <a:srgbClr val="FFFFFF"/>
                </a:solidFill>
                <a:latin typeface="Calibri"/>
              </a:rPr>
              <a:t>See the whole</a:t>
            </a:r>
          </a:p>
          <a:p>
            <a:pPr algn="l">
              <a:lnSpc>
                <a:spcPts val="4400"/>
              </a:lnSpc>
            </a:pPr>
            <a:r>
              <a:rPr sz="3600" b="1">
                <a:solidFill>
                  <a:srgbClr val="FFFFFF"/>
                </a:solidFill>
                <a:latin typeface="Calibri"/>
              </a:rPr>
              <a:t>patient, not just</a:t>
            </a:r>
          </a:p>
          <a:p>
            <a:pPr algn="l">
              <a:lnSpc>
                <a:spcPts val="4400"/>
              </a:lnSpc>
            </a:pPr>
            <a:r>
              <a:rPr sz="3600" b="1">
                <a:solidFill>
                  <a:srgbClr val="FFFFFF"/>
                </a:solidFill>
                <a:latin typeface="Calibri"/>
              </a:rPr>
              <a:t>the prescription.</a:t>
            </a:r>
          </a:p>
        </p:txBody>
      </p:sp>
      <p:sp>
        <p:nvSpPr>
          <p:cNvPr id="7" name="TextBox 6"/>
          <p:cNvSpPr txBox="1"/>
          <p:nvPr/>
        </p:nvSpPr>
        <p:spPr>
          <a:xfrm>
            <a:off x="365760" y="3749039"/>
            <a:ext cx="4389120" cy="640080"/>
          </a:xfrm>
          <a:prstGeom prst="rect">
            <a:avLst/>
          </a:prstGeom>
          <a:noFill/>
        </p:spPr>
        <p:txBody>
          <a:bodyPr wrap="square">
            <a:spAutoFit/>
          </a:bodyPr>
          <a:lstStyle/>
          <a:p>
            <a:pPr algn="l"/>
            <a:r>
              <a:rPr sz="1600" b="0" i="0">
                <a:solidFill>
                  <a:srgbClr val="CCEEFF"/>
                </a:solidFill>
                <a:latin typeface="Calibri"/>
              </a:rPr>
              <a:t>A single, unified view across every care interaction</a:t>
            </a:r>
          </a:p>
        </p:txBody>
      </p:sp>
      <p:sp>
        <p:nvSpPr>
          <p:cNvPr id="8" name="Oval 7"/>
          <p:cNvSpPr/>
          <p:nvPr/>
        </p:nvSpPr>
        <p:spPr>
          <a:xfrm>
            <a:off x="521208" y="4590288"/>
            <a:ext cx="329184" cy="32918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572000"/>
            <a:ext cx="3657600" cy="502920"/>
          </a:xfrm>
          <a:prstGeom prst="rect">
            <a:avLst/>
          </a:prstGeom>
          <a:noFill/>
        </p:spPr>
        <p:txBody>
          <a:bodyPr wrap="square">
            <a:spAutoFit/>
          </a:bodyPr>
          <a:lstStyle/>
          <a:p>
            <a:pPr algn="l"/>
            <a:r>
              <a:rPr sz="1500" b="1" i="0">
                <a:solidFill>
                  <a:srgbClr val="FFFFFF"/>
                </a:solidFill>
                <a:latin typeface="Calibri"/>
              </a:rPr>
              <a:t>Unified Patient Records</a:t>
            </a:r>
          </a:p>
        </p:txBody>
      </p:sp>
      <p:sp>
        <p:nvSpPr>
          <p:cNvPr id="10" name="Oval 9"/>
          <p:cNvSpPr/>
          <p:nvPr/>
        </p:nvSpPr>
        <p:spPr>
          <a:xfrm>
            <a:off x="521208" y="5184648"/>
            <a:ext cx="329184" cy="32918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166360"/>
            <a:ext cx="3657600" cy="502920"/>
          </a:xfrm>
          <a:prstGeom prst="rect">
            <a:avLst/>
          </a:prstGeom>
          <a:noFill/>
        </p:spPr>
        <p:txBody>
          <a:bodyPr wrap="square">
            <a:spAutoFit/>
          </a:bodyPr>
          <a:lstStyle/>
          <a:p>
            <a:pPr algn="l"/>
            <a:r>
              <a:rPr sz="1500" b="1" i="0">
                <a:solidFill>
                  <a:srgbClr val="FFFFFF"/>
                </a:solidFill>
                <a:latin typeface="Calibri"/>
              </a:rPr>
              <a:t>Care Coordination</a:t>
            </a:r>
          </a:p>
        </p:txBody>
      </p:sp>
      <p:sp>
        <p:nvSpPr>
          <p:cNvPr id="12" name="Oval 11"/>
          <p:cNvSpPr/>
          <p:nvPr/>
        </p:nvSpPr>
        <p:spPr>
          <a:xfrm>
            <a:off x="521208" y="5779008"/>
            <a:ext cx="329184" cy="32918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5760720"/>
            <a:ext cx="3657600" cy="502920"/>
          </a:xfrm>
          <a:prstGeom prst="rect">
            <a:avLst/>
          </a:prstGeom>
          <a:noFill/>
        </p:spPr>
        <p:txBody>
          <a:bodyPr wrap="square">
            <a:spAutoFit/>
          </a:bodyPr>
          <a:lstStyle/>
          <a:p>
            <a:pPr algn="l"/>
            <a:r>
              <a:rPr sz="1500" b="1" i="0">
                <a:solidFill>
                  <a:srgbClr val="FFFFFF"/>
                </a:solidFill>
                <a:latin typeface="Calibri"/>
              </a:rPr>
              <a:t>HCP Connections</a:t>
            </a:r>
          </a:p>
        </p:txBody>
      </p:sp>
      <p:sp>
        <p:nvSpPr>
          <p:cNvPr id="14" name="Oval 13"/>
          <p:cNvSpPr/>
          <p:nvPr/>
        </p:nvSpPr>
        <p:spPr>
          <a:xfrm>
            <a:off x="6035040" y="914400"/>
            <a:ext cx="5120640" cy="5120640"/>
          </a:xfrm>
          <a:prstGeom prst="ellipse">
            <a:avLst/>
          </a:prstGeom>
          <a:solidFill>
            <a:srgbClr val="E8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09360" y="1188720"/>
            <a:ext cx="4572000" cy="4572000"/>
          </a:xfrm>
          <a:prstGeom prst="ellipse">
            <a:avLst/>
          </a:prstGeom>
          <a:solidFill>
            <a:srgbClr val="CCE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680960" y="2560320"/>
            <a:ext cx="1828800" cy="1828800"/>
          </a:xfrm>
          <a:prstGeom prst="ellipse">
            <a:avLst/>
          </a:prstGeom>
          <a:solidFill>
            <a:srgbClr val="005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18120" y="3063240"/>
            <a:ext cx="1554480" cy="822960"/>
          </a:xfrm>
          <a:prstGeom prst="rect">
            <a:avLst/>
          </a:prstGeom>
          <a:noFill/>
        </p:spPr>
        <p:txBody>
          <a:bodyPr wrap="square">
            <a:spAutoFit/>
          </a:bodyPr>
          <a:lstStyle/>
          <a:p>
            <a:pPr algn="ctr"/>
            <a:r>
              <a:rPr sz="1400" b="1" i="0">
                <a:solidFill>
                  <a:srgbClr val="FFFFFF"/>
                </a:solidFill>
                <a:latin typeface="Calibri"/>
              </a:rPr>
              <a:t>Patient
360°</a:t>
            </a:r>
          </a:p>
        </p:txBody>
      </p:sp>
      <p:sp>
        <p:nvSpPr>
          <p:cNvPr id="18" name="Oval 17"/>
          <p:cNvSpPr/>
          <p:nvPr/>
        </p:nvSpPr>
        <p:spPr>
          <a:xfrm>
            <a:off x="8028432" y="987552"/>
            <a:ext cx="1133856" cy="1133856"/>
          </a:xfrm>
          <a:prstGeom prst="ellipse">
            <a:avLst/>
          </a:prstGeom>
          <a:solidFill>
            <a:srgbClr val="00A1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92440" y="1261872"/>
            <a:ext cx="1005840" cy="585216"/>
          </a:xfrm>
          <a:prstGeom prst="rect">
            <a:avLst/>
          </a:prstGeom>
          <a:noFill/>
        </p:spPr>
        <p:txBody>
          <a:bodyPr wrap="square">
            <a:spAutoFit/>
          </a:bodyPr>
          <a:lstStyle/>
          <a:p>
            <a:pPr algn="ctr"/>
            <a:r>
              <a:rPr sz="1000" b="1" i="0">
                <a:solidFill>
                  <a:srgbClr val="FFFFFF"/>
                </a:solidFill>
                <a:latin typeface="Calibri"/>
              </a:rPr>
              <a:t>Clinical
Data</a:t>
            </a:r>
          </a:p>
        </p:txBody>
      </p:sp>
      <p:sp>
        <p:nvSpPr>
          <p:cNvPr id="20" name="Oval 19"/>
          <p:cNvSpPr/>
          <p:nvPr/>
        </p:nvSpPr>
        <p:spPr>
          <a:xfrm>
            <a:off x="9691408" y="1947672"/>
            <a:ext cx="1133856" cy="1133856"/>
          </a:xfrm>
          <a:prstGeom prst="ellipse">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55416" y="2221992"/>
            <a:ext cx="1005840" cy="585216"/>
          </a:xfrm>
          <a:prstGeom prst="rect">
            <a:avLst/>
          </a:prstGeom>
          <a:noFill/>
        </p:spPr>
        <p:txBody>
          <a:bodyPr wrap="square">
            <a:spAutoFit/>
          </a:bodyPr>
          <a:lstStyle/>
          <a:p>
            <a:pPr algn="ctr"/>
            <a:r>
              <a:rPr sz="1000" b="1" i="0">
                <a:solidFill>
                  <a:srgbClr val="FFFFFF"/>
                </a:solidFill>
                <a:latin typeface="Calibri"/>
              </a:rPr>
              <a:t>Enrollments</a:t>
            </a:r>
          </a:p>
        </p:txBody>
      </p:sp>
      <p:sp>
        <p:nvSpPr>
          <p:cNvPr id="22" name="Oval 21"/>
          <p:cNvSpPr/>
          <p:nvPr/>
        </p:nvSpPr>
        <p:spPr>
          <a:xfrm>
            <a:off x="9691408" y="3867912"/>
            <a:ext cx="1133856" cy="1133856"/>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55416" y="4142232"/>
            <a:ext cx="1005840" cy="585216"/>
          </a:xfrm>
          <a:prstGeom prst="rect">
            <a:avLst/>
          </a:prstGeom>
          <a:noFill/>
        </p:spPr>
        <p:txBody>
          <a:bodyPr wrap="square">
            <a:spAutoFit/>
          </a:bodyPr>
          <a:lstStyle/>
          <a:p>
            <a:pPr algn="ctr"/>
            <a:r>
              <a:rPr sz="1000" b="1" i="0">
                <a:solidFill>
                  <a:srgbClr val="FFFFFF"/>
                </a:solidFill>
                <a:latin typeface="Calibri"/>
              </a:rPr>
              <a:t>HCP
Relations</a:t>
            </a:r>
          </a:p>
        </p:txBody>
      </p:sp>
      <p:sp>
        <p:nvSpPr>
          <p:cNvPr id="24" name="Oval 23"/>
          <p:cNvSpPr/>
          <p:nvPr/>
        </p:nvSpPr>
        <p:spPr>
          <a:xfrm>
            <a:off x="8028432" y="4828032"/>
            <a:ext cx="1133856" cy="1133856"/>
          </a:xfrm>
          <a:prstGeom prst="ellipse">
            <a:avLst/>
          </a:prstGeom>
          <a:solidFill>
            <a:srgbClr val="005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92440" y="5102352"/>
            <a:ext cx="1005840" cy="585216"/>
          </a:xfrm>
          <a:prstGeom prst="rect">
            <a:avLst/>
          </a:prstGeom>
          <a:noFill/>
        </p:spPr>
        <p:txBody>
          <a:bodyPr wrap="square">
            <a:spAutoFit/>
          </a:bodyPr>
          <a:lstStyle/>
          <a:p>
            <a:pPr algn="ctr"/>
            <a:r>
              <a:rPr sz="1000" b="1" i="0">
                <a:solidFill>
                  <a:srgbClr val="FFFFFF"/>
                </a:solidFill>
                <a:latin typeface="Calibri"/>
              </a:rPr>
              <a:t>Support
History</a:t>
            </a:r>
          </a:p>
        </p:txBody>
      </p:sp>
      <p:sp>
        <p:nvSpPr>
          <p:cNvPr id="26" name="Oval 25"/>
          <p:cNvSpPr/>
          <p:nvPr/>
        </p:nvSpPr>
        <p:spPr>
          <a:xfrm>
            <a:off x="6365455" y="3867912"/>
            <a:ext cx="1133856" cy="1133856"/>
          </a:xfrm>
          <a:prstGeom prst="ellipse">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29463" y="4142232"/>
            <a:ext cx="1005840" cy="585216"/>
          </a:xfrm>
          <a:prstGeom prst="rect">
            <a:avLst/>
          </a:prstGeom>
          <a:noFill/>
        </p:spPr>
        <p:txBody>
          <a:bodyPr wrap="square">
            <a:spAutoFit/>
          </a:bodyPr>
          <a:lstStyle/>
          <a:p>
            <a:pPr algn="ctr"/>
            <a:r>
              <a:rPr sz="1000" b="1" i="0">
                <a:solidFill>
                  <a:srgbClr val="FFFFFF"/>
                </a:solidFill>
                <a:latin typeface="Calibri"/>
              </a:rPr>
              <a:t>Adherence</a:t>
            </a:r>
          </a:p>
        </p:txBody>
      </p:sp>
      <p:sp>
        <p:nvSpPr>
          <p:cNvPr id="28" name="Oval 27"/>
          <p:cNvSpPr/>
          <p:nvPr/>
        </p:nvSpPr>
        <p:spPr>
          <a:xfrm>
            <a:off x="6365455" y="1947672"/>
            <a:ext cx="1133856" cy="1133856"/>
          </a:xfrm>
          <a:prstGeom prst="ellipse">
            <a:avLst/>
          </a:prstGeom>
          <a:solidFill>
            <a:srgbClr val="774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29463" y="2221992"/>
            <a:ext cx="1005840" cy="585216"/>
          </a:xfrm>
          <a:prstGeom prst="rect">
            <a:avLst/>
          </a:prstGeom>
          <a:noFill/>
        </p:spPr>
        <p:txBody>
          <a:bodyPr wrap="square">
            <a:spAutoFit/>
          </a:bodyPr>
          <a:lstStyle/>
          <a:p>
            <a:pPr algn="ctr"/>
            <a:r>
              <a:rPr sz="1000" b="1" i="0">
                <a:solidFill>
                  <a:srgbClr val="FFFFFF"/>
                </a:solidFill>
                <a:latin typeface="Calibri"/>
              </a:rPr>
              <a:t>Preferences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46520"/>
            <a:ext cx="12188952" cy="411480"/>
          </a:xfrm>
          <a:prstGeom prst="rect">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9144000" cy="502920"/>
          </a:xfrm>
          <a:prstGeom prst="rect">
            <a:avLst/>
          </a:prstGeom>
          <a:noFill/>
        </p:spPr>
        <p:txBody>
          <a:bodyPr wrap="square">
            <a:spAutoFit/>
          </a:bodyPr>
          <a:lstStyle/>
          <a:p>
            <a:pPr algn="l"/>
            <a:r>
              <a:rPr sz="1300" b="1" i="0">
                <a:solidFill>
                  <a:srgbClr val="AADDFF"/>
                </a:solidFill>
                <a:latin typeface="Calibri"/>
              </a:rPr>
              <a:t>DATA CLOUD  +  MARKETING CLOUD</a:t>
            </a:r>
          </a:p>
        </p:txBody>
      </p:sp>
      <p:sp>
        <p:nvSpPr>
          <p:cNvPr id="5" name="TextBox 4"/>
          <p:cNvSpPr txBox="1"/>
          <p:nvPr/>
        </p:nvSpPr>
        <p:spPr>
          <a:xfrm>
            <a:off x="457200" y="777240"/>
            <a:ext cx="5943600" cy="2377440"/>
          </a:xfrm>
          <a:prstGeom prst="rect">
            <a:avLst/>
          </a:prstGeom>
          <a:noFill/>
        </p:spPr>
        <p:txBody>
          <a:bodyPr wrap="square">
            <a:spAutoFit/>
          </a:bodyPr>
          <a:lstStyle/>
          <a:p>
            <a:pPr algn="l">
              <a:lnSpc>
                <a:spcPts val="4600"/>
              </a:lnSpc>
            </a:pPr>
            <a:r>
              <a:rPr sz="3800" b="1">
                <a:solidFill>
                  <a:srgbClr val="FFFFFF"/>
                </a:solidFill>
                <a:latin typeface="Calibri"/>
              </a:rPr>
              <a:t>The right message.</a:t>
            </a:r>
          </a:p>
          <a:p>
            <a:pPr algn="l">
              <a:lnSpc>
                <a:spcPts val="4600"/>
              </a:lnSpc>
            </a:pPr>
            <a:r>
              <a:rPr sz="3800" b="1">
                <a:solidFill>
                  <a:srgbClr val="FFFFFF"/>
                </a:solidFill>
                <a:latin typeface="Calibri"/>
              </a:rPr>
              <a:t>The right moment.</a:t>
            </a:r>
          </a:p>
          <a:p>
            <a:pPr algn="l">
              <a:lnSpc>
                <a:spcPts val="4600"/>
              </a:lnSpc>
            </a:pPr>
            <a:r>
              <a:rPr sz="3800" b="1">
                <a:solidFill>
                  <a:srgbClr val="FFFFFF"/>
                </a:solidFill>
                <a:latin typeface="Calibri"/>
              </a:rPr>
              <a:t>The right channel.</a:t>
            </a:r>
          </a:p>
        </p:txBody>
      </p:sp>
      <p:sp>
        <p:nvSpPr>
          <p:cNvPr id="6" name="TextBox 5"/>
          <p:cNvSpPr txBox="1"/>
          <p:nvPr/>
        </p:nvSpPr>
        <p:spPr>
          <a:xfrm>
            <a:off x="457200" y="3246120"/>
            <a:ext cx="6400800" cy="548640"/>
          </a:xfrm>
          <a:prstGeom prst="rect">
            <a:avLst/>
          </a:prstGeom>
          <a:noFill/>
        </p:spPr>
        <p:txBody>
          <a:bodyPr wrap="square">
            <a:spAutoFit/>
          </a:bodyPr>
          <a:lstStyle/>
          <a:p>
            <a:pPr algn="l"/>
            <a:r>
              <a:rPr sz="1700" b="0" i="1">
                <a:solidFill>
                  <a:srgbClr val="AACCEE"/>
                </a:solidFill>
                <a:latin typeface="Calibri"/>
              </a:rPr>
              <a:t>Real-time data. Personalised journeys. At scale.</a:t>
            </a:r>
          </a:p>
        </p:txBody>
      </p:sp>
      <p:sp>
        <p:nvSpPr>
          <p:cNvPr id="7" name="Rectangle 6"/>
          <p:cNvSpPr/>
          <p:nvPr/>
        </p:nvSpPr>
        <p:spPr>
          <a:xfrm>
            <a:off x="548640" y="5074920"/>
            <a:ext cx="1417320" cy="1371600"/>
          </a:xfrm>
          <a:prstGeom prst="rect">
            <a:avLst/>
          </a:prstGeom>
          <a:solidFill>
            <a:srgbClr val="005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5394960"/>
            <a:ext cx="1417320" cy="731520"/>
          </a:xfrm>
          <a:prstGeom prst="rect">
            <a:avLst/>
          </a:prstGeom>
          <a:noFill/>
        </p:spPr>
        <p:txBody>
          <a:bodyPr wrap="square">
            <a:spAutoFit/>
          </a:bodyPr>
          <a:lstStyle/>
          <a:p>
            <a:pPr algn="ctr"/>
            <a:r>
              <a:rPr sz="1400" b="1" i="0">
                <a:solidFill>
                  <a:srgbClr val="FFFFFF"/>
                </a:solidFill>
                <a:latin typeface="Calibri"/>
              </a:rPr>
              <a:t>Unified
Data</a:t>
            </a:r>
          </a:p>
        </p:txBody>
      </p:sp>
      <p:sp>
        <p:nvSpPr>
          <p:cNvPr id="9" name="Rectangle 8"/>
          <p:cNvSpPr/>
          <p:nvPr/>
        </p:nvSpPr>
        <p:spPr>
          <a:xfrm>
            <a:off x="1965960" y="5696712"/>
            <a:ext cx="274320" cy="73152"/>
          </a:xfrm>
          <a:prstGeom prst="rect">
            <a:avLst/>
          </a:prstGeom>
          <a:solidFill>
            <a:srgbClr val="446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40280" y="5074920"/>
            <a:ext cx="1417320" cy="1371600"/>
          </a:xfrm>
          <a:prstGeom prst="rect">
            <a:avLst/>
          </a:prstGeom>
          <a:solidFill>
            <a:srgbClr val="00A1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40280" y="5394960"/>
            <a:ext cx="1417320" cy="731520"/>
          </a:xfrm>
          <a:prstGeom prst="rect">
            <a:avLst/>
          </a:prstGeom>
          <a:noFill/>
        </p:spPr>
        <p:txBody>
          <a:bodyPr wrap="square">
            <a:spAutoFit/>
          </a:bodyPr>
          <a:lstStyle/>
          <a:p>
            <a:pPr algn="ctr"/>
            <a:r>
              <a:rPr sz="1400" b="1" i="0">
                <a:solidFill>
                  <a:srgbClr val="FFFFFF"/>
                </a:solidFill>
                <a:latin typeface="Calibri"/>
              </a:rPr>
              <a:t>Email</a:t>
            </a:r>
          </a:p>
        </p:txBody>
      </p:sp>
      <p:sp>
        <p:nvSpPr>
          <p:cNvPr id="12" name="Rectangle 11"/>
          <p:cNvSpPr/>
          <p:nvPr/>
        </p:nvSpPr>
        <p:spPr>
          <a:xfrm>
            <a:off x="3657600" y="5696712"/>
            <a:ext cx="274320" cy="73152"/>
          </a:xfrm>
          <a:prstGeom prst="rect">
            <a:avLst/>
          </a:prstGeom>
          <a:solidFill>
            <a:srgbClr val="446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931920" y="5074920"/>
            <a:ext cx="1417320" cy="1371600"/>
          </a:xfrm>
          <a:prstGeom prst="rect">
            <a:avLst/>
          </a:prstGeom>
          <a:solidFill>
            <a:srgbClr val="007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31920" y="5394960"/>
            <a:ext cx="1417320" cy="731520"/>
          </a:xfrm>
          <a:prstGeom prst="rect">
            <a:avLst/>
          </a:prstGeom>
          <a:noFill/>
        </p:spPr>
        <p:txBody>
          <a:bodyPr wrap="square">
            <a:spAutoFit/>
          </a:bodyPr>
          <a:lstStyle/>
          <a:p>
            <a:pPr algn="ctr"/>
            <a:r>
              <a:rPr sz="1400" b="1" i="0">
                <a:solidFill>
                  <a:srgbClr val="FFFFFF"/>
                </a:solidFill>
                <a:latin typeface="Calibri"/>
              </a:rPr>
              <a:t>SMS</a:t>
            </a:r>
          </a:p>
        </p:txBody>
      </p:sp>
      <p:sp>
        <p:nvSpPr>
          <p:cNvPr id="15" name="Rectangle 14"/>
          <p:cNvSpPr/>
          <p:nvPr/>
        </p:nvSpPr>
        <p:spPr>
          <a:xfrm>
            <a:off x="5349240" y="5696712"/>
            <a:ext cx="274320" cy="73152"/>
          </a:xfrm>
          <a:prstGeom prst="rect">
            <a:avLst/>
          </a:prstGeom>
          <a:solidFill>
            <a:srgbClr val="446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23560" y="5074920"/>
            <a:ext cx="1417320" cy="1371600"/>
          </a:xfrm>
          <a:prstGeom prst="rect">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23560" y="5394960"/>
            <a:ext cx="1417320" cy="731520"/>
          </a:xfrm>
          <a:prstGeom prst="rect">
            <a:avLst/>
          </a:prstGeom>
          <a:noFill/>
        </p:spPr>
        <p:txBody>
          <a:bodyPr wrap="square">
            <a:spAutoFit/>
          </a:bodyPr>
          <a:lstStyle/>
          <a:p>
            <a:pPr algn="ctr"/>
            <a:r>
              <a:rPr sz="1400" b="1" i="0">
                <a:solidFill>
                  <a:srgbClr val="FFFFFF"/>
                </a:solidFill>
                <a:latin typeface="Calibri"/>
              </a:rPr>
              <a:t>Patient
Portal</a:t>
            </a:r>
          </a:p>
        </p:txBody>
      </p:sp>
      <p:sp>
        <p:nvSpPr>
          <p:cNvPr id="18" name="Rectangle 17"/>
          <p:cNvSpPr/>
          <p:nvPr/>
        </p:nvSpPr>
        <p:spPr>
          <a:xfrm>
            <a:off x="7040880" y="5696712"/>
            <a:ext cx="274320" cy="73152"/>
          </a:xfrm>
          <a:prstGeom prst="rect">
            <a:avLst/>
          </a:prstGeom>
          <a:solidFill>
            <a:srgbClr val="446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0" y="5074920"/>
            <a:ext cx="1417320" cy="1371600"/>
          </a:xfrm>
          <a:prstGeom prst="rect">
            <a:avLst/>
          </a:prstGeom>
          <a:solidFill>
            <a:srgbClr val="774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0" y="5394960"/>
            <a:ext cx="1417320" cy="731520"/>
          </a:xfrm>
          <a:prstGeom prst="rect">
            <a:avLst/>
          </a:prstGeom>
          <a:noFill/>
        </p:spPr>
        <p:txBody>
          <a:bodyPr wrap="square">
            <a:spAutoFit/>
          </a:bodyPr>
          <a:lstStyle/>
          <a:p>
            <a:pPr algn="ctr"/>
            <a:r>
              <a:rPr sz="1400" b="1" i="0">
                <a:solidFill>
                  <a:srgbClr val="FFFFFF"/>
                </a:solidFill>
                <a:latin typeface="Calibri"/>
              </a:rPr>
              <a:t>App Push</a:t>
            </a:r>
          </a:p>
        </p:txBody>
      </p:sp>
      <p:sp>
        <p:nvSpPr>
          <p:cNvPr id="21" name="Rectangle 20"/>
          <p:cNvSpPr/>
          <p:nvPr/>
        </p:nvSpPr>
        <p:spPr>
          <a:xfrm>
            <a:off x="8732520" y="5696712"/>
            <a:ext cx="274320" cy="73152"/>
          </a:xfrm>
          <a:prstGeom prst="rect">
            <a:avLst/>
          </a:prstGeom>
          <a:solidFill>
            <a:srgbClr val="446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06840" y="5074920"/>
            <a:ext cx="1417320" cy="137160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06840" y="5394960"/>
            <a:ext cx="1417320" cy="731520"/>
          </a:xfrm>
          <a:prstGeom prst="rect">
            <a:avLst/>
          </a:prstGeom>
          <a:noFill/>
        </p:spPr>
        <p:txBody>
          <a:bodyPr wrap="square">
            <a:spAutoFit/>
          </a:bodyPr>
          <a:lstStyle/>
          <a:p>
            <a:pPr algn="ctr"/>
            <a:r>
              <a:rPr sz="1400" b="1" i="0">
                <a:solidFill>
                  <a:srgbClr val="FFFFFF"/>
                </a:solidFill>
                <a:latin typeface="Calibri"/>
              </a:rPr>
              <a:t>Care
Team</a:t>
            </a:r>
          </a:p>
        </p:txBody>
      </p:sp>
      <p:sp>
        <p:nvSpPr>
          <p:cNvPr id="24" name="Oval 23"/>
          <p:cNvSpPr/>
          <p:nvPr/>
        </p:nvSpPr>
        <p:spPr>
          <a:xfrm>
            <a:off x="2624328" y="4681728"/>
            <a:ext cx="329184" cy="329184"/>
          </a:xfrm>
          <a:prstGeom prst="ellipse">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660904" y="4727448"/>
            <a:ext cx="256032" cy="256032"/>
          </a:xfrm>
          <a:prstGeom prst="rect">
            <a:avLst/>
          </a:prstGeom>
          <a:noFill/>
        </p:spPr>
        <p:txBody>
          <a:bodyPr wrap="square">
            <a:spAutoFit/>
          </a:bodyPr>
          <a:lstStyle/>
          <a:p>
            <a:pPr algn="ctr"/>
            <a:r>
              <a:rPr sz="800" b="1" i="0">
                <a:solidFill>
                  <a:srgbClr val="FFFFFF"/>
                </a:solidFill>
                <a:latin typeface="Calibri"/>
              </a:rPr>
              <a:t>AI</a:t>
            </a:r>
          </a:p>
        </p:txBody>
      </p:sp>
      <p:sp>
        <p:nvSpPr>
          <p:cNvPr id="26" name="Oval 25"/>
          <p:cNvSpPr/>
          <p:nvPr/>
        </p:nvSpPr>
        <p:spPr>
          <a:xfrm>
            <a:off x="4315968" y="4681728"/>
            <a:ext cx="329184" cy="329184"/>
          </a:xfrm>
          <a:prstGeom prst="ellipse">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52544" y="4727448"/>
            <a:ext cx="256032" cy="256032"/>
          </a:xfrm>
          <a:prstGeom prst="rect">
            <a:avLst/>
          </a:prstGeom>
          <a:noFill/>
        </p:spPr>
        <p:txBody>
          <a:bodyPr wrap="square">
            <a:spAutoFit/>
          </a:bodyPr>
          <a:lstStyle/>
          <a:p>
            <a:pPr algn="ctr"/>
            <a:r>
              <a:rPr sz="800" b="1" i="0">
                <a:solidFill>
                  <a:srgbClr val="FFFFFF"/>
                </a:solidFill>
                <a:latin typeface="Calibri"/>
              </a:rPr>
              <a:t>AI</a:t>
            </a:r>
          </a:p>
        </p:txBody>
      </p:sp>
      <p:sp>
        <p:nvSpPr>
          <p:cNvPr id="28" name="Oval 27"/>
          <p:cNvSpPr/>
          <p:nvPr/>
        </p:nvSpPr>
        <p:spPr>
          <a:xfrm>
            <a:off x="6007608" y="4681728"/>
            <a:ext cx="329184" cy="329184"/>
          </a:xfrm>
          <a:prstGeom prst="ellipse">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044184" y="4727448"/>
            <a:ext cx="256032" cy="256032"/>
          </a:xfrm>
          <a:prstGeom prst="rect">
            <a:avLst/>
          </a:prstGeom>
          <a:noFill/>
        </p:spPr>
        <p:txBody>
          <a:bodyPr wrap="square">
            <a:spAutoFit/>
          </a:bodyPr>
          <a:lstStyle/>
          <a:p>
            <a:pPr algn="ctr"/>
            <a:r>
              <a:rPr sz="800" b="1" i="0">
                <a:solidFill>
                  <a:srgbClr val="FFFFFF"/>
                </a:solidFill>
                <a:latin typeface="Calibri"/>
              </a:rPr>
              <a:t>AI</a:t>
            </a:r>
          </a:p>
        </p:txBody>
      </p:sp>
      <p:sp>
        <p:nvSpPr>
          <p:cNvPr id="30" name="Oval 29"/>
          <p:cNvSpPr/>
          <p:nvPr/>
        </p:nvSpPr>
        <p:spPr>
          <a:xfrm>
            <a:off x="7699248" y="4681728"/>
            <a:ext cx="329184" cy="329184"/>
          </a:xfrm>
          <a:prstGeom prst="ellipse">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35824" y="4727448"/>
            <a:ext cx="256032" cy="256032"/>
          </a:xfrm>
          <a:prstGeom prst="rect">
            <a:avLst/>
          </a:prstGeom>
          <a:noFill/>
        </p:spPr>
        <p:txBody>
          <a:bodyPr wrap="square">
            <a:spAutoFit/>
          </a:bodyPr>
          <a:lstStyle/>
          <a:p>
            <a:pPr algn="ctr"/>
            <a:r>
              <a:rPr sz="800" b="1" i="0">
                <a:solidFill>
                  <a:srgbClr val="FFFFFF"/>
                </a:solidFill>
                <a:latin typeface="Calibri"/>
              </a:rPr>
              <a:t>AI</a:t>
            </a:r>
          </a:p>
        </p:txBody>
      </p:sp>
      <p:sp>
        <p:nvSpPr>
          <p:cNvPr id="32" name="Oval 31"/>
          <p:cNvSpPr/>
          <p:nvPr/>
        </p:nvSpPr>
        <p:spPr>
          <a:xfrm>
            <a:off x="9390888" y="4681728"/>
            <a:ext cx="329184" cy="329184"/>
          </a:xfrm>
          <a:prstGeom prst="ellipse">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27464" y="4727448"/>
            <a:ext cx="256032" cy="256032"/>
          </a:xfrm>
          <a:prstGeom prst="rect">
            <a:avLst/>
          </a:prstGeom>
          <a:noFill/>
        </p:spPr>
        <p:txBody>
          <a:bodyPr wrap="square">
            <a:spAutoFit/>
          </a:bodyPr>
          <a:lstStyle/>
          <a:p>
            <a:pPr algn="ctr"/>
            <a:r>
              <a:rPr sz="800" b="1" i="0">
                <a:solidFill>
                  <a:srgbClr val="FFFFFF"/>
                </a:solidFill>
                <a:latin typeface="Calibri"/>
              </a:rPr>
              <a:t>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46520"/>
            <a:ext cx="12188952" cy="411480"/>
          </a:xfrm>
          <a:prstGeom prst="rect">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6888"/>
            <a:ext cx="7315200" cy="502920"/>
          </a:xfrm>
          <a:prstGeom prst="rect">
            <a:avLst/>
          </a:prstGeom>
          <a:noFill/>
        </p:spPr>
        <p:txBody>
          <a:bodyPr wrap="square">
            <a:spAutoFit/>
          </a:bodyPr>
          <a:lstStyle/>
          <a:p>
            <a:pPr algn="l"/>
            <a:r>
              <a:rPr sz="1300" b="1" i="0">
                <a:solidFill>
                  <a:srgbClr val="88DDAA"/>
                </a:solidFill>
                <a:latin typeface="Calibri"/>
              </a:rPr>
              <a:t>AGENTFORCE  +  AI</a:t>
            </a:r>
          </a:p>
        </p:txBody>
      </p:sp>
      <p:sp>
        <p:nvSpPr>
          <p:cNvPr id="6" name="TextBox 5"/>
          <p:cNvSpPr txBox="1"/>
          <p:nvPr/>
        </p:nvSpPr>
        <p:spPr>
          <a:xfrm>
            <a:off x="457200" y="1371600"/>
            <a:ext cx="5486400" cy="1828800"/>
          </a:xfrm>
          <a:prstGeom prst="rect">
            <a:avLst/>
          </a:prstGeom>
          <a:noFill/>
        </p:spPr>
        <p:txBody>
          <a:bodyPr wrap="square">
            <a:spAutoFit/>
          </a:bodyPr>
          <a:lstStyle/>
          <a:p>
            <a:pPr algn="l">
              <a:lnSpc>
                <a:spcPts val="5000"/>
              </a:lnSpc>
            </a:pPr>
            <a:r>
              <a:rPr sz="4000" b="1">
                <a:solidFill>
                  <a:srgbClr val="1B1F3B"/>
                </a:solidFill>
                <a:latin typeface="Calibri"/>
              </a:rPr>
              <a:t>AI that acts —</a:t>
            </a:r>
          </a:p>
          <a:p>
            <a:pPr algn="l">
              <a:lnSpc>
                <a:spcPts val="5000"/>
              </a:lnSpc>
            </a:pPr>
            <a:r>
              <a:rPr sz="4000" b="1">
                <a:solidFill>
                  <a:srgbClr val="1B1F3B"/>
                </a:solidFill>
                <a:latin typeface="Calibri"/>
              </a:rPr>
              <a:t>so patients never wait.</a:t>
            </a:r>
          </a:p>
        </p:txBody>
      </p:sp>
      <p:sp>
        <p:nvSpPr>
          <p:cNvPr id="7" name="TextBox 6"/>
          <p:cNvSpPr txBox="1"/>
          <p:nvPr/>
        </p:nvSpPr>
        <p:spPr>
          <a:xfrm>
            <a:off x="457200" y="3246120"/>
            <a:ext cx="6400800" cy="548640"/>
          </a:xfrm>
          <a:prstGeom prst="rect">
            <a:avLst/>
          </a:prstGeom>
          <a:noFill/>
        </p:spPr>
        <p:txBody>
          <a:bodyPr wrap="square">
            <a:spAutoFit/>
          </a:bodyPr>
          <a:lstStyle/>
          <a:p>
            <a:pPr algn="l"/>
            <a:r>
              <a:rPr sz="1600" b="0" i="1">
                <a:solidFill>
                  <a:srgbClr val="444455"/>
                </a:solidFill>
                <a:latin typeface="Calibri"/>
              </a:rPr>
              <a:t>Always on.  Always informed.  Always patient-first.</a:t>
            </a:r>
          </a:p>
        </p:txBody>
      </p:sp>
      <p:sp>
        <p:nvSpPr>
          <p:cNvPr id="8" name="Rectangle 7"/>
          <p:cNvSpPr/>
          <p:nvPr/>
        </p:nvSpPr>
        <p:spPr>
          <a:xfrm>
            <a:off x="457200" y="4114800"/>
            <a:ext cx="2560320" cy="62179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4114800"/>
            <a:ext cx="2560320" cy="621792"/>
          </a:xfrm>
          <a:prstGeom prst="rect">
            <a:avLst/>
          </a:prstGeom>
          <a:noFill/>
        </p:spPr>
        <p:txBody>
          <a:bodyPr wrap="square">
            <a:spAutoFit/>
          </a:bodyPr>
          <a:lstStyle/>
          <a:p>
            <a:pPr algn="ctr"/>
            <a:r>
              <a:rPr sz="1500" b="1" i="0">
                <a:solidFill>
                  <a:srgbClr val="FFFFFF"/>
                </a:solidFill>
                <a:latin typeface="Calibri"/>
              </a:rPr>
              <a:t>Medication Support</a:t>
            </a:r>
          </a:p>
        </p:txBody>
      </p:sp>
      <p:sp>
        <p:nvSpPr>
          <p:cNvPr id="10" name="Rectangle 9"/>
          <p:cNvSpPr/>
          <p:nvPr/>
        </p:nvSpPr>
        <p:spPr>
          <a:xfrm>
            <a:off x="3291840" y="4114800"/>
            <a:ext cx="2560320" cy="621792"/>
          </a:xfrm>
          <a:prstGeom prst="rect">
            <a:avLst/>
          </a:prstGeom>
          <a:solidFill>
            <a:srgbClr val="005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91840" y="4114800"/>
            <a:ext cx="2560320" cy="621792"/>
          </a:xfrm>
          <a:prstGeom prst="rect">
            <a:avLst/>
          </a:prstGeom>
          <a:noFill/>
        </p:spPr>
        <p:txBody>
          <a:bodyPr wrap="square">
            <a:spAutoFit/>
          </a:bodyPr>
          <a:lstStyle/>
          <a:p>
            <a:pPr algn="ctr"/>
            <a:r>
              <a:rPr sz="1500" b="1" i="0">
                <a:solidFill>
                  <a:srgbClr val="FFFFFF"/>
                </a:solidFill>
                <a:latin typeface="Calibri"/>
              </a:rPr>
              <a:t>Program Enrollment</a:t>
            </a:r>
          </a:p>
        </p:txBody>
      </p:sp>
      <p:sp>
        <p:nvSpPr>
          <p:cNvPr id="12" name="Rectangle 11"/>
          <p:cNvSpPr/>
          <p:nvPr/>
        </p:nvSpPr>
        <p:spPr>
          <a:xfrm>
            <a:off x="457200" y="4983480"/>
            <a:ext cx="2560320" cy="621792"/>
          </a:xfrm>
          <a:prstGeom prst="rect">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4983480"/>
            <a:ext cx="2560320" cy="621792"/>
          </a:xfrm>
          <a:prstGeom prst="rect">
            <a:avLst/>
          </a:prstGeom>
          <a:noFill/>
        </p:spPr>
        <p:txBody>
          <a:bodyPr wrap="square">
            <a:spAutoFit/>
          </a:bodyPr>
          <a:lstStyle/>
          <a:p>
            <a:pPr algn="ctr"/>
            <a:r>
              <a:rPr sz="1500" b="1" i="0">
                <a:solidFill>
                  <a:srgbClr val="FFFFFF"/>
                </a:solidFill>
                <a:latin typeface="Calibri"/>
              </a:rPr>
              <a:t>Care Navigation</a:t>
            </a:r>
          </a:p>
        </p:txBody>
      </p:sp>
      <p:sp>
        <p:nvSpPr>
          <p:cNvPr id="14" name="Rectangle 13"/>
          <p:cNvSpPr/>
          <p:nvPr/>
        </p:nvSpPr>
        <p:spPr>
          <a:xfrm>
            <a:off x="3291840" y="4983480"/>
            <a:ext cx="2560320" cy="621792"/>
          </a:xfrm>
          <a:prstGeom prst="rect">
            <a:avLst/>
          </a:prstGeom>
          <a:solidFill>
            <a:srgbClr val="774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91840" y="4983480"/>
            <a:ext cx="2560320" cy="621792"/>
          </a:xfrm>
          <a:prstGeom prst="rect">
            <a:avLst/>
          </a:prstGeom>
          <a:noFill/>
        </p:spPr>
        <p:txBody>
          <a:bodyPr wrap="square">
            <a:spAutoFit/>
          </a:bodyPr>
          <a:lstStyle/>
          <a:p>
            <a:pPr algn="ctr"/>
            <a:r>
              <a:rPr sz="1500" b="1" i="0">
                <a:solidFill>
                  <a:srgbClr val="FFFFFF"/>
                </a:solidFill>
                <a:latin typeface="Calibri"/>
              </a:rPr>
              <a:t>Proactive Follow-up</a:t>
            </a:r>
          </a:p>
        </p:txBody>
      </p:sp>
      <p:sp>
        <p:nvSpPr>
          <p:cNvPr id="16" name="Rectangle 15"/>
          <p:cNvSpPr/>
          <p:nvPr/>
        </p:nvSpPr>
        <p:spPr>
          <a:xfrm>
            <a:off x="6675120" y="1280160"/>
            <a:ext cx="5120640" cy="4983480"/>
          </a:xfrm>
          <a:prstGeom prst="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675120" y="1280160"/>
            <a:ext cx="5120640" cy="5486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0" y="1325880"/>
            <a:ext cx="4572000" cy="457200"/>
          </a:xfrm>
          <a:prstGeom prst="rect">
            <a:avLst/>
          </a:prstGeom>
          <a:noFill/>
        </p:spPr>
        <p:txBody>
          <a:bodyPr wrap="square">
            <a:spAutoFit/>
          </a:bodyPr>
          <a:lstStyle/>
          <a:p>
            <a:pPr algn="l"/>
            <a:r>
              <a:rPr sz="1400" b="1" i="0">
                <a:solidFill>
                  <a:srgbClr val="FFFFFF"/>
                </a:solidFill>
                <a:latin typeface="Calibri"/>
              </a:rPr>
              <a:t>Takeda Patient Agent</a:t>
            </a:r>
          </a:p>
        </p:txBody>
      </p:sp>
      <p:sp>
        <p:nvSpPr>
          <p:cNvPr id="19" name="Rectangle 18"/>
          <p:cNvSpPr/>
          <p:nvPr/>
        </p:nvSpPr>
        <p:spPr>
          <a:xfrm>
            <a:off x="8138160" y="2011680"/>
            <a:ext cx="3474720" cy="822960"/>
          </a:xfrm>
          <a:prstGeom prst="rect">
            <a:avLst/>
          </a:prstGeom>
          <a:solidFill>
            <a:srgbClr val="E8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2084832"/>
            <a:ext cx="3200400" cy="731520"/>
          </a:xfrm>
          <a:prstGeom prst="rect">
            <a:avLst/>
          </a:prstGeom>
          <a:noFill/>
        </p:spPr>
        <p:txBody>
          <a:bodyPr wrap="square">
            <a:spAutoFit/>
          </a:bodyPr>
          <a:lstStyle/>
          <a:p>
            <a:pPr algn="l"/>
            <a:r>
              <a:rPr sz="1100" b="0" i="0">
                <a:solidFill>
                  <a:srgbClr val="1B1F3B"/>
                </a:solidFill>
                <a:latin typeface="Calibri"/>
              </a:rPr>
              <a:t>Hi — I missed my dose yesterday.
What should I do?</a:t>
            </a:r>
          </a:p>
        </p:txBody>
      </p:sp>
      <p:sp>
        <p:nvSpPr>
          <p:cNvPr id="21" name="Rectangle 20"/>
          <p:cNvSpPr/>
          <p:nvPr/>
        </p:nvSpPr>
        <p:spPr>
          <a:xfrm>
            <a:off x="6858000" y="2999232"/>
            <a:ext cx="3474720" cy="8229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95160" y="3072384"/>
            <a:ext cx="3200400" cy="731520"/>
          </a:xfrm>
          <a:prstGeom prst="rect">
            <a:avLst/>
          </a:prstGeom>
          <a:noFill/>
        </p:spPr>
        <p:txBody>
          <a:bodyPr wrap="square">
            <a:spAutoFit/>
          </a:bodyPr>
          <a:lstStyle/>
          <a:p>
            <a:pPr algn="l"/>
            <a:r>
              <a:rPr sz="1100" b="0" i="0">
                <a:solidFill>
                  <a:srgbClr val="1B5E20"/>
                </a:solidFill>
                <a:latin typeface="Calibri"/>
              </a:rPr>
              <a:t>No worries! For your medication,
take your next scheduled dose as normal.
Shall I send a reminder?</a:t>
            </a:r>
          </a:p>
        </p:txBody>
      </p:sp>
      <p:sp>
        <p:nvSpPr>
          <p:cNvPr id="23" name="Rectangle 22"/>
          <p:cNvSpPr/>
          <p:nvPr/>
        </p:nvSpPr>
        <p:spPr>
          <a:xfrm>
            <a:off x="8138160" y="3986784"/>
            <a:ext cx="3474720" cy="822960"/>
          </a:xfrm>
          <a:prstGeom prst="rect">
            <a:avLst/>
          </a:prstGeom>
          <a:solidFill>
            <a:srgbClr val="E8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75320" y="4059936"/>
            <a:ext cx="3200400" cy="731520"/>
          </a:xfrm>
          <a:prstGeom prst="rect">
            <a:avLst/>
          </a:prstGeom>
          <a:noFill/>
        </p:spPr>
        <p:txBody>
          <a:bodyPr wrap="square">
            <a:spAutoFit/>
          </a:bodyPr>
          <a:lstStyle/>
          <a:p>
            <a:pPr algn="l"/>
            <a:r>
              <a:rPr sz="1100" b="0" i="0">
                <a:solidFill>
                  <a:srgbClr val="1B1F3B"/>
                </a:solidFill>
                <a:latin typeface="Calibri"/>
              </a:rPr>
              <a:t>Yes please, and can I speak
to my care coordinator?</a:t>
            </a:r>
          </a:p>
        </p:txBody>
      </p:sp>
      <p:sp>
        <p:nvSpPr>
          <p:cNvPr id="25" name="Rectangle 24"/>
          <p:cNvSpPr/>
          <p:nvPr/>
        </p:nvSpPr>
        <p:spPr>
          <a:xfrm>
            <a:off x="6858000" y="4974336"/>
            <a:ext cx="3474720" cy="8229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95160" y="5047488"/>
            <a:ext cx="3200400" cy="731520"/>
          </a:xfrm>
          <a:prstGeom prst="rect">
            <a:avLst/>
          </a:prstGeom>
          <a:noFill/>
        </p:spPr>
        <p:txBody>
          <a:bodyPr wrap="square">
            <a:spAutoFit/>
          </a:bodyPr>
          <a:lstStyle/>
          <a:p>
            <a:pPr algn="l"/>
            <a:r>
              <a:rPr sz="1100" b="0" i="0">
                <a:solidFill>
                  <a:srgbClr val="1B5E20"/>
                </a:solidFill>
                <a:latin typeface="Calibri"/>
              </a:rPr>
              <a:t>Connecting you now — Sarah is
available and expects your call.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46520"/>
            <a:ext cx="12188952" cy="411480"/>
          </a:xfrm>
          <a:prstGeom prst="rect">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9144000" cy="685800"/>
          </a:xfrm>
          <a:prstGeom prst="rect">
            <a:avLst/>
          </a:prstGeom>
          <a:noFill/>
        </p:spPr>
        <p:txBody>
          <a:bodyPr wrap="square">
            <a:spAutoFit/>
          </a:bodyPr>
          <a:lstStyle/>
          <a:p>
            <a:pPr algn="l"/>
            <a:r>
              <a:rPr sz="3400" b="1" i="0">
                <a:solidFill>
                  <a:srgbClr val="FFFFFF"/>
                </a:solidFill>
                <a:latin typeface="Calibri"/>
              </a:rPr>
              <a:t>WHAT CHANGES FOR PATIENTS.</a:t>
            </a:r>
          </a:p>
        </p:txBody>
      </p:sp>
      <p:sp>
        <p:nvSpPr>
          <p:cNvPr id="5" name="TextBox 4"/>
          <p:cNvSpPr txBox="1"/>
          <p:nvPr/>
        </p:nvSpPr>
        <p:spPr>
          <a:xfrm>
            <a:off x="457200" y="1005840"/>
            <a:ext cx="9144000" cy="457200"/>
          </a:xfrm>
          <a:prstGeom prst="rect">
            <a:avLst/>
          </a:prstGeom>
          <a:noFill/>
        </p:spPr>
        <p:txBody>
          <a:bodyPr wrap="square">
            <a:spAutoFit/>
          </a:bodyPr>
          <a:lstStyle/>
          <a:p>
            <a:pPr algn="l"/>
            <a:r>
              <a:rPr sz="1600" b="0" i="1">
                <a:solidFill>
                  <a:srgbClr val="AABBDD"/>
                </a:solidFill>
                <a:latin typeface="Calibri"/>
              </a:rPr>
              <a:t>The measure of success is what patients experience.</a:t>
            </a:r>
          </a:p>
        </p:txBody>
      </p:sp>
      <p:sp>
        <p:nvSpPr>
          <p:cNvPr id="6" name="Rectangle 5"/>
          <p:cNvSpPr/>
          <p:nvPr/>
        </p:nvSpPr>
        <p:spPr>
          <a:xfrm>
            <a:off x="411480" y="1828800"/>
            <a:ext cx="2697480" cy="3657600"/>
          </a:xfrm>
          <a:prstGeom prst="rect">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828800"/>
            <a:ext cx="2697480" cy="91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057400"/>
            <a:ext cx="2331720" cy="640080"/>
          </a:xfrm>
          <a:prstGeom prst="rect">
            <a:avLst/>
          </a:prstGeom>
          <a:noFill/>
        </p:spPr>
        <p:txBody>
          <a:bodyPr wrap="square">
            <a:spAutoFit/>
          </a:bodyPr>
          <a:lstStyle/>
          <a:p>
            <a:pPr algn="ctr"/>
            <a:r>
              <a:rPr sz="2000" b="1" i="0">
                <a:solidFill>
                  <a:srgbClr val="FFFFFF"/>
                </a:solidFill>
                <a:latin typeface="Calibri"/>
              </a:rPr>
              <a:t>ADHERENCE</a:t>
            </a:r>
          </a:p>
        </p:txBody>
      </p:sp>
      <p:sp>
        <p:nvSpPr>
          <p:cNvPr id="9" name="Oval 8"/>
          <p:cNvSpPr/>
          <p:nvPr/>
        </p:nvSpPr>
        <p:spPr>
          <a:xfrm>
            <a:off x="1165860" y="2606040"/>
            <a:ext cx="1188720" cy="11887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4023360"/>
            <a:ext cx="2423160" cy="1371600"/>
          </a:xfrm>
          <a:prstGeom prst="rect">
            <a:avLst/>
          </a:prstGeom>
          <a:noFill/>
        </p:spPr>
        <p:txBody>
          <a:bodyPr wrap="square">
            <a:spAutoFit/>
          </a:bodyPr>
          <a:lstStyle/>
          <a:p>
            <a:pPr algn="ctr"/>
            <a:r>
              <a:rPr sz="1400" b="0" i="0">
                <a:solidFill>
                  <a:srgbClr val="DDEEFF"/>
                </a:solidFill>
                <a:latin typeface="Calibri"/>
              </a:rPr>
              <a:t>Higher treatment
adherence through
timely, relevant support</a:t>
            </a:r>
          </a:p>
        </p:txBody>
      </p:sp>
      <p:sp>
        <p:nvSpPr>
          <p:cNvPr id="11" name="Rectangle 10"/>
          <p:cNvSpPr/>
          <p:nvPr/>
        </p:nvSpPr>
        <p:spPr>
          <a:xfrm>
            <a:off x="3310128" y="1828800"/>
            <a:ext cx="2697480" cy="3657600"/>
          </a:xfrm>
          <a:prstGeom prst="rect">
            <a:avLst/>
          </a:prstGeom>
          <a:solidFill>
            <a:srgbClr val="005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10128" y="1828800"/>
            <a:ext cx="2697480" cy="91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93008" y="2057400"/>
            <a:ext cx="2331720" cy="640080"/>
          </a:xfrm>
          <a:prstGeom prst="rect">
            <a:avLst/>
          </a:prstGeom>
          <a:noFill/>
        </p:spPr>
        <p:txBody>
          <a:bodyPr wrap="square">
            <a:spAutoFit/>
          </a:bodyPr>
          <a:lstStyle/>
          <a:p>
            <a:pPr algn="ctr"/>
            <a:r>
              <a:rPr sz="2000" b="1" i="0">
                <a:solidFill>
                  <a:srgbClr val="FFFFFF"/>
                </a:solidFill>
                <a:latin typeface="Calibri"/>
              </a:rPr>
              <a:t>SPEED</a:t>
            </a:r>
          </a:p>
        </p:txBody>
      </p:sp>
      <p:sp>
        <p:nvSpPr>
          <p:cNvPr id="14" name="Oval 13"/>
          <p:cNvSpPr/>
          <p:nvPr/>
        </p:nvSpPr>
        <p:spPr>
          <a:xfrm>
            <a:off x="4064508" y="2606040"/>
            <a:ext cx="1188720" cy="11887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47288" y="4023360"/>
            <a:ext cx="2423160" cy="1371600"/>
          </a:xfrm>
          <a:prstGeom prst="rect">
            <a:avLst/>
          </a:prstGeom>
          <a:noFill/>
        </p:spPr>
        <p:txBody>
          <a:bodyPr wrap="square">
            <a:spAutoFit/>
          </a:bodyPr>
          <a:lstStyle/>
          <a:p>
            <a:pPr algn="ctr"/>
            <a:r>
              <a:rPr sz="1400" b="0" i="0">
                <a:solidFill>
                  <a:srgbClr val="DDEEFF"/>
                </a:solidFill>
                <a:latin typeface="Calibri"/>
              </a:rPr>
              <a:t>Faster time
from question
to answer</a:t>
            </a:r>
          </a:p>
        </p:txBody>
      </p:sp>
      <p:sp>
        <p:nvSpPr>
          <p:cNvPr id="16" name="Rectangle 15"/>
          <p:cNvSpPr/>
          <p:nvPr/>
        </p:nvSpPr>
        <p:spPr>
          <a:xfrm>
            <a:off x="6208776" y="1828800"/>
            <a:ext cx="2697480" cy="36576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8776" y="1828800"/>
            <a:ext cx="2697480" cy="91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91656" y="2057400"/>
            <a:ext cx="2331720" cy="640080"/>
          </a:xfrm>
          <a:prstGeom prst="rect">
            <a:avLst/>
          </a:prstGeom>
          <a:noFill/>
        </p:spPr>
        <p:txBody>
          <a:bodyPr wrap="square">
            <a:spAutoFit/>
          </a:bodyPr>
          <a:lstStyle/>
          <a:p>
            <a:pPr algn="ctr"/>
            <a:r>
              <a:rPr sz="2000" b="1" i="0">
                <a:solidFill>
                  <a:srgbClr val="FFFFFF"/>
                </a:solidFill>
                <a:latin typeface="Calibri"/>
              </a:rPr>
              <a:t>CONNECTION</a:t>
            </a:r>
          </a:p>
        </p:txBody>
      </p:sp>
      <p:sp>
        <p:nvSpPr>
          <p:cNvPr id="19" name="Oval 18"/>
          <p:cNvSpPr/>
          <p:nvPr/>
        </p:nvSpPr>
        <p:spPr>
          <a:xfrm>
            <a:off x="6963156" y="2606040"/>
            <a:ext cx="1188720" cy="11887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5936" y="4023360"/>
            <a:ext cx="2423160" cy="1371600"/>
          </a:xfrm>
          <a:prstGeom prst="rect">
            <a:avLst/>
          </a:prstGeom>
          <a:noFill/>
        </p:spPr>
        <p:txBody>
          <a:bodyPr wrap="square">
            <a:spAutoFit/>
          </a:bodyPr>
          <a:lstStyle/>
          <a:p>
            <a:pPr algn="ctr"/>
            <a:r>
              <a:rPr sz="1400" b="0" i="0">
                <a:solidFill>
                  <a:srgbClr val="DDEEFF"/>
                </a:solidFill>
                <a:latin typeface="Calibri"/>
              </a:rPr>
              <a:t>Deeper trust between
patient, HCP
and Takeda</a:t>
            </a:r>
          </a:p>
        </p:txBody>
      </p:sp>
      <p:sp>
        <p:nvSpPr>
          <p:cNvPr id="21" name="Rectangle 20"/>
          <p:cNvSpPr/>
          <p:nvPr/>
        </p:nvSpPr>
        <p:spPr>
          <a:xfrm>
            <a:off x="9107424" y="1828800"/>
            <a:ext cx="2697480" cy="365760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07424" y="1828800"/>
            <a:ext cx="2697480" cy="91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90304" y="2057400"/>
            <a:ext cx="2331720" cy="640080"/>
          </a:xfrm>
          <a:prstGeom prst="rect">
            <a:avLst/>
          </a:prstGeom>
          <a:noFill/>
        </p:spPr>
        <p:txBody>
          <a:bodyPr wrap="square">
            <a:spAutoFit/>
          </a:bodyPr>
          <a:lstStyle/>
          <a:p>
            <a:pPr algn="ctr"/>
            <a:r>
              <a:rPr sz="2000" b="1" i="0">
                <a:solidFill>
                  <a:srgbClr val="FFFFFF"/>
                </a:solidFill>
                <a:latin typeface="Calibri"/>
              </a:rPr>
              <a:t>OUTCOMES</a:t>
            </a:r>
          </a:p>
        </p:txBody>
      </p:sp>
      <p:sp>
        <p:nvSpPr>
          <p:cNvPr id="24" name="Oval 23"/>
          <p:cNvSpPr/>
          <p:nvPr/>
        </p:nvSpPr>
        <p:spPr>
          <a:xfrm>
            <a:off x="9861804" y="2606040"/>
            <a:ext cx="1188720" cy="11887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44584" y="4023360"/>
            <a:ext cx="2423160" cy="1371600"/>
          </a:xfrm>
          <a:prstGeom prst="rect">
            <a:avLst/>
          </a:prstGeom>
          <a:noFill/>
        </p:spPr>
        <p:txBody>
          <a:bodyPr wrap="square">
            <a:spAutoFit/>
          </a:bodyPr>
          <a:lstStyle/>
          <a:p>
            <a:pPr algn="ctr"/>
            <a:r>
              <a:rPr sz="1400" b="0" i="0">
                <a:solidFill>
                  <a:srgbClr val="DDEEFF"/>
                </a:solidFill>
                <a:latin typeface="Calibri"/>
              </a:rPr>
              <a:t>Better health outcomes
through consistent,
proactive engagement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71600"/>
          </a:xfrm>
          <a:prstGeom prst="rect">
            <a:avLst/>
          </a:prstGeom>
          <a:solidFill>
            <a:srgbClr val="1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46520"/>
            <a:ext cx="12188952" cy="411480"/>
          </a:xfrm>
          <a:prstGeom prst="rect">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92608"/>
            <a:ext cx="9144000" cy="731520"/>
          </a:xfrm>
          <a:prstGeom prst="rect">
            <a:avLst/>
          </a:prstGeom>
          <a:noFill/>
        </p:spPr>
        <p:txBody>
          <a:bodyPr wrap="square">
            <a:spAutoFit/>
          </a:bodyPr>
          <a:lstStyle/>
          <a:p>
            <a:pPr algn="l"/>
            <a:r>
              <a:rPr sz="3400" b="1" i="0">
                <a:solidFill>
                  <a:srgbClr val="FFFFFF"/>
                </a:solidFill>
                <a:latin typeface="Calibri"/>
              </a:rPr>
              <a:t>LET'S BUILD THIS TOGETHER.</a:t>
            </a:r>
          </a:p>
        </p:txBody>
      </p:sp>
      <p:sp>
        <p:nvSpPr>
          <p:cNvPr id="6" name="Rectangle 5"/>
          <p:cNvSpPr/>
          <p:nvPr/>
        </p:nvSpPr>
        <p:spPr>
          <a:xfrm>
            <a:off x="731520" y="3438144"/>
            <a:ext cx="10698480" cy="7315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828800" y="2971800"/>
            <a:ext cx="1005840" cy="1005840"/>
          </a:xfrm>
          <a:prstGeom prst="ellipse">
            <a:avLst/>
          </a:prstGeom>
          <a:solidFill>
            <a:srgbClr val="005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20240" y="3200400"/>
            <a:ext cx="822960" cy="548640"/>
          </a:xfrm>
          <a:prstGeom prst="rect">
            <a:avLst/>
          </a:prstGeom>
          <a:noFill/>
        </p:spPr>
        <p:txBody>
          <a:bodyPr wrap="square">
            <a:spAutoFit/>
          </a:bodyPr>
          <a:lstStyle/>
          <a:p>
            <a:pPr algn="ctr"/>
            <a:r>
              <a:rPr sz="1800" b="1" i="0">
                <a:solidFill>
                  <a:srgbClr val="FFFFFF"/>
                </a:solidFill>
                <a:latin typeface="Calibri"/>
              </a:rPr>
              <a:t>01</a:t>
            </a:r>
          </a:p>
        </p:txBody>
      </p:sp>
      <p:sp>
        <p:nvSpPr>
          <p:cNvPr id="9" name="Rectangle 8"/>
          <p:cNvSpPr/>
          <p:nvPr/>
        </p:nvSpPr>
        <p:spPr>
          <a:xfrm>
            <a:off x="502920" y="1463040"/>
            <a:ext cx="3657600" cy="1828800"/>
          </a:xfrm>
          <a:prstGeom prst="rect">
            <a:avLst/>
          </a:prstGeom>
          <a:solidFill>
            <a:srgbClr val="005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600200"/>
            <a:ext cx="3291840" cy="868680"/>
          </a:xfrm>
          <a:prstGeom prst="rect">
            <a:avLst/>
          </a:prstGeom>
          <a:noFill/>
        </p:spPr>
        <p:txBody>
          <a:bodyPr wrap="square">
            <a:spAutoFit/>
          </a:bodyPr>
          <a:lstStyle/>
          <a:p>
            <a:pPr algn="ctr"/>
            <a:r>
              <a:rPr sz="2000" b="1" i="0">
                <a:solidFill>
                  <a:srgbClr val="FFFFFF"/>
                </a:solidFill>
                <a:latin typeface="Calibri"/>
              </a:rPr>
              <a:t>CONNECT</a:t>
            </a:r>
          </a:p>
        </p:txBody>
      </p:sp>
      <p:sp>
        <p:nvSpPr>
          <p:cNvPr id="11" name="TextBox 10"/>
          <p:cNvSpPr txBox="1"/>
          <p:nvPr/>
        </p:nvSpPr>
        <p:spPr>
          <a:xfrm>
            <a:off x="685800" y="2468880"/>
            <a:ext cx="3291840" cy="685800"/>
          </a:xfrm>
          <a:prstGeom prst="rect">
            <a:avLst/>
          </a:prstGeom>
          <a:noFill/>
        </p:spPr>
        <p:txBody>
          <a:bodyPr wrap="square">
            <a:spAutoFit/>
          </a:bodyPr>
          <a:lstStyle/>
          <a:p>
            <a:pPr algn="ctr"/>
            <a:r>
              <a:rPr sz="1300" b="0" i="0">
                <a:solidFill>
                  <a:srgbClr val="DDEEFF"/>
                </a:solidFill>
                <a:latin typeface="Calibri"/>
              </a:rPr>
              <a:t>Data unification
Health Cloud foundation</a:t>
            </a:r>
          </a:p>
        </p:txBody>
      </p:sp>
      <p:sp>
        <p:nvSpPr>
          <p:cNvPr id="12" name="Rectangle 11"/>
          <p:cNvSpPr/>
          <p:nvPr/>
        </p:nvSpPr>
        <p:spPr>
          <a:xfrm>
            <a:off x="502920" y="3749039"/>
            <a:ext cx="3657600" cy="1828800"/>
          </a:xfrm>
          <a:prstGeom prst="rect">
            <a:avLst/>
          </a:prstGeom>
          <a:solidFill>
            <a:srgbClr val="FFFFFF"/>
          </a:solidFill>
          <a:ln w="25400">
            <a:solidFill>
              <a:srgbClr val="005F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67512" y="3959352"/>
            <a:ext cx="219456" cy="219456"/>
          </a:xfrm>
          <a:prstGeom prst="ellipse">
            <a:avLst/>
          </a:prstGeom>
          <a:solidFill>
            <a:srgbClr val="005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3886200"/>
            <a:ext cx="3063240" cy="502920"/>
          </a:xfrm>
          <a:prstGeom prst="rect">
            <a:avLst/>
          </a:prstGeom>
          <a:noFill/>
        </p:spPr>
        <p:txBody>
          <a:bodyPr wrap="square">
            <a:spAutoFit/>
          </a:bodyPr>
          <a:lstStyle/>
          <a:p>
            <a:pPr algn="l"/>
            <a:r>
              <a:rPr sz="1300" b="0" i="0">
                <a:solidFill>
                  <a:srgbClr val="444455"/>
                </a:solidFill>
                <a:latin typeface="Calibri"/>
              </a:rPr>
              <a:t>Integrate core data sources</a:t>
            </a:r>
          </a:p>
        </p:txBody>
      </p:sp>
      <p:sp>
        <p:nvSpPr>
          <p:cNvPr id="15" name="Oval 14"/>
          <p:cNvSpPr/>
          <p:nvPr/>
        </p:nvSpPr>
        <p:spPr>
          <a:xfrm>
            <a:off x="667512" y="4617720"/>
            <a:ext cx="219456" cy="219456"/>
          </a:xfrm>
          <a:prstGeom prst="ellipse">
            <a:avLst/>
          </a:prstGeom>
          <a:solidFill>
            <a:srgbClr val="005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4544568"/>
            <a:ext cx="3063240" cy="502920"/>
          </a:xfrm>
          <a:prstGeom prst="rect">
            <a:avLst/>
          </a:prstGeom>
          <a:noFill/>
        </p:spPr>
        <p:txBody>
          <a:bodyPr wrap="square">
            <a:spAutoFit/>
          </a:bodyPr>
          <a:lstStyle/>
          <a:p>
            <a:pPr algn="l"/>
            <a:r>
              <a:rPr sz="1300" b="0" i="0">
                <a:solidFill>
                  <a:srgbClr val="444455"/>
                </a:solidFill>
                <a:latin typeface="Calibri"/>
              </a:rPr>
              <a:t>Launch Health Cloud profiles</a:t>
            </a:r>
          </a:p>
        </p:txBody>
      </p:sp>
      <p:sp>
        <p:nvSpPr>
          <p:cNvPr id="17" name="Oval 16"/>
          <p:cNvSpPr/>
          <p:nvPr/>
        </p:nvSpPr>
        <p:spPr>
          <a:xfrm>
            <a:off x="5486400" y="2971800"/>
            <a:ext cx="1005840" cy="1005840"/>
          </a:xfrm>
          <a:prstGeom prst="ellipse">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77840" y="3200400"/>
            <a:ext cx="822960" cy="548640"/>
          </a:xfrm>
          <a:prstGeom prst="rect">
            <a:avLst/>
          </a:prstGeom>
          <a:noFill/>
        </p:spPr>
        <p:txBody>
          <a:bodyPr wrap="square">
            <a:spAutoFit/>
          </a:bodyPr>
          <a:lstStyle/>
          <a:p>
            <a:pPr algn="ctr"/>
            <a:r>
              <a:rPr sz="1800" b="1" i="0">
                <a:solidFill>
                  <a:srgbClr val="FFFFFF"/>
                </a:solidFill>
                <a:latin typeface="Calibri"/>
              </a:rPr>
              <a:t>02</a:t>
            </a:r>
          </a:p>
        </p:txBody>
      </p:sp>
      <p:sp>
        <p:nvSpPr>
          <p:cNvPr id="19" name="Rectangle 18"/>
          <p:cNvSpPr/>
          <p:nvPr/>
        </p:nvSpPr>
        <p:spPr>
          <a:xfrm>
            <a:off x="4160520" y="1463040"/>
            <a:ext cx="3657600" cy="1828800"/>
          </a:xfrm>
          <a:prstGeom prst="rect">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43400" y="1600200"/>
            <a:ext cx="3291840" cy="868680"/>
          </a:xfrm>
          <a:prstGeom prst="rect">
            <a:avLst/>
          </a:prstGeom>
          <a:noFill/>
        </p:spPr>
        <p:txBody>
          <a:bodyPr wrap="square">
            <a:spAutoFit/>
          </a:bodyPr>
          <a:lstStyle/>
          <a:p>
            <a:pPr algn="ctr"/>
            <a:r>
              <a:rPr sz="2000" b="1" i="0">
                <a:solidFill>
                  <a:srgbClr val="FFFFFF"/>
                </a:solidFill>
                <a:latin typeface="Calibri"/>
              </a:rPr>
              <a:t>PERSONALISE</a:t>
            </a:r>
          </a:p>
        </p:txBody>
      </p:sp>
      <p:sp>
        <p:nvSpPr>
          <p:cNvPr id="21" name="TextBox 20"/>
          <p:cNvSpPr txBox="1"/>
          <p:nvPr/>
        </p:nvSpPr>
        <p:spPr>
          <a:xfrm>
            <a:off x="4343400" y="2468880"/>
            <a:ext cx="3291840" cy="685800"/>
          </a:xfrm>
          <a:prstGeom prst="rect">
            <a:avLst/>
          </a:prstGeom>
          <a:noFill/>
        </p:spPr>
        <p:txBody>
          <a:bodyPr wrap="square">
            <a:spAutoFit/>
          </a:bodyPr>
          <a:lstStyle/>
          <a:p>
            <a:pPr algn="ctr"/>
            <a:r>
              <a:rPr sz="1300" b="0" i="0">
                <a:solidFill>
                  <a:srgbClr val="DDEEFF"/>
                </a:solidFill>
                <a:latin typeface="Calibri"/>
              </a:rPr>
              <a:t>Journey activation
Marketing Cloud at scale</a:t>
            </a:r>
          </a:p>
        </p:txBody>
      </p:sp>
      <p:sp>
        <p:nvSpPr>
          <p:cNvPr id="22" name="Rectangle 21"/>
          <p:cNvSpPr/>
          <p:nvPr/>
        </p:nvSpPr>
        <p:spPr>
          <a:xfrm>
            <a:off x="4160520" y="3749039"/>
            <a:ext cx="3657600" cy="1828800"/>
          </a:xfrm>
          <a:prstGeom prst="rect">
            <a:avLst/>
          </a:prstGeom>
          <a:solidFill>
            <a:srgbClr val="FFFFFF"/>
          </a:solidFill>
          <a:ln w="25400">
            <a:solidFill>
              <a:srgbClr val="E40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325112" y="3959352"/>
            <a:ext cx="219456" cy="219456"/>
          </a:xfrm>
          <a:prstGeom prst="ellipse">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17720" y="3886200"/>
            <a:ext cx="3063240" cy="502920"/>
          </a:xfrm>
          <a:prstGeom prst="rect">
            <a:avLst/>
          </a:prstGeom>
          <a:noFill/>
        </p:spPr>
        <p:txBody>
          <a:bodyPr wrap="square">
            <a:spAutoFit/>
          </a:bodyPr>
          <a:lstStyle/>
          <a:p>
            <a:pPr algn="l"/>
            <a:r>
              <a:rPr sz="1300" b="0" i="0">
                <a:solidFill>
                  <a:srgbClr val="444455"/>
                </a:solidFill>
                <a:latin typeface="Calibri"/>
              </a:rPr>
              <a:t>Activate patient journeys</a:t>
            </a:r>
          </a:p>
        </p:txBody>
      </p:sp>
      <p:sp>
        <p:nvSpPr>
          <p:cNvPr id="25" name="Oval 24"/>
          <p:cNvSpPr/>
          <p:nvPr/>
        </p:nvSpPr>
        <p:spPr>
          <a:xfrm>
            <a:off x="4325112" y="4617720"/>
            <a:ext cx="219456" cy="219456"/>
          </a:xfrm>
          <a:prstGeom prst="ellipse">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17720" y="4544568"/>
            <a:ext cx="3063240" cy="502920"/>
          </a:xfrm>
          <a:prstGeom prst="rect">
            <a:avLst/>
          </a:prstGeom>
          <a:noFill/>
        </p:spPr>
        <p:txBody>
          <a:bodyPr wrap="square">
            <a:spAutoFit/>
          </a:bodyPr>
          <a:lstStyle/>
          <a:p>
            <a:pPr algn="l"/>
            <a:r>
              <a:rPr sz="1300" b="0" i="0">
                <a:solidFill>
                  <a:srgbClr val="444455"/>
                </a:solidFill>
                <a:latin typeface="Calibri"/>
              </a:rPr>
              <a:t>Omnichannel campaign go-live</a:t>
            </a:r>
          </a:p>
        </p:txBody>
      </p:sp>
      <p:sp>
        <p:nvSpPr>
          <p:cNvPr id="27" name="Oval 26"/>
          <p:cNvSpPr/>
          <p:nvPr/>
        </p:nvSpPr>
        <p:spPr>
          <a:xfrm>
            <a:off x="9144000" y="2971800"/>
            <a:ext cx="1005840" cy="100584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35440" y="3200400"/>
            <a:ext cx="822960" cy="548640"/>
          </a:xfrm>
          <a:prstGeom prst="rect">
            <a:avLst/>
          </a:prstGeom>
          <a:noFill/>
        </p:spPr>
        <p:txBody>
          <a:bodyPr wrap="square">
            <a:spAutoFit/>
          </a:bodyPr>
          <a:lstStyle/>
          <a:p>
            <a:pPr algn="ctr"/>
            <a:r>
              <a:rPr sz="1800" b="1" i="0">
                <a:solidFill>
                  <a:srgbClr val="FFFFFF"/>
                </a:solidFill>
                <a:latin typeface="Calibri"/>
              </a:rPr>
              <a:t>03</a:t>
            </a:r>
          </a:p>
        </p:txBody>
      </p:sp>
      <p:sp>
        <p:nvSpPr>
          <p:cNvPr id="29" name="Rectangle 28"/>
          <p:cNvSpPr/>
          <p:nvPr/>
        </p:nvSpPr>
        <p:spPr>
          <a:xfrm>
            <a:off x="7818120" y="1463040"/>
            <a:ext cx="3657600" cy="18288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01000" y="1600200"/>
            <a:ext cx="3291840" cy="868680"/>
          </a:xfrm>
          <a:prstGeom prst="rect">
            <a:avLst/>
          </a:prstGeom>
          <a:noFill/>
        </p:spPr>
        <p:txBody>
          <a:bodyPr wrap="square">
            <a:spAutoFit/>
          </a:bodyPr>
          <a:lstStyle/>
          <a:p>
            <a:pPr algn="ctr"/>
            <a:r>
              <a:rPr sz="2000" b="1" i="0">
                <a:solidFill>
                  <a:srgbClr val="FFFFFF"/>
                </a:solidFill>
                <a:latin typeface="Calibri"/>
              </a:rPr>
              <a:t>INTELLIGENTLY
SCALE</a:t>
            </a:r>
          </a:p>
        </p:txBody>
      </p:sp>
      <p:sp>
        <p:nvSpPr>
          <p:cNvPr id="31" name="TextBox 30"/>
          <p:cNvSpPr txBox="1"/>
          <p:nvPr/>
        </p:nvSpPr>
        <p:spPr>
          <a:xfrm>
            <a:off x="8001000" y="2468880"/>
            <a:ext cx="3291840" cy="685800"/>
          </a:xfrm>
          <a:prstGeom prst="rect">
            <a:avLst/>
          </a:prstGeom>
          <a:noFill/>
        </p:spPr>
        <p:txBody>
          <a:bodyPr wrap="square">
            <a:spAutoFit/>
          </a:bodyPr>
          <a:lstStyle/>
          <a:p>
            <a:pPr algn="ctr"/>
            <a:r>
              <a:rPr sz="1300" b="0" i="0">
                <a:solidFill>
                  <a:srgbClr val="DDEEFF"/>
                </a:solidFill>
                <a:latin typeface="Calibri"/>
              </a:rPr>
              <a:t>Agentforce AI agents
Continuous optimisation</a:t>
            </a:r>
          </a:p>
        </p:txBody>
      </p:sp>
      <p:sp>
        <p:nvSpPr>
          <p:cNvPr id="32" name="Rectangle 31"/>
          <p:cNvSpPr/>
          <p:nvPr/>
        </p:nvSpPr>
        <p:spPr>
          <a:xfrm>
            <a:off x="7818120" y="3749039"/>
            <a:ext cx="3657600" cy="1828800"/>
          </a:xfrm>
          <a:prstGeom prst="rect">
            <a:avLst/>
          </a:prstGeom>
          <a:solidFill>
            <a:srgbClr val="FFFFFF"/>
          </a:solidFill>
          <a:ln w="254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982712" y="3959352"/>
            <a:ext cx="219456" cy="219456"/>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75320" y="3886200"/>
            <a:ext cx="3063240" cy="502920"/>
          </a:xfrm>
          <a:prstGeom prst="rect">
            <a:avLst/>
          </a:prstGeom>
          <a:noFill/>
        </p:spPr>
        <p:txBody>
          <a:bodyPr wrap="square">
            <a:spAutoFit/>
          </a:bodyPr>
          <a:lstStyle/>
          <a:p>
            <a:pPr algn="l"/>
            <a:r>
              <a:rPr sz="1300" b="0" i="0">
                <a:solidFill>
                  <a:srgbClr val="444455"/>
                </a:solidFill>
                <a:latin typeface="Calibri"/>
              </a:rPr>
              <a:t>Deploy AI patient agents</a:t>
            </a:r>
          </a:p>
        </p:txBody>
      </p:sp>
      <p:sp>
        <p:nvSpPr>
          <p:cNvPr id="35" name="Oval 34"/>
          <p:cNvSpPr/>
          <p:nvPr/>
        </p:nvSpPr>
        <p:spPr>
          <a:xfrm>
            <a:off x="7982712" y="4617720"/>
            <a:ext cx="219456" cy="219456"/>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75320" y="4544568"/>
            <a:ext cx="3063240" cy="502920"/>
          </a:xfrm>
          <a:prstGeom prst="rect">
            <a:avLst/>
          </a:prstGeom>
          <a:noFill/>
        </p:spPr>
        <p:txBody>
          <a:bodyPr wrap="square">
            <a:spAutoFit/>
          </a:bodyPr>
          <a:lstStyle/>
          <a:p>
            <a:pPr algn="l"/>
            <a:r>
              <a:rPr sz="1300" b="0" i="0">
                <a:solidFill>
                  <a:srgbClr val="444455"/>
                </a:solidFill>
                <a:latin typeface="Calibri"/>
              </a:rPr>
              <a:t>Continuous learning loops</a:t>
            </a:r>
          </a:p>
        </p:txBody>
      </p:sp>
      <p:sp>
        <p:nvSpPr>
          <p:cNvPr id="37" name="TextBox 36"/>
          <p:cNvSpPr txBox="1"/>
          <p:nvPr/>
        </p:nvSpPr>
        <p:spPr>
          <a:xfrm>
            <a:off x="457200" y="5806440"/>
            <a:ext cx="11247120" cy="502920"/>
          </a:xfrm>
          <a:prstGeom prst="rect">
            <a:avLst/>
          </a:prstGeom>
          <a:noFill/>
        </p:spPr>
        <p:txBody>
          <a:bodyPr wrap="square">
            <a:spAutoFit/>
          </a:bodyPr>
          <a:lstStyle/>
          <a:p>
            <a:pPr algn="ctr"/>
            <a:r>
              <a:rPr sz="1300" b="0" i="1">
                <a:solidFill>
                  <a:srgbClr val="444455"/>
                </a:solidFill>
                <a:latin typeface="Calibri"/>
              </a:rPr>
              <a:t>Together, Salesforce and Takeda can build a patient engagement model that is smarter, more personal, and more impactful at every step of the patient journey.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46520"/>
            <a:ext cx="12188952" cy="411480"/>
          </a:xfrm>
          <a:prstGeom prst="rect">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237744"/>
            <a:ext cx="857250" cy="91440"/>
          </a:xfrm>
          <a:prstGeom prst="rect">
            <a:avLst/>
          </a:prstGeom>
          <a:solidFill>
            <a:srgbClr val="782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96162" y="237744"/>
            <a:ext cx="857250" cy="91440"/>
          </a:xfrm>
          <a:prstGeom prst="rect">
            <a:avLst/>
          </a:prstGeom>
          <a:solidFill>
            <a:srgbClr val="E64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153412" y="237744"/>
            <a:ext cx="857250" cy="91440"/>
          </a:xfrm>
          <a:prstGeom prst="rect">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010662" y="237744"/>
            <a:ext cx="857250" cy="91440"/>
          </a:xfrm>
          <a:prstGeom prst="rect">
            <a:avLst/>
          </a:prstGeom>
          <a:solidFill>
            <a:srgbClr val="00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867912" y="237744"/>
            <a:ext cx="857250" cy="91440"/>
          </a:xfrm>
          <a:prstGeom prst="rect">
            <a:avLst/>
          </a:prstGeom>
          <a:solidFill>
            <a:srgbClr val="006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725162" y="237744"/>
            <a:ext cx="857250" cy="914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82412" y="237744"/>
            <a:ext cx="857250" cy="91440"/>
          </a:xfrm>
          <a:prstGeom prst="rect">
            <a:avLst/>
          </a:prstGeom>
          <a:solidFill>
            <a:srgbClr val="005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39662" y="237744"/>
            <a:ext cx="857250" cy="91440"/>
          </a:xfrm>
          <a:prstGeom prst="rect">
            <a:avLst/>
          </a:prstGeom>
          <a:solidFill>
            <a:srgbClr val="00A1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356616"/>
            <a:ext cx="8229600" cy="384048"/>
          </a:xfrm>
          <a:prstGeom prst="rect">
            <a:avLst/>
          </a:prstGeom>
          <a:noFill/>
        </p:spPr>
        <p:txBody>
          <a:bodyPr wrap="square">
            <a:spAutoFit/>
          </a:bodyPr>
          <a:lstStyle/>
          <a:p>
            <a:pPr algn="l"/>
            <a:r>
              <a:rPr sz="1100" b="1" i="0">
                <a:solidFill>
                  <a:srgbClr val="AABBDD"/>
                </a:solidFill>
                <a:latin typeface="Calibri"/>
              </a:rPr>
              <a:t>FOR YOU WITH YOU: ZASOCITINIB  ·  Patient Journey</a:t>
            </a:r>
          </a:p>
        </p:txBody>
      </p:sp>
      <p:sp>
        <p:nvSpPr>
          <p:cNvPr id="13" name="TextBox 12"/>
          <p:cNvSpPr txBox="1"/>
          <p:nvPr/>
        </p:nvSpPr>
        <p:spPr>
          <a:xfrm>
            <a:off x="438912" y="713232"/>
            <a:ext cx="10515600" cy="384048"/>
          </a:xfrm>
          <a:prstGeom prst="rect">
            <a:avLst/>
          </a:prstGeom>
          <a:noFill/>
        </p:spPr>
        <p:txBody>
          <a:bodyPr wrap="square">
            <a:spAutoFit/>
          </a:bodyPr>
          <a:lstStyle/>
          <a:p>
            <a:pPr algn="l"/>
            <a:r>
              <a:rPr sz="1700" b="1" i="0">
                <a:solidFill>
                  <a:srgbClr val="FFFFFF"/>
                </a:solidFill>
                <a:latin typeface="Calibri"/>
              </a:rPr>
              <a:t>From first flare to lasting clearance — grounded in Takeda's 'For You With You' digital companion</a:t>
            </a:r>
          </a:p>
        </p:txBody>
      </p:sp>
      <p:sp>
        <p:nvSpPr>
          <p:cNvPr id="14" name="Rectangle 13"/>
          <p:cNvSpPr/>
          <p:nvPr/>
        </p:nvSpPr>
        <p:spPr>
          <a:xfrm>
            <a:off x="438912" y="5148072"/>
            <a:ext cx="11430000" cy="36576"/>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seg"/>
          <p:cNvSpPr/>
          <p:nvPr/>
        </p:nvSpPr>
        <p:spPr>
          <a:xfrm>
            <a:off x="1153287" y="4608259"/>
            <a:ext cx="119062" cy="9144"/>
          </a:xfrm>
          <a:custGeom>
            <a:avLst/>
            <a:gdLst/>
            <a:ahLst/>
            <a:cxnLst/>
            <a:rect l="l" t="t" r="r" b="b"/>
            <a:pathLst>
              <a:path w="119062" h="9144">
                <a:moveTo>
                  <a:pt x="0" y="9095"/>
                </a:moveTo>
                <a:lnTo>
                  <a:pt x="119062" y="0"/>
                </a:lnTo>
              </a:path>
            </a:pathLst>
          </a:custGeom>
          <a:ln w="57150">
            <a:solidFill>
              <a:srgbClr val="78202E"/>
            </a:solidFill>
          </a:ln>
        </p:spPr>
        <p:txBody>
          <a:bodyPr/>
          <a:lstStyle/>
          <a:p/>
        </p:txBody>
      </p:sp>
      <p:sp>
        <p:nvSpPr>
          <p:cNvPr id="199" name="seg"/>
          <p:cNvSpPr/>
          <p:nvPr/>
        </p:nvSpPr>
        <p:spPr>
          <a:xfrm>
            <a:off x="1272349" y="4581594"/>
            <a:ext cx="119063" cy="26665"/>
          </a:xfrm>
          <a:custGeom>
            <a:avLst/>
            <a:gdLst/>
            <a:ahLst/>
            <a:cxnLst/>
            <a:rect l="l" t="t" r="r" b="b"/>
            <a:pathLst>
              <a:path w="119063" h="26665">
                <a:moveTo>
                  <a:pt x="0" y="26665"/>
                </a:moveTo>
                <a:lnTo>
                  <a:pt x="119063" y="0"/>
                </a:lnTo>
              </a:path>
            </a:pathLst>
          </a:custGeom>
          <a:ln w="57150">
            <a:solidFill>
              <a:srgbClr val="78202E"/>
            </a:solidFill>
          </a:ln>
        </p:spPr>
        <p:txBody>
          <a:bodyPr/>
          <a:lstStyle/>
          <a:p/>
        </p:txBody>
      </p:sp>
      <p:sp>
        <p:nvSpPr>
          <p:cNvPr id="199" name="seg"/>
          <p:cNvSpPr/>
          <p:nvPr/>
        </p:nvSpPr>
        <p:spPr>
          <a:xfrm>
            <a:off x="1391412" y="4539176"/>
            <a:ext cx="119062" cy="42418"/>
          </a:xfrm>
          <a:custGeom>
            <a:avLst/>
            <a:gdLst/>
            <a:ahLst/>
            <a:cxnLst/>
            <a:rect l="l" t="t" r="r" b="b"/>
            <a:pathLst>
              <a:path w="119062" h="42418">
                <a:moveTo>
                  <a:pt x="0" y="42418"/>
                </a:moveTo>
                <a:lnTo>
                  <a:pt x="119062" y="0"/>
                </a:lnTo>
              </a:path>
            </a:pathLst>
          </a:custGeom>
          <a:ln w="57150">
            <a:solidFill>
              <a:srgbClr val="78202E"/>
            </a:solidFill>
          </a:ln>
        </p:spPr>
        <p:txBody>
          <a:bodyPr/>
          <a:lstStyle/>
          <a:p/>
        </p:txBody>
      </p:sp>
      <p:sp>
        <p:nvSpPr>
          <p:cNvPr id="199" name="seg"/>
          <p:cNvSpPr/>
          <p:nvPr/>
        </p:nvSpPr>
        <p:spPr>
          <a:xfrm>
            <a:off x="1510474" y="4483897"/>
            <a:ext cx="119063" cy="55279"/>
          </a:xfrm>
          <a:custGeom>
            <a:avLst/>
            <a:gdLst/>
            <a:ahLst/>
            <a:cxnLst/>
            <a:rect l="l" t="t" r="r" b="b"/>
            <a:pathLst>
              <a:path w="119063" h="55279">
                <a:moveTo>
                  <a:pt x="0" y="55279"/>
                </a:moveTo>
                <a:lnTo>
                  <a:pt x="119063" y="0"/>
                </a:lnTo>
              </a:path>
            </a:pathLst>
          </a:custGeom>
          <a:ln w="57150">
            <a:solidFill>
              <a:srgbClr val="78202E"/>
            </a:solidFill>
          </a:ln>
        </p:spPr>
        <p:txBody>
          <a:bodyPr/>
          <a:lstStyle/>
          <a:p/>
        </p:txBody>
      </p:sp>
      <p:sp>
        <p:nvSpPr>
          <p:cNvPr id="199" name="seg"/>
          <p:cNvSpPr/>
          <p:nvPr/>
        </p:nvSpPr>
        <p:spPr>
          <a:xfrm>
            <a:off x="1629537" y="4419522"/>
            <a:ext cx="119062" cy="64375"/>
          </a:xfrm>
          <a:custGeom>
            <a:avLst/>
            <a:gdLst/>
            <a:ahLst/>
            <a:cxnLst/>
            <a:rect l="l" t="t" r="r" b="b"/>
            <a:pathLst>
              <a:path w="119062" h="64375">
                <a:moveTo>
                  <a:pt x="0" y="64375"/>
                </a:moveTo>
                <a:lnTo>
                  <a:pt x="119062" y="0"/>
                </a:lnTo>
              </a:path>
            </a:pathLst>
          </a:custGeom>
          <a:ln w="57150">
            <a:solidFill>
              <a:srgbClr val="78202E"/>
            </a:solidFill>
          </a:ln>
        </p:spPr>
        <p:txBody>
          <a:bodyPr/>
          <a:lstStyle/>
          <a:p/>
        </p:txBody>
      </p:sp>
      <p:sp>
        <p:nvSpPr>
          <p:cNvPr id="199" name="seg"/>
          <p:cNvSpPr/>
          <p:nvPr/>
        </p:nvSpPr>
        <p:spPr>
          <a:xfrm>
            <a:off x="1748599" y="4350440"/>
            <a:ext cx="119063" cy="69082"/>
          </a:xfrm>
          <a:custGeom>
            <a:avLst/>
            <a:gdLst/>
            <a:ahLst/>
            <a:cxnLst/>
            <a:rect l="l" t="t" r="r" b="b"/>
            <a:pathLst>
              <a:path w="119063" h="69082">
                <a:moveTo>
                  <a:pt x="0" y="69082"/>
                </a:moveTo>
                <a:lnTo>
                  <a:pt x="119063" y="0"/>
                </a:lnTo>
              </a:path>
            </a:pathLst>
          </a:custGeom>
          <a:ln w="57150">
            <a:solidFill>
              <a:srgbClr val="78202E"/>
            </a:solidFill>
          </a:ln>
        </p:spPr>
        <p:txBody>
          <a:bodyPr/>
          <a:lstStyle/>
          <a:p/>
        </p:txBody>
      </p:sp>
      <p:sp>
        <p:nvSpPr>
          <p:cNvPr id="199" name="seg"/>
          <p:cNvSpPr/>
          <p:nvPr/>
        </p:nvSpPr>
        <p:spPr>
          <a:xfrm>
            <a:off x="1867662" y="4281358"/>
            <a:ext cx="119062" cy="69082"/>
          </a:xfrm>
          <a:custGeom>
            <a:avLst/>
            <a:gdLst/>
            <a:ahLst/>
            <a:cxnLst/>
            <a:rect l="l" t="t" r="r" b="b"/>
            <a:pathLst>
              <a:path w="119062" h="69082">
                <a:moveTo>
                  <a:pt x="0" y="69082"/>
                </a:moveTo>
                <a:lnTo>
                  <a:pt x="119062" y="0"/>
                </a:lnTo>
              </a:path>
            </a:pathLst>
          </a:custGeom>
          <a:ln w="57150">
            <a:solidFill>
              <a:srgbClr val="78202E"/>
            </a:solidFill>
          </a:ln>
        </p:spPr>
        <p:txBody>
          <a:bodyPr/>
          <a:lstStyle/>
          <a:p/>
        </p:txBody>
      </p:sp>
      <p:sp>
        <p:nvSpPr>
          <p:cNvPr id="199" name="seg"/>
          <p:cNvSpPr/>
          <p:nvPr/>
        </p:nvSpPr>
        <p:spPr>
          <a:xfrm>
            <a:off x="1986724" y="4216983"/>
            <a:ext cx="119063" cy="64375"/>
          </a:xfrm>
          <a:custGeom>
            <a:avLst/>
            <a:gdLst/>
            <a:ahLst/>
            <a:cxnLst/>
            <a:rect l="l" t="t" r="r" b="b"/>
            <a:pathLst>
              <a:path w="119063" h="64375">
                <a:moveTo>
                  <a:pt x="0" y="64375"/>
                </a:moveTo>
                <a:lnTo>
                  <a:pt x="119063" y="0"/>
                </a:lnTo>
              </a:path>
            </a:pathLst>
          </a:custGeom>
          <a:ln w="57150">
            <a:solidFill>
              <a:srgbClr val="78202E"/>
            </a:solidFill>
          </a:ln>
        </p:spPr>
        <p:txBody>
          <a:bodyPr/>
          <a:lstStyle/>
          <a:p/>
        </p:txBody>
      </p:sp>
      <p:sp>
        <p:nvSpPr>
          <p:cNvPr id="199" name="seg"/>
          <p:cNvSpPr/>
          <p:nvPr/>
        </p:nvSpPr>
        <p:spPr>
          <a:xfrm>
            <a:off x="2105787" y="4161704"/>
            <a:ext cx="119062" cy="55279"/>
          </a:xfrm>
          <a:custGeom>
            <a:avLst/>
            <a:gdLst/>
            <a:ahLst/>
            <a:cxnLst/>
            <a:rect l="l" t="t" r="r" b="b"/>
            <a:pathLst>
              <a:path w="119062" h="55279">
                <a:moveTo>
                  <a:pt x="0" y="55279"/>
                </a:moveTo>
                <a:lnTo>
                  <a:pt x="119062" y="0"/>
                </a:lnTo>
              </a:path>
            </a:pathLst>
          </a:custGeom>
          <a:ln w="57150">
            <a:solidFill>
              <a:srgbClr val="78202E"/>
            </a:solidFill>
          </a:ln>
        </p:spPr>
        <p:txBody>
          <a:bodyPr/>
          <a:lstStyle/>
          <a:p/>
        </p:txBody>
      </p:sp>
      <p:sp>
        <p:nvSpPr>
          <p:cNvPr id="199" name="seg"/>
          <p:cNvSpPr/>
          <p:nvPr/>
        </p:nvSpPr>
        <p:spPr>
          <a:xfrm>
            <a:off x="2224849" y="4119286"/>
            <a:ext cx="119063" cy="42418"/>
          </a:xfrm>
          <a:custGeom>
            <a:avLst/>
            <a:gdLst/>
            <a:ahLst/>
            <a:cxnLst/>
            <a:rect l="l" t="t" r="r" b="b"/>
            <a:pathLst>
              <a:path w="119063" h="42418">
                <a:moveTo>
                  <a:pt x="0" y="42418"/>
                </a:moveTo>
                <a:lnTo>
                  <a:pt x="119063" y="0"/>
                </a:lnTo>
              </a:path>
            </a:pathLst>
          </a:custGeom>
          <a:ln w="57150">
            <a:solidFill>
              <a:srgbClr val="78202E"/>
            </a:solidFill>
          </a:ln>
        </p:spPr>
        <p:txBody>
          <a:bodyPr/>
          <a:lstStyle/>
          <a:p/>
        </p:txBody>
      </p:sp>
      <p:sp>
        <p:nvSpPr>
          <p:cNvPr id="199" name="seg"/>
          <p:cNvSpPr/>
          <p:nvPr/>
        </p:nvSpPr>
        <p:spPr>
          <a:xfrm>
            <a:off x="2343912" y="4092621"/>
            <a:ext cx="119062" cy="26665"/>
          </a:xfrm>
          <a:custGeom>
            <a:avLst/>
            <a:gdLst/>
            <a:ahLst/>
            <a:cxnLst/>
            <a:rect l="l" t="t" r="r" b="b"/>
            <a:pathLst>
              <a:path w="119062" h="26665">
                <a:moveTo>
                  <a:pt x="0" y="26665"/>
                </a:moveTo>
                <a:lnTo>
                  <a:pt x="119062" y="0"/>
                </a:lnTo>
              </a:path>
            </a:pathLst>
          </a:custGeom>
          <a:ln w="57150">
            <a:solidFill>
              <a:srgbClr val="78202E"/>
            </a:solidFill>
          </a:ln>
        </p:spPr>
        <p:txBody>
          <a:bodyPr/>
          <a:lstStyle/>
          <a:p/>
        </p:txBody>
      </p:sp>
      <p:sp>
        <p:nvSpPr>
          <p:cNvPr id="199" name="seg"/>
          <p:cNvSpPr/>
          <p:nvPr/>
        </p:nvSpPr>
        <p:spPr>
          <a:xfrm>
            <a:off x="2462974" y="4083527"/>
            <a:ext cx="119063" cy="9144"/>
          </a:xfrm>
          <a:custGeom>
            <a:avLst/>
            <a:gdLst/>
            <a:ahLst/>
            <a:cxnLst/>
            <a:rect l="l" t="t" r="r" b="b"/>
            <a:pathLst>
              <a:path w="119063" h="9144">
                <a:moveTo>
                  <a:pt x="0" y="9094"/>
                </a:moveTo>
                <a:lnTo>
                  <a:pt x="119063" y="0"/>
                </a:lnTo>
              </a:path>
            </a:pathLst>
          </a:custGeom>
          <a:ln w="57150">
            <a:solidFill>
              <a:srgbClr val="78202E"/>
            </a:solidFill>
          </a:ln>
        </p:spPr>
        <p:txBody>
          <a:bodyPr/>
          <a:lstStyle/>
          <a:p/>
        </p:txBody>
      </p:sp>
      <p:sp>
        <p:nvSpPr>
          <p:cNvPr id="199" name="seg"/>
          <p:cNvSpPr/>
          <p:nvPr/>
        </p:nvSpPr>
        <p:spPr>
          <a:xfrm>
            <a:off x="2582037" y="4083527"/>
            <a:ext cx="9144" cy="9144"/>
          </a:xfrm>
          <a:custGeom>
            <a:avLst/>
            <a:gdLst/>
            <a:ahLst/>
            <a:cxnLst/>
            <a:rect l="l" t="t" r="r" b="b"/>
            <a:pathLst>
              <a:path w="9144" h="9144">
                <a:moveTo>
                  <a:pt x="0" y="0"/>
                </a:moveTo>
                <a:lnTo>
                  <a:pt x="0" y="0"/>
                </a:lnTo>
              </a:path>
            </a:pathLst>
          </a:custGeom>
          <a:ln w="57150">
            <a:solidFill>
              <a:srgbClr val="78202E"/>
            </a:solidFill>
          </a:ln>
        </p:spPr>
        <p:txBody>
          <a:bodyPr/>
          <a:lstStyle/>
          <a:p/>
        </p:txBody>
      </p:sp>
      <p:sp>
        <p:nvSpPr>
          <p:cNvPr id="199" name="seg"/>
          <p:cNvSpPr/>
          <p:nvPr/>
        </p:nvSpPr>
        <p:spPr>
          <a:xfrm>
            <a:off x="2582037" y="4071183"/>
            <a:ext cx="119062" cy="12344"/>
          </a:xfrm>
          <a:custGeom>
            <a:avLst/>
            <a:gdLst/>
            <a:ahLst/>
            <a:cxnLst/>
            <a:rect l="l" t="t" r="r" b="b"/>
            <a:pathLst>
              <a:path w="119062" h="12344">
                <a:moveTo>
                  <a:pt x="0" y="12344"/>
                </a:moveTo>
                <a:lnTo>
                  <a:pt x="119062" y="0"/>
                </a:lnTo>
              </a:path>
            </a:pathLst>
          </a:custGeom>
          <a:ln w="57150">
            <a:solidFill>
              <a:srgbClr val="E64A19"/>
            </a:solidFill>
          </a:ln>
        </p:spPr>
        <p:txBody>
          <a:bodyPr/>
          <a:lstStyle/>
          <a:p/>
        </p:txBody>
      </p:sp>
      <p:sp>
        <p:nvSpPr>
          <p:cNvPr id="199" name="seg"/>
          <p:cNvSpPr/>
          <p:nvPr/>
        </p:nvSpPr>
        <p:spPr>
          <a:xfrm>
            <a:off x="2701099" y="4034996"/>
            <a:ext cx="119063" cy="36187"/>
          </a:xfrm>
          <a:custGeom>
            <a:avLst/>
            <a:gdLst/>
            <a:ahLst/>
            <a:cxnLst/>
            <a:rect l="l" t="t" r="r" b="b"/>
            <a:pathLst>
              <a:path w="119063" h="36187">
                <a:moveTo>
                  <a:pt x="0" y="36187"/>
                </a:moveTo>
                <a:lnTo>
                  <a:pt x="119063" y="0"/>
                </a:lnTo>
              </a:path>
            </a:pathLst>
          </a:custGeom>
          <a:ln w="57150">
            <a:solidFill>
              <a:srgbClr val="E64A19"/>
            </a:solidFill>
          </a:ln>
        </p:spPr>
        <p:txBody>
          <a:bodyPr/>
          <a:lstStyle/>
          <a:p/>
        </p:txBody>
      </p:sp>
      <p:sp>
        <p:nvSpPr>
          <p:cNvPr id="199" name="seg"/>
          <p:cNvSpPr/>
          <p:nvPr/>
        </p:nvSpPr>
        <p:spPr>
          <a:xfrm>
            <a:off x="2820162" y="3977429"/>
            <a:ext cx="119062" cy="57567"/>
          </a:xfrm>
          <a:custGeom>
            <a:avLst/>
            <a:gdLst/>
            <a:ahLst/>
            <a:cxnLst/>
            <a:rect l="l" t="t" r="r" b="b"/>
            <a:pathLst>
              <a:path w="119062" h="57567">
                <a:moveTo>
                  <a:pt x="0" y="57567"/>
                </a:moveTo>
                <a:lnTo>
                  <a:pt x="119062" y="0"/>
                </a:lnTo>
              </a:path>
            </a:pathLst>
          </a:custGeom>
          <a:ln w="57150">
            <a:solidFill>
              <a:srgbClr val="E64A19"/>
            </a:solidFill>
          </a:ln>
        </p:spPr>
        <p:txBody>
          <a:bodyPr/>
          <a:lstStyle/>
          <a:p/>
        </p:txBody>
      </p:sp>
      <p:sp>
        <p:nvSpPr>
          <p:cNvPr id="199" name="seg"/>
          <p:cNvSpPr/>
          <p:nvPr/>
        </p:nvSpPr>
        <p:spPr>
          <a:xfrm>
            <a:off x="2939224" y="3902407"/>
            <a:ext cx="119063" cy="75022"/>
          </a:xfrm>
          <a:custGeom>
            <a:avLst/>
            <a:gdLst/>
            <a:ahLst/>
            <a:cxnLst/>
            <a:rect l="l" t="t" r="r" b="b"/>
            <a:pathLst>
              <a:path w="119063" h="75022">
                <a:moveTo>
                  <a:pt x="0" y="75022"/>
                </a:moveTo>
                <a:lnTo>
                  <a:pt x="119063" y="0"/>
                </a:lnTo>
              </a:path>
            </a:pathLst>
          </a:custGeom>
          <a:ln w="57150">
            <a:solidFill>
              <a:srgbClr val="E64A19"/>
            </a:solidFill>
          </a:ln>
        </p:spPr>
        <p:txBody>
          <a:bodyPr/>
          <a:lstStyle/>
          <a:p/>
        </p:txBody>
      </p:sp>
      <p:sp>
        <p:nvSpPr>
          <p:cNvPr id="199" name="seg"/>
          <p:cNvSpPr/>
          <p:nvPr/>
        </p:nvSpPr>
        <p:spPr>
          <a:xfrm>
            <a:off x="3058287" y="3815041"/>
            <a:ext cx="119062" cy="87366"/>
          </a:xfrm>
          <a:custGeom>
            <a:avLst/>
            <a:gdLst/>
            <a:ahLst/>
            <a:cxnLst/>
            <a:rect l="l" t="t" r="r" b="b"/>
            <a:pathLst>
              <a:path w="119062" h="87366">
                <a:moveTo>
                  <a:pt x="0" y="87366"/>
                </a:moveTo>
                <a:lnTo>
                  <a:pt x="119062" y="0"/>
                </a:lnTo>
              </a:path>
            </a:pathLst>
          </a:custGeom>
          <a:ln w="57150">
            <a:solidFill>
              <a:srgbClr val="E64A19"/>
            </a:solidFill>
          </a:ln>
        </p:spPr>
        <p:txBody>
          <a:bodyPr/>
          <a:lstStyle/>
          <a:p/>
        </p:txBody>
      </p:sp>
      <p:sp>
        <p:nvSpPr>
          <p:cNvPr id="199" name="seg"/>
          <p:cNvSpPr/>
          <p:nvPr/>
        </p:nvSpPr>
        <p:spPr>
          <a:xfrm>
            <a:off x="3177349" y="3721287"/>
            <a:ext cx="119063" cy="93754"/>
          </a:xfrm>
          <a:custGeom>
            <a:avLst/>
            <a:gdLst/>
            <a:ahLst/>
            <a:cxnLst/>
            <a:rect l="l" t="t" r="r" b="b"/>
            <a:pathLst>
              <a:path w="119063" h="93754">
                <a:moveTo>
                  <a:pt x="0" y="93754"/>
                </a:moveTo>
                <a:lnTo>
                  <a:pt x="119063" y="0"/>
                </a:lnTo>
              </a:path>
            </a:pathLst>
          </a:custGeom>
          <a:ln w="57150">
            <a:solidFill>
              <a:srgbClr val="E64A19"/>
            </a:solidFill>
          </a:ln>
        </p:spPr>
        <p:txBody>
          <a:bodyPr/>
          <a:lstStyle/>
          <a:p/>
        </p:txBody>
      </p:sp>
      <p:sp>
        <p:nvSpPr>
          <p:cNvPr id="199" name="seg"/>
          <p:cNvSpPr/>
          <p:nvPr/>
        </p:nvSpPr>
        <p:spPr>
          <a:xfrm>
            <a:off x="3296412" y="3627533"/>
            <a:ext cx="119062" cy="93754"/>
          </a:xfrm>
          <a:custGeom>
            <a:avLst/>
            <a:gdLst/>
            <a:ahLst/>
            <a:cxnLst/>
            <a:rect l="l" t="t" r="r" b="b"/>
            <a:pathLst>
              <a:path w="119062" h="93754">
                <a:moveTo>
                  <a:pt x="0" y="93754"/>
                </a:moveTo>
                <a:lnTo>
                  <a:pt x="119062" y="0"/>
                </a:lnTo>
              </a:path>
            </a:pathLst>
          </a:custGeom>
          <a:ln w="57150">
            <a:solidFill>
              <a:srgbClr val="E64A19"/>
            </a:solidFill>
          </a:ln>
        </p:spPr>
        <p:txBody>
          <a:bodyPr/>
          <a:lstStyle/>
          <a:p/>
        </p:txBody>
      </p:sp>
      <p:sp>
        <p:nvSpPr>
          <p:cNvPr id="199" name="seg"/>
          <p:cNvSpPr/>
          <p:nvPr/>
        </p:nvSpPr>
        <p:spPr>
          <a:xfrm>
            <a:off x="3415474" y="3540167"/>
            <a:ext cx="119063" cy="87366"/>
          </a:xfrm>
          <a:custGeom>
            <a:avLst/>
            <a:gdLst/>
            <a:ahLst/>
            <a:cxnLst/>
            <a:rect l="l" t="t" r="r" b="b"/>
            <a:pathLst>
              <a:path w="119063" h="87366">
                <a:moveTo>
                  <a:pt x="0" y="87366"/>
                </a:moveTo>
                <a:lnTo>
                  <a:pt x="119063" y="0"/>
                </a:lnTo>
              </a:path>
            </a:pathLst>
          </a:custGeom>
          <a:ln w="57150">
            <a:solidFill>
              <a:srgbClr val="E64A19"/>
            </a:solidFill>
          </a:ln>
        </p:spPr>
        <p:txBody>
          <a:bodyPr/>
          <a:lstStyle/>
          <a:p/>
        </p:txBody>
      </p:sp>
      <p:sp>
        <p:nvSpPr>
          <p:cNvPr id="199" name="seg"/>
          <p:cNvSpPr/>
          <p:nvPr/>
        </p:nvSpPr>
        <p:spPr>
          <a:xfrm>
            <a:off x="3534537" y="3465145"/>
            <a:ext cx="119062" cy="75022"/>
          </a:xfrm>
          <a:custGeom>
            <a:avLst/>
            <a:gdLst/>
            <a:ahLst/>
            <a:cxnLst/>
            <a:rect l="l" t="t" r="r" b="b"/>
            <a:pathLst>
              <a:path w="119062" h="75022">
                <a:moveTo>
                  <a:pt x="0" y="75022"/>
                </a:moveTo>
                <a:lnTo>
                  <a:pt x="119062" y="0"/>
                </a:lnTo>
              </a:path>
            </a:pathLst>
          </a:custGeom>
          <a:ln w="57150">
            <a:solidFill>
              <a:srgbClr val="E64A19"/>
            </a:solidFill>
          </a:ln>
        </p:spPr>
        <p:txBody>
          <a:bodyPr/>
          <a:lstStyle/>
          <a:p/>
        </p:txBody>
      </p:sp>
      <p:sp>
        <p:nvSpPr>
          <p:cNvPr id="199" name="seg"/>
          <p:cNvSpPr/>
          <p:nvPr/>
        </p:nvSpPr>
        <p:spPr>
          <a:xfrm>
            <a:off x="3653599" y="3407578"/>
            <a:ext cx="119063" cy="57567"/>
          </a:xfrm>
          <a:custGeom>
            <a:avLst/>
            <a:gdLst/>
            <a:ahLst/>
            <a:cxnLst/>
            <a:rect l="l" t="t" r="r" b="b"/>
            <a:pathLst>
              <a:path w="119063" h="57567">
                <a:moveTo>
                  <a:pt x="0" y="57567"/>
                </a:moveTo>
                <a:lnTo>
                  <a:pt x="119063" y="0"/>
                </a:lnTo>
              </a:path>
            </a:pathLst>
          </a:custGeom>
          <a:ln w="57150">
            <a:solidFill>
              <a:srgbClr val="E64A19"/>
            </a:solidFill>
          </a:ln>
        </p:spPr>
        <p:txBody>
          <a:bodyPr/>
          <a:lstStyle/>
          <a:p/>
        </p:txBody>
      </p:sp>
      <p:sp>
        <p:nvSpPr>
          <p:cNvPr id="199" name="seg"/>
          <p:cNvSpPr/>
          <p:nvPr/>
        </p:nvSpPr>
        <p:spPr>
          <a:xfrm>
            <a:off x="3772662" y="3371391"/>
            <a:ext cx="119062" cy="36187"/>
          </a:xfrm>
          <a:custGeom>
            <a:avLst/>
            <a:gdLst/>
            <a:ahLst/>
            <a:cxnLst/>
            <a:rect l="l" t="t" r="r" b="b"/>
            <a:pathLst>
              <a:path w="119062" h="36187">
                <a:moveTo>
                  <a:pt x="0" y="36187"/>
                </a:moveTo>
                <a:lnTo>
                  <a:pt x="119062" y="0"/>
                </a:lnTo>
              </a:path>
            </a:pathLst>
          </a:custGeom>
          <a:ln w="57150">
            <a:solidFill>
              <a:srgbClr val="E64A19"/>
            </a:solidFill>
          </a:ln>
        </p:spPr>
        <p:txBody>
          <a:bodyPr/>
          <a:lstStyle/>
          <a:p/>
        </p:txBody>
      </p:sp>
      <p:sp>
        <p:nvSpPr>
          <p:cNvPr id="199" name="seg"/>
          <p:cNvSpPr/>
          <p:nvPr/>
        </p:nvSpPr>
        <p:spPr>
          <a:xfrm>
            <a:off x="3891724" y="3359048"/>
            <a:ext cx="119063" cy="12343"/>
          </a:xfrm>
          <a:custGeom>
            <a:avLst/>
            <a:gdLst/>
            <a:ahLst/>
            <a:cxnLst/>
            <a:rect l="l" t="t" r="r" b="b"/>
            <a:pathLst>
              <a:path w="119063" h="12343">
                <a:moveTo>
                  <a:pt x="0" y="12343"/>
                </a:moveTo>
                <a:lnTo>
                  <a:pt x="119063" y="0"/>
                </a:lnTo>
              </a:path>
            </a:pathLst>
          </a:custGeom>
          <a:ln w="57150">
            <a:solidFill>
              <a:srgbClr val="E64A19"/>
            </a:solidFill>
          </a:ln>
        </p:spPr>
        <p:txBody>
          <a:bodyPr/>
          <a:lstStyle/>
          <a:p/>
        </p:txBody>
      </p:sp>
      <p:sp>
        <p:nvSpPr>
          <p:cNvPr id="199" name="seg"/>
          <p:cNvSpPr/>
          <p:nvPr/>
        </p:nvSpPr>
        <p:spPr>
          <a:xfrm>
            <a:off x="4010787" y="3359048"/>
            <a:ext cx="9144" cy="9144"/>
          </a:xfrm>
          <a:custGeom>
            <a:avLst/>
            <a:gdLst/>
            <a:ahLst/>
            <a:cxnLst/>
            <a:rect l="l" t="t" r="r" b="b"/>
            <a:pathLst>
              <a:path w="9144" h="9144">
                <a:moveTo>
                  <a:pt x="0" y="0"/>
                </a:moveTo>
                <a:lnTo>
                  <a:pt x="0" y="0"/>
                </a:lnTo>
              </a:path>
            </a:pathLst>
          </a:custGeom>
          <a:ln w="57150">
            <a:solidFill>
              <a:srgbClr val="E64A19"/>
            </a:solidFill>
          </a:ln>
        </p:spPr>
        <p:txBody>
          <a:bodyPr/>
          <a:lstStyle/>
          <a:p/>
        </p:txBody>
      </p:sp>
      <p:sp>
        <p:nvSpPr>
          <p:cNvPr id="199" name="seg"/>
          <p:cNvSpPr/>
          <p:nvPr/>
        </p:nvSpPr>
        <p:spPr>
          <a:xfrm>
            <a:off x="4010787" y="3350602"/>
            <a:ext cx="119062" cy="9144"/>
          </a:xfrm>
          <a:custGeom>
            <a:avLst/>
            <a:gdLst/>
            <a:ahLst/>
            <a:cxnLst/>
            <a:rect l="l" t="t" r="r" b="b"/>
            <a:pathLst>
              <a:path w="119062" h="9144">
                <a:moveTo>
                  <a:pt x="0" y="8446"/>
                </a:moveTo>
                <a:lnTo>
                  <a:pt x="119062" y="0"/>
                </a:lnTo>
              </a:path>
            </a:pathLst>
          </a:custGeom>
          <a:ln w="57150">
            <a:solidFill>
              <a:srgbClr val="FFA000"/>
            </a:solidFill>
          </a:ln>
        </p:spPr>
        <p:txBody>
          <a:bodyPr/>
          <a:lstStyle/>
          <a:p/>
        </p:txBody>
      </p:sp>
      <p:sp>
        <p:nvSpPr>
          <p:cNvPr id="199" name="seg"/>
          <p:cNvSpPr/>
          <p:nvPr/>
        </p:nvSpPr>
        <p:spPr>
          <a:xfrm>
            <a:off x="4129849" y="3325842"/>
            <a:ext cx="119063" cy="24760"/>
          </a:xfrm>
          <a:custGeom>
            <a:avLst/>
            <a:gdLst/>
            <a:ahLst/>
            <a:cxnLst/>
            <a:rect l="l" t="t" r="r" b="b"/>
            <a:pathLst>
              <a:path w="119063" h="24760">
                <a:moveTo>
                  <a:pt x="0" y="24760"/>
                </a:moveTo>
                <a:lnTo>
                  <a:pt x="119063" y="0"/>
                </a:lnTo>
              </a:path>
            </a:pathLst>
          </a:custGeom>
          <a:ln w="57150">
            <a:solidFill>
              <a:srgbClr val="FFA000"/>
            </a:solidFill>
          </a:ln>
        </p:spPr>
        <p:txBody>
          <a:bodyPr/>
          <a:lstStyle/>
          <a:p/>
        </p:txBody>
      </p:sp>
      <p:sp>
        <p:nvSpPr>
          <p:cNvPr id="199" name="seg"/>
          <p:cNvSpPr/>
          <p:nvPr/>
        </p:nvSpPr>
        <p:spPr>
          <a:xfrm>
            <a:off x="4248912" y="3286455"/>
            <a:ext cx="119062" cy="39387"/>
          </a:xfrm>
          <a:custGeom>
            <a:avLst/>
            <a:gdLst/>
            <a:ahLst/>
            <a:cxnLst/>
            <a:rect l="l" t="t" r="r" b="b"/>
            <a:pathLst>
              <a:path w="119062" h="39387">
                <a:moveTo>
                  <a:pt x="0" y="39387"/>
                </a:moveTo>
                <a:lnTo>
                  <a:pt x="119062" y="0"/>
                </a:lnTo>
              </a:path>
            </a:pathLst>
          </a:custGeom>
          <a:ln w="57150">
            <a:solidFill>
              <a:srgbClr val="FFA000"/>
            </a:solidFill>
          </a:ln>
        </p:spPr>
        <p:txBody>
          <a:bodyPr/>
          <a:lstStyle/>
          <a:p/>
        </p:txBody>
      </p:sp>
      <p:sp>
        <p:nvSpPr>
          <p:cNvPr id="199" name="seg"/>
          <p:cNvSpPr/>
          <p:nvPr/>
        </p:nvSpPr>
        <p:spPr>
          <a:xfrm>
            <a:off x="4367974" y="3235124"/>
            <a:ext cx="119063" cy="51331"/>
          </a:xfrm>
          <a:custGeom>
            <a:avLst/>
            <a:gdLst/>
            <a:ahLst/>
            <a:cxnLst/>
            <a:rect l="l" t="t" r="r" b="b"/>
            <a:pathLst>
              <a:path w="119063" h="51331">
                <a:moveTo>
                  <a:pt x="0" y="51331"/>
                </a:moveTo>
                <a:lnTo>
                  <a:pt x="119063" y="0"/>
                </a:lnTo>
              </a:path>
            </a:pathLst>
          </a:custGeom>
          <a:ln w="57150">
            <a:solidFill>
              <a:srgbClr val="FFA000"/>
            </a:solidFill>
          </a:ln>
        </p:spPr>
        <p:txBody>
          <a:bodyPr/>
          <a:lstStyle/>
          <a:p/>
        </p:txBody>
      </p:sp>
      <p:sp>
        <p:nvSpPr>
          <p:cNvPr id="199" name="seg"/>
          <p:cNvSpPr/>
          <p:nvPr/>
        </p:nvSpPr>
        <p:spPr>
          <a:xfrm>
            <a:off x="4487037" y="3175347"/>
            <a:ext cx="119062" cy="59777"/>
          </a:xfrm>
          <a:custGeom>
            <a:avLst/>
            <a:gdLst/>
            <a:ahLst/>
            <a:cxnLst/>
            <a:rect l="l" t="t" r="r" b="b"/>
            <a:pathLst>
              <a:path w="119062" h="59777">
                <a:moveTo>
                  <a:pt x="0" y="59777"/>
                </a:moveTo>
                <a:lnTo>
                  <a:pt x="119062" y="0"/>
                </a:lnTo>
              </a:path>
            </a:pathLst>
          </a:custGeom>
          <a:ln w="57150">
            <a:solidFill>
              <a:srgbClr val="FFA000"/>
            </a:solidFill>
          </a:ln>
        </p:spPr>
        <p:txBody>
          <a:bodyPr/>
          <a:lstStyle/>
          <a:p/>
        </p:txBody>
      </p:sp>
      <p:sp>
        <p:nvSpPr>
          <p:cNvPr id="199" name="seg"/>
          <p:cNvSpPr/>
          <p:nvPr/>
        </p:nvSpPr>
        <p:spPr>
          <a:xfrm>
            <a:off x="4606099" y="3111200"/>
            <a:ext cx="119063" cy="64147"/>
          </a:xfrm>
          <a:custGeom>
            <a:avLst/>
            <a:gdLst/>
            <a:ahLst/>
            <a:cxnLst/>
            <a:rect l="l" t="t" r="r" b="b"/>
            <a:pathLst>
              <a:path w="119063" h="64147">
                <a:moveTo>
                  <a:pt x="0" y="64147"/>
                </a:moveTo>
                <a:lnTo>
                  <a:pt x="119063" y="0"/>
                </a:lnTo>
              </a:path>
            </a:pathLst>
          </a:custGeom>
          <a:ln w="57150">
            <a:solidFill>
              <a:srgbClr val="FFA000"/>
            </a:solidFill>
          </a:ln>
        </p:spPr>
        <p:txBody>
          <a:bodyPr/>
          <a:lstStyle/>
          <a:p/>
        </p:txBody>
      </p:sp>
      <p:sp>
        <p:nvSpPr>
          <p:cNvPr id="199" name="seg"/>
          <p:cNvSpPr/>
          <p:nvPr/>
        </p:nvSpPr>
        <p:spPr>
          <a:xfrm>
            <a:off x="4725162" y="3047052"/>
            <a:ext cx="119062" cy="64148"/>
          </a:xfrm>
          <a:custGeom>
            <a:avLst/>
            <a:gdLst/>
            <a:ahLst/>
            <a:cxnLst/>
            <a:rect l="l" t="t" r="r" b="b"/>
            <a:pathLst>
              <a:path w="119062" h="64148">
                <a:moveTo>
                  <a:pt x="0" y="64148"/>
                </a:moveTo>
                <a:lnTo>
                  <a:pt x="119062" y="0"/>
                </a:lnTo>
              </a:path>
            </a:pathLst>
          </a:custGeom>
          <a:ln w="57150">
            <a:solidFill>
              <a:srgbClr val="FFA000"/>
            </a:solidFill>
          </a:ln>
        </p:spPr>
        <p:txBody>
          <a:bodyPr/>
          <a:lstStyle/>
          <a:p/>
        </p:txBody>
      </p:sp>
      <p:sp>
        <p:nvSpPr>
          <p:cNvPr id="199" name="seg"/>
          <p:cNvSpPr/>
          <p:nvPr/>
        </p:nvSpPr>
        <p:spPr>
          <a:xfrm>
            <a:off x="4844224" y="2987276"/>
            <a:ext cx="119063" cy="59776"/>
          </a:xfrm>
          <a:custGeom>
            <a:avLst/>
            <a:gdLst/>
            <a:ahLst/>
            <a:cxnLst/>
            <a:rect l="l" t="t" r="r" b="b"/>
            <a:pathLst>
              <a:path w="119063" h="59776">
                <a:moveTo>
                  <a:pt x="0" y="59776"/>
                </a:moveTo>
                <a:lnTo>
                  <a:pt x="119063" y="0"/>
                </a:lnTo>
              </a:path>
            </a:pathLst>
          </a:custGeom>
          <a:ln w="57150">
            <a:solidFill>
              <a:srgbClr val="FFA000"/>
            </a:solidFill>
          </a:ln>
        </p:spPr>
        <p:txBody>
          <a:bodyPr/>
          <a:lstStyle/>
          <a:p/>
        </p:txBody>
      </p:sp>
      <p:sp>
        <p:nvSpPr>
          <p:cNvPr id="199" name="seg"/>
          <p:cNvSpPr/>
          <p:nvPr/>
        </p:nvSpPr>
        <p:spPr>
          <a:xfrm>
            <a:off x="4963287" y="2935944"/>
            <a:ext cx="119062" cy="51332"/>
          </a:xfrm>
          <a:custGeom>
            <a:avLst/>
            <a:gdLst/>
            <a:ahLst/>
            <a:cxnLst/>
            <a:rect l="l" t="t" r="r" b="b"/>
            <a:pathLst>
              <a:path w="119062" h="51332">
                <a:moveTo>
                  <a:pt x="0" y="51332"/>
                </a:moveTo>
                <a:lnTo>
                  <a:pt x="119062" y="0"/>
                </a:lnTo>
              </a:path>
            </a:pathLst>
          </a:custGeom>
          <a:ln w="57150">
            <a:solidFill>
              <a:srgbClr val="FFA000"/>
            </a:solidFill>
          </a:ln>
        </p:spPr>
        <p:txBody>
          <a:bodyPr/>
          <a:lstStyle/>
          <a:p/>
        </p:txBody>
      </p:sp>
      <p:sp>
        <p:nvSpPr>
          <p:cNvPr id="199" name="seg"/>
          <p:cNvSpPr/>
          <p:nvPr/>
        </p:nvSpPr>
        <p:spPr>
          <a:xfrm>
            <a:off x="5082349" y="2896557"/>
            <a:ext cx="119063" cy="39387"/>
          </a:xfrm>
          <a:custGeom>
            <a:avLst/>
            <a:gdLst/>
            <a:ahLst/>
            <a:cxnLst/>
            <a:rect l="l" t="t" r="r" b="b"/>
            <a:pathLst>
              <a:path w="119063" h="39387">
                <a:moveTo>
                  <a:pt x="0" y="39387"/>
                </a:moveTo>
                <a:lnTo>
                  <a:pt x="119063" y="0"/>
                </a:lnTo>
              </a:path>
            </a:pathLst>
          </a:custGeom>
          <a:ln w="57150">
            <a:solidFill>
              <a:srgbClr val="FFA000"/>
            </a:solidFill>
          </a:ln>
        </p:spPr>
        <p:txBody>
          <a:bodyPr/>
          <a:lstStyle/>
          <a:p/>
        </p:txBody>
      </p:sp>
      <p:sp>
        <p:nvSpPr>
          <p:cNvPr id="199" name="seg"/>
          <p:cNvSpPr/>
          <p:nvPr/>
        </p:nvSpPr>
        <p:spPr>
          <a:xfrm>
            <a:off x="5201412" y="2871797"/>
            <a:ext cx="119062" cy="24760"/>
          </a:xfrm>
          <a:custGeom>
            <a:avLst/>
            <a:gdLst/>
            <a:ahLst/>
            <a:cxnLst/>
            <a:rect l="l" t="t" r="r" b="b"/>
            <a:pathLst>
              <a:path w="119062" h="24760">
                <a:moveTo>
                  <a:pt x="0" y="24760"/>
                </a:moveTo>
                <a:lnTo>
                  <a:pt x="119062" y="0"/>
                </a:lnTo>
              </a:path>
            </a:pathLst>
          </a:custGeom>
          <a:ln w="57150">
            <a:solidFill>
              <a:srgbClr val="FFA000"/>
            </a:solidFill>
          </a:ln>
        </p:spPr>
        <p:txBody>
          <a:bodyPr/>
          <a:lstStyle/>
          <a:p/>
        </p:txBody>
      </p:sp>
      <p:sp>
        <p:nvSpPr>
          <p:cNvPr id="199" name="seg"/>
          <p:cNvSpPr/>
          <p:nvPr/>
        </p:nvSpPr>
        <p:spPr>
          <a:xfrm>
            <a:off x="5320474" y="2863352"/>
            <a:ext cx="119063" cy="9144"/>
          </a:xfrm>
          <a:custGeom>
            <a:avLst/>
            <a:gdLst/>
            <a:ahLst/>
            <a:cxnLst/>
            <a:rect l="l" t="t" r="r" b="b"/>
            <a:pathLst>
              <a:path w="119063" h="9144">
                <a:moveTo>
                  <a:pt x="0" y="8445"/>
                </a:moveTo>
                <a:lnTo>
                  <a:pt x="119063" y="0"/>
                </a:lnTo>
              </a:path>
            </a:pathLst>
          </a:custGeom>
          <a:ln w="57150">
            <a:solidFill>
              <a:srgbClr val="FFA000"/>
            </a:solidFill>
          </a:ln>
        </p:spPr>
        <p:txBody>
          <a:bodyPr/>
          <a:lstStyle/>
          <a:p/>
        </p:txBody>
      </p:sp>
      <p:sp>
        <p:nvSpPr>
          <p:cNvPr id="199" name="seg"/>
          <p:cNvSpPr/>
          <p:nvPr/>
        </p:nvSpPr>
        <p:spPr>
          <a:xfrm>
            <a:off x="5439537" y="2863352"/>
            <a:ext cx="9144" cy="9144"/>
          </a:xfrm>
          <a:custGeom>
            <a:avLst/>
            <a:gdLst/>
            <a:ahLst/>
            <a:cxnLst/>
            <a:rect l="l" t="t" r="r" b="b"/>
            <a:pathLst>
              <a:path w="9144" h="9144">
                <a:moveTo>
                  <a:pt x="0" y="0"/>
                </a:moveTo>
                <a:lnTo>
                  <a:pt x="0" y="0"/>
                </a:lnTo>
              </a:path>
            </a:pathLst>
          </a:custGeom>
          <a:ln w="57150">
            <a:solidFill>
              <a:srgbClr val="FFA000"/>
            </a:solidFill>
          </a:ln>
        </p:spPr>
        <p:txBody>
          <a:bodyPr/>
          <a:lstStyle/>
          <a:p/>
        </p:txBody>
      </p:sp>
      <p:sp>
        <p:nvSpPr>
          <p:cNvPr id="199" name="seg"/>
          <p:cNvSpPr/>
          <p:nvPr/>
        </p:nvSpPr>
        <p:spPr>
          <a:xfrm>
            <a:off x="5439537" y="2854257"/>
            <a:ext cx="119062" cy="9144"/>
          </a:xfrm>
          <a:custGeom>
            <a:avLst/>
            <a:gdLst/>
            <a:ahLst/>
            <a:cxnLst/>
            <a:rect l="l" t="t" r="r" b="b"/>
            <a:pathLst>
              <a:path w="119062" h="9144">
                <a:moveTo>
                  <a:pt x="0" y="9095"/>
                </a:moveTo>
                <a:lnTo>
                  <a:pt x="119062" y="0"/>
                </a:lnTo>
              </a:path>
            </a:pathLst>
          </a:custGeom>
          <a:ln w="57150">
            <a:solidFill>
              <a:srgbClr val="006E6E"/>
            </a:solidFill>
          </a:ln>
        </p:spPr>
        <p:txBody>
          <a:bodyPr/>
          <a:lstStyle/>
          <a:p/>
        </p:txBody>
      </p:sp>
      <p:sp>
        <p:nvSpPr>
          <p:cNvPr id="199" name="seg"/>
          <p:cNvSpPr/>
          <p:nvPr/>
        </p:nvSpPr>
        <p:spPr>
          <a:xfrm>
            <a:off x="5558599" y="2827592"/>
            <a:ext cx="119063" cy="26665"/>
          </a:xfrm>
          <a:custGeom>
            <a:avLst/>
            <a:gdLst/>
            <a:ahLst/>
            <a:cxnLst/>
            <a:rect l="l" t="t" r="r" b="b"/>
            <a:pathLst>
              <a:path w="119063" h="26665">
                <a:moveTo>
                  <a:pt x="0" y="26665"/>
                </a:moveTo>
                <a:lnTo>
                  <a:pt x="119063" y="0"/>
                </a:lnTo>
              </a:path>
            </a:pathLst>
          </a:custGeom>
          <a:ln w="57150">
            <a:solidFill>
              <a:srgbClr val="006E6E"/>
            </a:solidFill>
          </a:ln>
        </p:spPr>
        <p:txBody>
          <a:bodyPr/>
          <a:lstStyle/>
          <a:p/>
        </p:txBody>
      </p:sp>
      <p:sp>
        <p:nvSpPr>
          <p:cNvPr id="199" name="seg"/>
          <p:cNvSpPr/>
          <p:nvPr/>
        </p:nvSpPr>
        <p:spPr>
          <a:xfrm>
            <a:off x="5677662" y="2785174"/>
            <a:ext cx="119062" cy="42418"/>
          </a:xfrm>
          <a:custGeom>
            <a:avLst/>
            <a:gdLst/>
            <a:ahLst/>
            <a:cxnLst/>
            <a:rect l="l" t="t" r="r" b="b"/>
            <a:pathLst>
              <a:path w="119062" h="42418">
                <a:moveTo>
                  <a:pt x="0" y="42418"/>
                </a:moveTo>
                <a:lnTo>
                  <a:pt x="119062" y="0"/>
                </a:lnTo>
              </a:path>
            </a:pathLst>
          </a:custGeom>
          <a:ln w="57150">
            <a:solidFill>
              <a:srgbClr val="006E6E"/>
            </a:solidFill>
          </a:ln>
        </p:spPr>
        <p:txBody>
          <a:bodyPr/>
          <a:lstStyle/>
          <a:p/>
        </p:txBody>
      </p:sp>
      <p:sp>
        <p:nvSpPr>
          <p:cNvPr id="199" name="seg"/>
          <p:cNvSpPr/>
          <p:nvPr/>
        </p:nvSpPr>
        <p:spPr>
          <a:xfrm>
            <a:off x="5796724" y="2729895"/>
            <a:ext cx="119063" cy="55279"/>
          </a:xfrm>
          <a:custGeom>
            <a:avLst/>
            <a:gdLst/>
            <a:ahLst/>
            <a:cxnLst/>
            <a:rect l="l" t="t" r="r" b="b"/>
            <a:pathLst>
              <a:path w="119063" h="55279">
                <a:moveTo>
                  <a:pt x="0" y="55279"/>
                </a:moveTo>
                <a:lnTo>
                  <a:pt x="119063" y="0"/>
                </a:lnTo>
              </a:path>
            </a:pathLst>
          </a:custGeom>
          <a:ln w="57150">
            <a:solidFill>
              <a:srgbClr val="006E6E"/>
            </a:solidFill>
          </a:ln>
        </p:spPr>
        <p:txBody>
          <a:bodyPr/>
          <a:lstStyle/>
          <a:p/>
        </p:txBody>
      </p:sp>
      <p:sp>
        <p:nvSpPr>
          <p:cNvPr id="199" name="seg"/>
          <p:cNvSpPr/>
          <p:nvPr/>
        </p:nvSpPr>
        <p:spPr>
          <a:xfrm>
            <a:off x="5915787" y="2665520"/>
            <a:ext cx="119062" cy="64375"/>
          </a:xfrm>
          <a:custGeom>
            <a:avLst/>
            <a:gdLst/>
            <a:ahLst/>
            <a:cxnLst/>
            <a:rect l="l" t="t" r="r" b="b"/>
            <a:pathLst>
              <a:path w="119062" h="64375">
                <a:moveTo>
                  <a:pt x="0" y="64375"/>
                </a:moveTo>
                <a:lnTo>
                  <a:pt x="119062" y="0"/>
                </a:lnTo>
              </a:path>
            </a:pathLst>
          </a:custGeom>
          <a:ln w="57150">
            <a:solidFill>
              <a:srgbClr val="006E6E"/>
            </a:solidFill>
          </a:ln>
        </p:spPr>
        <p:txBody>
          <a:bodyPr/>
          <a:lstStyle/>
          <a:p/>
        </p:txBody>
      </p:sp>
      <p:sp>
        <p:nvSpPr>
          <p:cNvPr id="199" name="seg"/>
          <p:cNvSpPr/>
          <p:nvPr/>
        </p:nvSpPr>
        <p:spPr>
          <a:xfrm>
            <a:off x="6034849" y="2596438"/>
            <a:ext cx="119063" cy="69082"/>
          </a:xfrm>
          <a:custGeom>
            <a:avLst/>
            <a:gdLst/>
            <a:ahLst/>
            <a:cxnLst/>
            <a:rect l="l" t="t" r="r" b="b"/>
            <a:pathLst>
              <a:path w="119063" h="69082">
                <a:moveTo>
                  <a:pt x="0" y="69082"/>
                </a:moveTo>
                <a:lnTo>
                  <a:pt x="119063" y="0"/>
                </a:lnTo>
              </a:path>
            </a:pathLst>
          </a:custGeom>
          <a:ln w="57150">
            <a:solidFill>
              <a:srgbClr val="006E6E"/>
            </a:solidFill>
          </a:ln>
        </p:spPr>
        <p:txBody>
          <a:bodyPr/>
          <a:lstStyle/>
          <a:p/>
        </p:txBody>
      </p:sp>
      <p:sp>
        <p:nvSpPr>
          <p:cNvPr id="199" name="seg"/>
          <p:cNvSpPr/>
          <p:nvPr/>
        </p:nvSpPr>
        <p:spPr>
          <a:xfrm>
            <a:off x="6153912" y="2527356"/>
            <a:ext cx="119062" cy="69082"/>
          </a:xfrm>
          <a:custGeom>
            <a:avLst/>
            <a:gdLst/>
            <a:ahLst/>
            <a:cxnLst/>
            <a:rect l="l" t="t" r="r" b="b"/>
            <a:pathLst>
              <a:path w="119062" h="69082">
                <a:moveTo>
                  <a:pt x="0" y="69082"/>
                </a:moveTo>
                <a:lnTo>
                  <a:pt x="119062" y="0"/>
                </a:lnTo>
              </a:path>
            </a:pathLst>
          </a:custGeom>
          <a:ln w="57150">
            <a:solidFill>
              <a:srgbClr val="006E6E"/>
            </a:solidFill>
          </a:ln>
        </p:spPr>
        <p:txBody>
          <a:bodyPr/>
          <a:lstStyle/>
          <a:p/>
        </p:txBody>
      </p:sp>
      <p:sp>
        <p:nvSpPr>
          <p:cNvPr id="199" name="seg"/>
          <p:cNvSpPr/>
          <p:nvPr/>
        </p:nvSpPr>
        <p:spPr>
          <a:xfrm>
            <a:off x="6272974" y="2462981"/>
            <a:ext cx="119063" cy="64375"/>
          </a:xfrm>
          <a:custGeom>
            <a:avLst/>
            <a:gdLst/>
            <a:ahLst/>
            <a:cxnLst/>
            <a:rect l="l" t="t" r="r" b="b"/>
            <a:pathLst>
              <a:path w="119063" h="64375">
                <a:moveTo>
                  <a:pt x="0" y="64375"/>
                </a:moveTo>
                <a:lnTo>
                  <a:pt x="119063" y="0"/>
                </a:lnTo>
              </a:path>
            </a:pathLst>
          </a:custGeom>
          <a:ln w="57150">
            <a:solidFill>
              <a:srgbClr val="006E6E"/>
            </a:solidFill>
          </a:ln>
        </p:spPr>
        <p:txBody>
          <a:bodyPr/>
          <a:lstStyle/>
          <a:p/>
        </p:txBody>
      </p:sp>
      <p:sp>
        <p:nvSpPr>
          <p:cNvPr id="199" name="seg"/>
          <p:cNvSpPr/>
          <p:nvPr/>
        </p:nvSpPr>
        <p:spPr>
          <a:xfrm>
            <a:off x="6392037" y="2407702"/>
            <a:ext cx="119062" cy="55279"/>
          </a:xfrm>
          <a:custGeom>
            <a:avLst/>
            <a:gdLst/>
            <a:ahLst/>
            <a:cxnLst/>
            <a:rect l="l" t="t" r="r" b="b"/>
            <a:pathLst>
              <a:path w="119062" h="55279">
                <a:moveTo>
                  <a:pt x="0" y="55279"/>
                </a:moveTo>
                <a:lnTo>
                  <a:pt x="119062" y="0"/>
                </a:lnTo>
              </a:path>
            </a:pathLst>
          </a:custGeom>
          <a:ln w="57150">
            <a:solidFill>
              <a:srgbClr val="006E6E"/>
            </a:solidFill>
          </a:ln>
        </p:spPr>
        <p:txBody>
          <a:bodyPr/>
          <a:lstStyle/>
          <a:p/>
        </p:txBody>
      </p:sp>
      <p:sp>
        <p:nvSpPr>
          <p:cNvPr id="199" name="seg"/>
          <p:cNvSpPr/>
          <p:nvPr/>
        </p:nvSpPr>
        <p:spPr>
          <a:xfrm>
            <a:off x="6511099" y="2365284"/>
            <a:ext cx="119063" cy="42418"/>
          </a:xfrm>
          <a:custGeom>
            <a:avLst/>
            <a:gdLst/>
            <a:ahLst/>
            <a:cxnLst/>
            <a:rect l="l" t="t" r="r" b="b"/>
            <a:pathLst>
              <a:path w="119063" h="42418">
                <a:moveTo>
                  <a:pt x="0" y="42418"/>
                </a:moveTo>
                <a:lnTo>
                  <a:pt x="119063" y="0"/>
                </a:lnTo>
              </a:path>
            </a:pathLst>
          </a:custGeom>
          <a:ln w="57150">
            <a:solidFill>
              <a:srgbClr val="006E6E"/>
            </a:solidFill>
          </a:ln>
        </p:spPr>
        <p:txBody>
          <a:bodyPr/>
          <a:lstStyle/>
          <a:p/>
        </p:txBody>
      </p:sp>
      <p:sp>
        <p:nvSpPr>
          <p:cNvPr id="199" name="seg"/>
          <p:cNvSpPr/>
          <p:nvPr/>
        </p:nvSpPr>
        <p:spPr>
          <a:xfrm>
            <a:off x="6630162" y="2338619"/>
            <a:ext cx="119062" cy="26665"/>
          </a:xfrm>
          <a:custGeom>
            <a:avLst/>
            <a:gdLst/>
            <a:ahLst/>
            <a:cxnLst/>
            <a:rect l="l" t="t" r="r" b="b"/>
            <a:pathLst>
              <a:path w="119062" h="26665">
                <a:moveTo>
                  <a:pt x="0" y="26665"/>
                </a:moveTo>
                <a:lnTo>
                  <a:pt x="119062" y="0"/>
                </a:lnTo>
              </a:path>
            </a:pathLst>
          </a:custGeom>
          <a:ln w="57150">
            <a:solidFill>
              <a:srgbClr val="006E6E"/>
            </a:solidFill>
          </a:ln>
        </p:spPr>
        <p:txBody>
          <a:bodyPr/>
          <a:lstStyle/>
          <a:p/>
        </p:txBody>
      </p:sp>
      <p:sp>
        <p:nvSpPr>
          <p:cNvPr id="199" name="seg"/>
          <p:cNvSpPr/>
          <p:nvPr/>
        </p:nvSpPr>
        <p:spPr>
          <a:xfrm>
            <a:off x="6749224" y="2329525"/>
            <a:ext cx="119063" cy="9144"/>
          </a:xfrm>
          <a:custGeom>
            <a:avLst/>
            <a:gdLst/>
            <a:ahLst/>
            <a:cxnLst/>
            <a:rect l="l" t="t" r="r" b="b"/>
            <a:pathLst>
              <a:path w="119063" h="9144">
                <a:moveTo>
                  <a:pt x="0" y="9094"/>
                </a:moveTo>
                <a:lnTo>
                  <a:pt x="119063" y="0"/>
                </a:lnTo>
              </a:path>
            </a:pathLst>
          </a:custGeom>
          <a:ln w="57150">
            <a:solidFill>
              <a:srgbClr val="006E6E"/>
            </a:solidFill>
          </a:ln>
        </p:spPr>
        <p:txBody>
          <a:bodyPr/>
          <a:lstStyle/>
          <a:p/>
        </p:txBody>
      </p:sp>
      <p:sp>
        <p:nvSpPr>
          <p:cNvPr id="199" name="seg"/>
          <p:cNvSpPr/>
          <p:nvPr/>
        </p:nvSpPr>
        <p:spPr>
          <a:xfrm>
            <a:off x="6868287" y="2329525"/>
            <a:ext cx="9144" cy="9144"/>
          </a:xfrm>
          <a:custGeom>
            <a:avLst/>
            <a:gdLst/>
            <a:ahLst/>
            <a:cxnLst/>
            <a:rect l="l" t="t" r="r" b="b"/>
            <a:pathLst>
              <a:path w="9144" h="9144">
                <a:moveTo>
                  <a:pt x="0" y="0"/>
                </a:moveTo>
                <a:lnTo>
                  <a:pt x="0" y="0"/>
                </a:lnTo>
              </a:path>
            </a:pathLst>
          </a:custGeom>
          <a:ln w="57150">
            <a:solidFill>
              <a:srgbClr val="006E6E"/>
            </a:solidFill>
          </a:ln>
        </p:spPr>
        <p:txBody>
          <a:bodyPr/>
          <a:lstStyle/>
          <a:p/>
        </p:txBody>
      </p:sp>
      <p:sp>
        <p:nvSpPr>
          <p:cNvPr id="199" name="seg"/>
          <p:cNvSpPr/>
          <p:nvPr/>
        </p:nvSpPr>
        <p:spPr>
          <a:xfrm>
            <a:off x="6868287" y="2319130"/>
            <a:ext cx="119062" cy="10395"/>
          </a:xfrm>
          <a:custGeom>
            <a:avLst/>
            <a:gdLst/>
            <a:ahLst/>
            <a:cxnLst/>
            <a:rect l="l" t="t" r="r" b="b"/>
            <a:pathLst>
              <a:path w="119062" h="10395">
                <a:moveTo>
                  <a:pt x="0" y="10395"/>
                </a:moveTo>
                <a:lnTo>
                  <a:pt x="119062" y="0"/>
                </a:lnTo>
              </a:path>
            </a:pathLst>
          </a:custGeom>
          <a:ln w="57150">
            <a:solidFill>
              <a:srgbClr val="006E40"/>
            </a:solidFill>
          </a:ln>
        </p:spPr>
        <p:txBody>
          <a:bodyPr/>
          <a:lstStyle/>
          <a:p/>
        </p:txBody>
      </p:sp>
      <p:sp>
        <p:nvSpPr>
          <p:cNvPr id="199" name="seg"/>
          <p:cNvSpPr/>
          <p:nvPr/>
        </p:nvSpPr>
        <p:spPr>
          <a:xfrm>
            <a:off x="6987349" y="2288656"/>
            <a:ext cx="119063" cy="30474"/>
          </a:xfrm>
          <a:custGeom>
            <a:avLst/>
            <a:gdLst/>
            <a:ahLst/>
            <a:cxnLst/>
            <a:rect l="l" t="t" r="r" b="b"/>
            <a:pathLst>
              <a:path w="119063" h="30474">
                <a:moveTo>
                  <a:pt x="0" y="30474"/>
                </a:moveTo>
                <a:lnTo>
                  <a:pt x="119063" y="0"/>
                </a:lnTo>
              </a:path>
            </a:pathLst>
          </a:custGeom>
          <a:ln w="57150">
            <a:solidFill>
              <a:srgbClr val="006E40"/>
            </a:solidFill>
          </a:ln>
        </p:spPr>
        <p:txBody>
          <a:bodyPr/>
          <a:lstStyle/>
          <a:p/>
        </p:txBody>
      </p:sp>
      <p:sp>
        <p:nvSpPr>
          <p:cNvPr id="199" name="seg"/>
          <p:cNvSpPr/>
          <p:nvPr/>
        </p:nvSpPr>
        <p:spPr>
          <a:xfrm>
            <a:off x="7106412" y="2240179"/>
            <a:ext cx="119062" cy="48477"/>
          </a:xfrm>
          <a:custGeom>
            <a:avLst/>
            <a:gdLst/>
            <a:ahLst/>
            <a:cxnLst/>
            <a:rect l="l" t="t" r="r" b="b"/>
            <a:pathLst>
              <a:path w="119062" h="48477">
                <a:moveTo>
                  <a:pt x="0" y="48477"/>
                </a:moveTo>
                <a:lnTo>
                  <a:pt x="119062" y="0"/>
                </a:lnTo>
              </a:path>
            </a:pathLst>
          </a:custGeom>
          <a:ln w="57150">
            <a:solidFill>
              <a:srgbClr val="006E40"/>
            </a:solidFill>
          </a:ln>
        </p:spPr>
        <p:txBody>
          <a:bodyPr/>
          <a:lstStyle/>
          <a:p/>
        </p:txBody>
      </p:sp>
      <p:sp>
        <p:nvSpPr>
          <p:cNvPr id="199" name="seg"/>
          <p:cNvSpPr/>
          <p:nvPr/>
        </p:nvSpPr>
        <p:spPr>
          <a:xfrm>
            <a:off x="7225474" y="2177003"/>
            <a:ext cx="119063" cy="63176"/>
          </a:xfrm>
          <a:custGeom>
            <a:avLst/>
            <a:gdLst/>
            <a:ahLst/>
            <a:cxnLst/>
            <a:rect l="l" t="t" r="r" b="b"/>
            <a:pathLst>
              <a:path w="119063" h="63176">
                <a:moveTo>
                  <a:pt x="0" y="63176"/>
                </a:moveTo>
                <a:lnTo>
                  <a:pt x="119063" y="0"/>
                </a:lnTo>
              </a:path>
            </a:pathLst>
          </a:custGeom>
          <a:ln w="57150">
            <a:solidFill>
              <a:srgbClr val="006E40"/>
            </a:solidFill>
          </a:ln>
        </p:spPr>
        <p:txBody>
          <a:bodyPr/>
          <a:lstStyle/>
          <a:p/>
        </p:txBody>
      </p:sp>
      <p:sp>
        <p:nvSpPr>
          <p:cNvPr id="199" name="seg"/>
          <p:cNvSpPr/>
          <p:nvPr/>
        </p:nvSpPr>
        <p:spPr>
          <a:xfrm>
            <a:off x="7344537" y="2103432"/>
            <a:ext cx="119062" cy="73571"/>
          </a:xfrm>
          <a:custGeom>
            <a:avLst/>
            <a:gdLst/>
            <a:ahLst/>
            <a:cxnLst/>
            <a:rect l="l" t="t" r="r" b="b"/>
            <a:pathLst>
              <a:path w="119062" h="73571">
                <a:moveTo>
                  <a:pt x="0" y="73571"/>
                </a:moveTo>
                <a:lnTo>
                  <a:pt x="119062" y="0"/>
                </a:lnTo>
              </a:path>
            </a:pathLst>
          </a:custGeom>
          <a:ln w="57150">
            <a:solidFill>
              <a:srgbClr val="006E40"/>
            </a:solidFill>
          </a:ln>
        </p:spPr>
        <p:txBody>
          <a:bodyPr/>
          <a:lstStyle/>
          <a:p/>
        </p:txBody>
      </p:sp>
      <p:sp>
        <p:nvSpPr>
          <p:cNvPr id="199" name="seg"/>
          <p:cNvSpPr/>
          <p:nvPr/>
        </p:nvSpPr>
        <p:spPr>
          <a:xfrm>
            <a:off x="7463599" y="2024481"/>
            <a:ext cx="119063" cy="78951"/>
          </a:xfrm>
          <a:custGeom>
            <a:avLst/>
            <a:gdLst/>
            <a:ahLst/>
            <a:cxnLst/>
            <a:rect l="l" t="t" r="r" b="b"/>
            <a:pathLst>
              <a:path w="119063" h="78951">
                <a:moveTo>
                  <a:pt x="0" y="78951"/>
                </a:moveTo>
                <a:lnTo>
                  <a:pt x="119063" y="0"/>
                </a:lnTo>
              </a:path>
            </a:pathLst>
          </a:custGeom>
          <a:ln w="57150">
            <a:solidFill>
              <a:srgbClr val="006E40"/>
            </a:solidFill>
          </a:ln>
        </p:spPr>
        <p:txBody>
          <a:bodyPr/>
          <a:lstStyle/>
          <a:p/>
        </p:txBody>
      </p:sp>
      <p:sp>
        <p:nvSpPr>
          <p:cNvPr id="199" name="seg"/>
          <p:cNvSpPr/>
          <p:nvPr/>
        </p:nvSpPr>
        <p:spPr>
          <a:xfrm>
            <a:off x="7582662" y="1945529"/>
            <a:ext cx="119062" cy="78952"/>
          </a:xfrm>
          <a:custGeom>
            <a:avLst/>
            <a:gdLst/>
            <a:ahLst/>
            <a:cxnLst/>
            <a:rect l="l" t="t" r="r" b="b"/>
            <a:pathLst>
              <a:path w="119062" h="78952">
                <a:moveTo>
                  <a:pt x="0" y="78952"/>
                </a:moveTo>
                <a:lnTo>
                  <a:pt x="119062" y="0"/>
                </a:lnTo>
              </a:path>
            </a:pathLst>
          </a:custGeom>
          <a:ln w="57150">
            <a:solidFill>
              <a:srgbClr val="006E40"/>
            </a:solidFill>
          </a:ln>
        </p:spPr>
        <p:txBody>
          <a:bodyPr/>
          <a:lstStyle/>
          <a:p/>
        </p:txBody>
      </p:sp>
      <p:sp>
        <p:nvSpPr>
          <p:cNvPr id="199" name="seg"/>
          <p:cNvSpPr/>
          <p:nvPr/>
        </p:nvSpPr>
        <p:spPr>
          <a:xfrm>
            <a:off x="7701724" y="1871959"/>
            <a:ext cx="119063" cy="73570"/>
          </a:xfrm>
          <a:custGeom>
            <a:avLst/>
            <a:gdLst/>
            <a:ahLst/>
            <a:cxnLst/>
            <a:rect l="l" t="t" r="r" b="b"/>
            <a:pathLst>
              <a:path w="119063" h="73570">
                <a:moveTo>
                  <a:pt x="0" y="73570"/>
                </a:moveTo>
                <a:lnTo>
                  <a:pt x="119063" y="0"/>
                </a:lnTo>
              </a:path>
            </a:pathLst>
          </a:custGeom>
          <a:ln w="57150">
            <a:solidFill>
              <a:srgbClr val="006E40"/>
            </a:solidFill>
          </a:ln>
        </p:spPr>
        <p:txBody>
          <a:bodyPr/>
          <a:lstStyle/>
          <a:p/>
        </p:txBody>
      </p:sp>
      <p:sp>
        <p:nvSpPr>
          <p:cNvPr id="199" name="seg"/>
          <p:cNvSpPr/>
          <p:nvPr/>
        </p:nvSpPr>
        <p:spPr>
          <a:xfrm>
            <a:off x="7820787" y="1808782"/>
            <a:ext cx="119062" cy="63177"/>
          </a:xfrm>
          <a:custGeom>
            <a:avLst/>
            <a:gdLst/>
            <a:ahLst/>
            <a:cxnLst/>
            <a:rect l="l" t="t" r="r" b="b"/>
            <a:pathLst>
              <a:path w="119062" h="63177">
                <a:moveTo>
                  <a:pt x="0" y="63177"/>
                </a:moveTo>
                <a:lnTo>
                  <a:pt x="119062" y="0"/>
                </a:lnTo>
              </a:path>
            </a:pathLst>
          </a:custGeom>
          <a:ln w="57150">
            <a:solidFill>
              <a:srgbClr val="006E40"/>
            </a:solidFill>
          </a:ln>
        </p:spPr>
        <p:txBody>
          <a:bodyPr/>
          <a:lstStyle/>
          <a:p/>
        </p:txBody>
      </p:sp>
      <p:sp>
        <p:nvSpPr>
          <p:cNvPr id="199" name="seg"/>
          <p:cNvSpPr/>
          <p:nvPr/>
        </p:nvSpPr>
        <p:spPr>
          <a:xfrm>
            <a:off x="7939849" y="1760305"/>
            <a:ext cx="119063" cy="48477"/>
          </a:xfrm>
          <a:custGeom>
            <a:avLst/>
            <a:gdLst/>
            <a:ahLst/>
            <a:cxnLst/>
            <a:rect l="l" t="t" r="r" b="b"/>
            <a:pathLst>
              <a:path w="119063" h="48477">
                <a:moveTo>
                  <a:pt x="0" y="48477"/>
                </a:moveTo>
                <a:lnTo>
                  <a:pt x="119063" y="0"/>
                </a:lnTo>
              </a:path>
            </a:pathLst>
          </a:custGeom>
          <a:ln w="57150">
            <a:solidFill>
              <a:srgbClr val="006E40"/>
            </a:solidFill>
          </a:ln>
        </p:spPr>
        <p:txBody>
          <a:bodyPr/>
          <a:lstStyle/>
          <a:p/>
        </p:txBody>
      </p:sp>
      <p:sp>
        <p:nvSpPr>
          <p:cNvPr id="199" name="seg"/>
          <p:cNvSpPr/>
          <p:nvPr/>
        </p:nvSpPr>
        <p:spPr>
          <a:xfrm>
            <a:off x="8058912" y="1729831"/>
            <a:ext cx="119062" cy="30474"/>
          </a:xfrm>
          <a:custGeom>
            <a:avLst/>
            <a:gdLst/>
            <a:ahLst/>
            <a:cxnLst/>
            <a:rect l="l" t="t" r="r" b="b"/>
            <a:pathLst>
              <a:path w="119062" h="30474">
                <a:moveTo>
                  <a:pt x="0" y="30474"/>
                </a:moveTo>
                <a:lnTo>
                  <a:pt x="119062" y="0"/>
                </a:lnTo>
              </a:path>
            </a:pathLst>
          </a:custGeom>
          <a:ln w="57150">
            <a:solidFill>
              <a:srgbClr val="006E40"/>
            </a:solidFill>
          </a:ln>
        </p:spPr>
        <p:txBody>
          <a:bodyPr/>
          <a:lstStyle/>
          <a:p/>
        </p:txBody>
      </p:sp>
      <p:sp>
        <p:nvSpPr>
          <p:cNvPr id="199" name="seg"/>
          <p:cNvSpPr/>
          <p:nvPr/>
        </p:nvSpPr>
        <p:spPr>
          <a:xfrm>
            <a:off x="8177974" y="1719437"/>
            <a:ext cx="119063" cy="10394"/>
          </a:xfrm>
          <a:custGeom>
            <a:avLst/>
            <a:gdLst/>
            <a:ahLst/>
            <a:cxnLst/>
            <a:rect l="l" t="t" r="r" b="b"/>
            <a:pathLst>
              <a:path w="119063" h="10394">
                <a:moveTo>
                  <a:pt x="0" y="10394"/>
                </a:moveTo>
                <a:lnTo>
                  <a:pt x="119063" y="0"/>
                </a:lnTo>
              </a:path>
            </a:pathLst>
          </a:custGeom>
          <a:ln w="57150">
            <a:solidFill>
              <a:srgbClr val="006E40"/>
            </a:solidFill>
          </a:ln>
        </p:spPr>
        <p:txBody>
          <a:bodyPr/>
          <a:lstStyle/>
          <a:p/>
        </p:txBody>
      </p:sp>
      <p:sp>
        <p:nvSpPr>
          <p:cNvPr id="199" name="seg"/>
          <p:cNvSpPr/>
          <p:nvPr/>
        </p:nvSpPr>
        <p:spPr>
          <a:xfrm>
            <a:off x="8297037" y="1719437"/>
            <a:ext cx="9144" cy="9144"/>
          </a:xfrm>
          <a:custGeom>
            <a:avLst/>
            <a:gdLst/>
            <a:ahLst/>
            <a:cxnLst/>
            <a:rect l="l" t="t" r="r" b="b"/>
            <a:pathLst>
              <a:path w="9144" h="9144">
                <a:moveTo>
                  <a:pt x="0" y="0"/>
                </a:moveTo>
                <a:lnTo>
                  <a:pt x="0" y="0"/>
                </a:lnTo>
              </a:path>
            </a:pathLst>
          </a:custGeom>
          <a:ln w="57150">
            <a:solidFill>
              <a:srgbClr val="006E40"/>
            </a:solidFill>
          </a:ln>
        </p:spPr>
        <p:txBody>
          <a:bodyPr/>
          <a:lstStyle/>
          <a:p/>
        </p:txBody>
      </p:sp>
      <p:sp>
        <p:nvSpPr>
          <p:cNvPr id="199" name="seg"/>
          <p:cNvSpPr/>
          <p:nvPr/>
        </p:nvSpPr>
        <p:spPr>
          <a:xfrm>
            <a:off x="8297037" y="1716838"/>
            <a:ext cx="119062" cy="9144"/>
          </a:xfrm>
          <a:custGeom>
            <a:avLst/>
            <a:gdLst/>
            <a:ahLst/>
            <a:cxnLst/>
            <a:rect l="l" t="t" r="r" b="b"/>
            <a:pathLst>
              <a:path w="119062" h="9144">
                <a:moveTo>
                  <a:pt x="0" y="2599"/>
                </a:moveTo>
                <a:lnTo>
                  <a:pt x="119062" y="0"/>
                </a:lnTo>
              </a:path>
            </a:pathLst>
          </a:custGeom>
          <a:ln w="57150">
            <a:solidFill>
              <a:srgbClr val="2E7D32"/>
            </a:solidFill>
          </a:ln>
        </p:spPr>
        <p:txBody>
          <a:bodyPr/>
          <a:lstStyle/>
          <a:p/>
        </p:txBody>
      </p:sp>
      <p:sp>
        <p:nvSpPr>
          <p:cNvPr id="199" name="seg"/>
          <p:cNvSpPr/>
          <p:nvPr/>
        </p:nvSpPr>
        <p:spPr>
          <a:xfrm>
            <a:off x="8416099" y="1709219"/>
            <a:ext cx="119063" cy="9144"/>
          </a:xfrm>
          <a:custGeom>
            <a:avLst/>
            <a:gdLst/>
            <a:ahLst/>
            <a:cxnLst/>
            <a:rect l="l" t="t" r="r" b="b"/>
            <a:pathLst>
              <a:path w="119063" h="9144">
                <a:moveTo>
                  <a:pt x="0" y="7619"/>
                </a:moveTo>
                <a:lnTo>
                  <a:pt x="119063" y="0"/>
                </a:lnTo>
              </a:path>
            </a:pathLst>
          </a:custGeom>
          <a:ln w="57150">
            <a:solidFill>
              <a:srgbClr val="2E7D32"/>
            </a:solidFill>
          </a:ln>
        </p:spPr>
        <p:txBody>
          <a:bodyPr/>
          <a:lstStyle/>
          <a:p/>
        </p:txBody>
      </p:sp>
      <p:sp>
        <p:nvSpPr>
          <p:cNvPr id="199" name="seg"/>
          <p:cNvSpPr/>
          <p:nvPr/>
        </p:nvSpPr>
        <p:spPr>
          <a:xfrm>
            <a:off x="8535162" y="1697100"/>
            <a:ext cx="119062" cy="12119"/>
          </a:xfrm>
          <a:custGeom>
            <a:avLst/>
            <a:gdLst/>
            <a:ahLst/>
            <a:cxnLst/>
            <a:rect l="l" t="t" r="r" b="b"/>
            <a:pathLst>
              <a:path w="119062" h="12119">
                <a:moveTo>
                  <a:pt x="0" y="12119"/>
                </a:moveTo>
                <a:lnTo>
                  <a:pt x="119062" y="0"/>
                </a:lnTo>
              </a:path>
            </a:pathLst>
          </a:custGeom>
          <a:ln w="57150">
            <a:solidFill>
              <a:srgbClr val="2E7D32"/>
            </a:solidFill>
          </a:ln>
        </p:spPr>
        <p:txBody>
          <a:bodyPr/>
          <a:lstStyle/>
          <a:p/>
        </p:txBody>
      </p:sp>
      <p:sp>
        <p:nvSpPr>
          <p:cNvPr id="199" name="seg"/>
          <p:cNvSpPr/>
          <p:nvPr/>
        </p:nvSpPr>
        <p:spPr>
          <a:xfrm>
            <a:off x="8654224" y="1681306"/>
            <a:ext cx="119063" cy="15794"/>
          </a:xfrm>
          <a:custGeom>
            <a:avLst/>
            <a:gdLst/>
            <a:ahLst/>
            <a:cxnLst/>
            <a:rect l="l" t="t" r="r" b="b"/>
            <a:pathLst>
              <a:path w="119063" h="15794">
                <a:moveTo>
                  <a:pt x="0" y="15794"/>
                </a:moveTo>
                <a:lnTo>
                  <a:pt x="119063" y="0"/>
                </a:lnTo>
              </a:path>
            </a:pathLst>
          </a:custGeom>
          <a:ln w="57150">
            <a:solidFill>
              <a:srgbClr val="2E7D32"/>
            </a:solidFill>
          </a:ln>
        </p:spPr>
        <p:txBody>
          <a:bodyPr/>
          <a:lstStyle/>
          <a:p/>
        </p:txBody>
      </p:sp>
      <p:sp>
        <p:nvSpPr>
          <p:cNvPr id="199" name="seg"/>
          <p:cNvSpPr/>
          <p:nvPr/>
        </p:nvSpPr>
        <p:spPr>
          <a:xfrm>
            <a:off x="8773287" y="1662913"/>
            <a:ext cx="119062" cy="18393"/>
          </a:xfrm>
          <a:custGeom>
            <a:avLst/>
            <a:gdLst/>
            <a:ahLst/>
            <a:cxnLst/>
            <a:rect l="l" t="t" r="r" b="b"/>
            <a:pathLst>
              <a:path w="119062" h="18393">
                <a:moveTo>
                  <a:pt x="0" y="18393"/>
                </a:moveTo>
                <a:lnTo>
                  <a:pt x="119062" y="0"/>
                </a:lnTo>
              </a:path>
            </a:pathLst>
          </a:custGeom>
          <a:ln w="57150">
            <a:solidFill>
              <a:srgbClr val="2E7D32"/>
            </a:solidFill>
          </a:ln>
        </p:spPr>
        <p:txBody>
          <a:bodyPr/>
          <a:lstStyle/>
          <a:p/>
        </p:txBody>
      </p:sp>
      <p:sp>
        <p:nvSpPr>
          <p:cNvPr id="199" name="seg"/>
          <p:cNvSpPr/>
          <p:nvPr/>
        </p:nvSpPr>
        <p:spPr>
          <a:xfrm>
            <a:off x="8892349" y="1643176"/>
            <a:ext cx="119063" cy="19737"/>
          </a:xfrm>
          <a:custGeom>
            <a:avLst/>
            <a:gdLst/>
            <a:ahLst/>
            <a:cxnLst/>
            <a:rect l="l" t="t" r="r" b="b"/>
            <a:pathLst>
              <a:path w="119063" h="19737">
                <a:moveTo>
                  <a:pt x="0" y="19737"/>
                </a:moveTo>
                <a:lnTo>
                  <a:pt x="119063" y="0"/>
                </a:lnTo>
              </a:path>
            </a:pathLst>
          </a:custGeom>
          <a:ln w="57150">
            <a:solidFill>
              <a:srgbClr val="2E7D32"/>
            </a:solidFill>
          </a:ln>
        </p:spPr>
        <p:txBody>
          <a:bodyPr/>
          <a:lstStyle/>
          <a:p/>
        </p:txBody>
      </p:sp>
      <p:sp>
        <p:nvSpPr>
          <p:cNvPr id="199" name="seg"/>
          <p:cNvSpPr/>
          <p:nvPr/>
        </p:nvSpPr>
        <p:spPr>
          <a:xfrm>
            <a:off x="9011412" y="1623438"/>
            <a:ext cx="119062" cy="19738"/>
          </a:xfrm>
          <a:custGeom>
            <a:avLst/>
            <a:gdLst/>
            <a:ahLst/>
            <a:cxnLst/>
            <a:rect l="l" t="t" r="r" b="b"/>
            <a:pathLst>
              <a:path w="119062" h="19738">
                <a:moveTo>
                  <a:pt x="0" y="19738"/>
                </a:moveTo>
                <a:lnTo>
                  <a:pt x="119062" y="0"/>
                </a:lnTo>
              </a:path>
            </a:pathLst>
          </a:custGeom>
          <a:ln w="57150">
            <a:solidFill>
              <a:srgbClr val="2E7D32"/>
            </a:solidFill>
          </a:ln>
        </p:spPr>
        <p:txBody>
          <a:bodyPr/>
          <a:lstStyle/>
          <a:p/>
        </p:txBody>
      </p:sp>
      <p:sp>
        <p:nvSpPr>
          <p:cNvPr id="199" name="seg"/>
          <p:cNvSpPr/>
          <p:nvPr/>
        </p:nvSpPr>
        <p:spPr>
          <a:xfrm>
            <a:off x="9130474" y="1605045"/>
            <a:ext cx="119063" cy="18393"/>
          </a:xfrm>
          <a:custGeom>
            <a:avLst/>
            <a:gdLst/>
            <a:ahLst/>
            <a:cxnLst/>
            <a:rect l="l" t="t" r="r" b="b"/>
            <a:pathLst>
              <a:path w="119063" h="18393">
                <a:moveTo>
                  <a:pt x="0" y="18393"/>
                </a:moveTo>
                <a:lnTo>
                  <a:pt x="119063" y="0"/>
                </a:lnTo>
              </a:path>
            </a:pathLst>
          </a:custGeom>
          <a:ln w="57150">
            <a:solidFill>
              <a:srgbClr val="2E7D32"/>
            </a:solidFill>
          </a:ln>
        </p:spPr>
        <p:txBody>
          <a:bodyPr/>
          <a:lstStyle/>
          <a:p/>
        </p:txBody>
      </p:sp>
      <p:sp>
        <p:nvSpPr>
          <p:cNvPr id="199" name="seg"/>
          <p:cNvSpPr/>
          <p:nvPr/>
        </p:nvSpPr>
        <p:spPr>
          <a:xfrm>
            <a:off x="9249537" y="1589251"/>
            <a:ext cx="119062" cy="15794"/>
          </a:xfrm>
          <a:custGeom>
            <a:avLst/>
            <a:gdLst/>
            <a:ahLst/>
            <a:cxnLst/>
            <a:rect l="l" t="t" r="r" b="b"/>
            <a:pathLst>
              <a:path w="119062" h="15794">
                <a:moveTo>
                  <a:pt x="0" y="15794"/>
                </a:moveTo>
                <a:lnTo>
                  <a:pt x="119062" y="0"/>
                </a:lnTo>
              </a:path>
            </a:pathLst>
          </a:custGeom>
          <a:ln w="57150">
            <a:solidFill>
              <a:srgbClr val="2E7D32"/>
            </a:solidFill>
          </a:ln>
        </p:spPr>
        <p:txBody>
          <a:bodyPr/>
          <a:lstStyle/>
          <a:p/>
        </p:txBody>
      </p:sp>
      <p:sp>
        <p:nvSpPr>
          <p:cNvPr id="199" name="seg"/>
          <p:cNvSpPr/>
          <p:nvPr/>
        </p:nvSpPr>
        <p:spPr>
          <a:xfrm>
            <a:off x="9368599" y="1577132"/>
            <a:ext cx="119063" cy="12119"/>
          </a:xfrm>
          <a:custGeom>
            <a:avLst/>
            <a:gdLst/>
            <a:ahLst/>
            <a:cxnLst/>
            <a:rect l="l" t="t" r="r" b="b"/>
            <a:pathLst>
              <a:path w="119063" h="12119">
                <a:moveTo>
                  <a:pt x="0" y="12119"/>
                </a:moveTo>
                <a:lnTo>
                  <a:pt x="119063" y="0"/>
                </a:lnTo>
              </a:path>
            </a:pathLst>
          </a:custGeom>
          <a:ln w="57150">
            <a:solidFill>
              <a:srgbClr val="2E7D32"/>
            </a:solidFill>
          </a:ln>
        </p:spPr>
        <p:txBody>
          <a:bodyPr/>
          <a:lstStyle/>
          <a:p/>
        </p:txBody>
      </p:sp>
      <p:sp>
        <p:nvSpPr>
          <p:cNvPr id="199" name="seg"/>
          <p:cNvSpPr/>
          <p:nvPr/>
        </p:nvSpPr>
        <p:spPr>
          <a:xfrm>
            <a:off x="9487662" y="1569513"/>
            <a:ext cx="119062" cy="9144"/>
          </a:xfrm>
          <a:custGeom>
            <a:avLst/>
            <a:gdLst/>
            <a:ahLst/>
            <a:cxnLst/>
            <a:rect l="l" t="t" r="r" b="b"/>
            <a:pathLst>
              <a:path w="119062" h="9144">
                <a:moveTo>
                  <a:pt x="0" y="7619"/>
                </a:moveTo>
                <a:lnTo>
                  <a:pt x="119062" y="0"/>
                </a:lnTo>
              </a:path>
            </a:pathLst>
          </a:custGeom>
          <a:ln w="57150">
            <a:solidFill>
              <a:srgbClr val="2E7D32"/>
            </a:solidFill>
          </a:ln>
        </p:spPr>
        <p:txBody>
          <a:bodyPr/>
          <a:lstStyle/>
          <a:p/>
        </p:txBody>
      </p:sp>
      <p:sp>
        <p:nvSpPr>
          <p:cNvPr id="199" name="seg"/>
          <p:cNvSpPr/>
          <p:nvPr/>
        </p:nvSpPr>
        <p:spPr>
          <a:xfrm>
            <a:off x="9606724" y="1566915"/>
            <a:ext cx="119063" cy="9144"/>
          </a:xfrm>
          <a:custGeom>
            <a:avLst/>
            <a:gdLst/>
            <a:ahLst/>
            <a:cxnLst/>
            <a:rect l="l" t="t" r="r" b="b"/>
            <a:pathLst>
              <a:path w="119063" h="9144">
                <a:moveTo>
                  <a:pt x="0" y="2598"/>
                </a:moveTo>
                <a:lnTo>
                  <a:pt x="119063" y="0"/>
                </a:lnTo>
              </a:path>
            </a:pathLst>
          </a:custGeom>
          <a:ln w="57150">
            <a:solidFill>
              <a:srgbClr val="2E7D32"/>
            </a:solidFill>
          </a:ln>
        </p:spPr>
        <p:txBody>
          <a:bodyPr/>
          <a:lstStyle/>
          <a:p/>
        </p:txBody>
      </p:sp>
      <p:sp>
        <p:nvSpPr>
          <p:cNvPr id="199" name="seg"/>
          <p:cNvSpPr/>
          <p:nvPr/>
        </p:nvSpPr>
        <p:spPr>
          <a:xfrm>
            <a:off x="9725787" y="1566915"/>
            <a:ext cx="9144" cy="9144"/>
          </a:xfrm>
          <a:custGeom>
            <a:avLst/>
            <a:gdLst/>
            <a:ahLst/>
            <a:cxnLst/>
            <a:rect l="l" t="t" r="r" b="b"/>
            <a:pathLst>
              <a:path w="9144" h="9144">
                <a:moveTo>
                  <a:pt x="0" y="0"/>
                </a:moveTo>
                <a:lnTo>
                  <a:pt x="0" y="0"/>
                </a:lnTo>
              </a:path>
            </a:pathLst>
          </a:custGeom>
          <a:ln w="57150">
            <a:solidFill>
              <a:srgbClr val="2E7D32"/>
            </a:solidFill>
          </a:ln>
        </p:spPr>
        <p:txBody>
          <a:bodyPr/>
          <a:lstStyle/>
          <a:p/>
        </p:txBody>
      </p:sp>
      <p:sp>
        <p:nvSpPr>
          <p:cNvPr id="199" name="seg"/>
          <p:cNvSpPr/>
          <p:nvPr/>
        </p:nvSpPr>
        <p:spPr>
          <a:xfrm>
            <a:off x="9725787" y="1564966"/>
            <a:ext cx="119062" cy="9144"/>
          </a:xfrm>
          <a:custGeom>
            <a:avLst/>
            <a:gdLst/>
            <a:ahLst/>
            <a:cxnLst/>
            <a:rect l="l" t="t" r="r" b="b"/>
            <a:pathLst>
              <a:path w="119062" h="9144">
                <a:moveTo>
                  <a:pt x="0" y="1949"/>
                </a:moveTo>
                <a:lnTo>
                  <a:pt x="119062" y="0"/>
                </a:lnTo>
              </a:path>
            </a:pathLst>
          </a:custGeom>
          <a:ln w="57150">
            <a:solidFill>
              <a:srgbClr val="005F8E"/>
            </a:solidFill>
          </a:ln>
        </p:spPr>
        <p:txBody>
          <a:bodyPr/>
          <a:lstStyle/>
          <a:p/>
        </p:txBody>
      </p:sp>
      <p:sp>
        <p:nvSpPr>
          <p:cNvPr id="199" name="seg"/>
          <p:cNvSpPr/>
          <p:nvPr/>
        </p:nvSpPr>
        <p:spPr>
          <a:xfrm>
            <a:off x="9844849" y="1559252"/>
            <a:ext cx="119063" cy="9144"/>
          </a:xfrm>
          <a:custGeom>
            <a:avLst/>
            <a:gdLst/>
            <a:ahLst/>
            <a:cxnLst/>
            <a:rect l="l" t="t" r="r" b="b"/>
            <a:pathLst>
              <a:path w="119063" h="9144">
                <a:moveTo>
                  <a:pt x="0" y="5714"/>
                </a:moveTo>
                <a:lnTo>
                  <a:pt x="119063" y="0"/>
                </a:lnTo>
              </a:path>
            </a:pathLst>
          </a:custGeom>
          <a:ln w="57150">
            <a:solidFill>
              <a:srgbClr val="005F8E"/>
            </a:solidFill>
          </a:ln>
        </p:spPr>
        <p:txBody>
          <a:bodyPr/>
          <a:lstStyle/>
          <a:p/>
        </p:txBody>
      </p:sp>
      <p:sp>
        <p:nvSpPr>
          <p:cNvPr id="199" name="seg"/>
          <p:cNvSpPr/>
          <p:nvPr/>
        </p:nvSpPr>
        <p:spPr>
          <a:xfrm>
            <a:off x="9963912" y="1550162"/>
            <a:ext cx="119062" cy="9144"/>
          </a:xfrm>
          <a:custGeom>
            <a:avLst/>
            <a:gdLst/>
            <a:ahLst/>
            <a:cxnLst/>
            <a:rect l="l" t="t" r="r" b="b"/>
            <a:pathLst>
              <a:path w="119062" h="9144">
                <a:moveTo>
                  <a:pt x="0" y="9090"/>
                </a:moveTo>
                <a:lnTo>
                  <a:pt x="119062" y="0"/>
                </a:lnTo>
              </a:path>
            </a:pathLst>
          </a:custGeom>
          <a:ln w="57150">
            <a:solidFill>
              <a:srgbClr val="005F8E"/>
            </a:solidFill>
          </a:ln>
        </p:spPr>
        <p:txBody>
          <a:bodyPr/>
          <a:lstStyle/>
          <a:p/>
        </p:txBody>
      </p:sp>
      <p:sp>
        <p:nvSpPr>
          <p:cNvPr id="199" name="seg"/>
          <p:cNvSpPr/>
          <p:nvPr/>
        </p:nvSpPr>
        <p:spPr>
          <a:xfrm>
            <a:off x="10082974" y="1538317"/>
            <a:ext cx="119063" cy="11845"/>
          </a:xfrm>
          <a:custGeom>
            <a:avLst/>
            <a:gdLst/>
            <a:ahLst/>
            <a:cxnLst/>
            <a:rect l="l" t="t" r="r" b="b"/>
            <a:pathLst>
              <a:path w="119063" h="11845">
                <a:moveTo>
                  <a:pt x="0" y="11845"/>
                </a:moveTo>
                <a:lnTo>
                  <a:pt x="119063" y="0"/>
                </a:lnTo>
              </a:path>
            </a:pathLst>
          </a:custGeom>
          <a:ln w="57150">
            <a:solidFill>
              <a:srgbClr val="005F8E"/>
            </a:solidFill>
          </a:ln>
        </p:spPr>
        <p:txBody>
          <a:bodyPr/>
          <a:lstStyle/>
          <a:p/>
        </p:txBody>
      </p:sp>
      <p:sp>
        <p:nvSpPr>
          <p:cNvPr id="199" name="seg"/>
          <p:cNvSpPr/>
          <p:nvPr/>
        </p:nvSpPr>
        <p:spPr>
          <a:xfrm>
            <a:off x="10202037" y="1524522"/>
            <a:ext cx="119062" cy="13795"/>
          </a:xfrm>
          <a:custGeom>
            <a:avLst/>
            <a:gdLst/>
            <a:ahLst/>
            <a:cxnLst/>
            <a:rect l="l" t="t" r="r" b="b"/>
            <a:pathLst>
              <a:path w="119062" h="13795">
                <a:moveTo>
                  <a:pt x="0" y="13795"/>
                </a:moveTo>
                <a:lnTo>
                  <a:pt x="119062" y="0"/>
                </a:lnTo>
              </a:path>
            </a:pathLst>
          </a:custGeom>
          <a:ln w="57150">
            <a:solidFill>
              <a:srgbClr val="005F8E"/>
            </a:solidFill>
          </a:ln>
        </p:spPr>
        <p:txBody>
          <a:bodyPr/>
          <a:lstStyle/>
          <a:p/>
        </p:txBody>
      </p:sp>
      <p:sp>
        <p:nvSpPr>
          <p:cNvPr id="199" name="seg"/>
          <p:cNvSpPr/>
          <p:nvPr/>
        </p:nvSpPr>
        <p:spPr>
          <a:xfrm>
            <a:off x="10321099" y="1509719"/>
            <a:ext cx="119063" cy="14803"/>
          </a:xfrm>
          <a:custGeom>
            <a:avLst/>
            <a:gdLst/>
            <a:ahLst/>
            <a:cxnLst/>
            <a:rect l="l" t="t" r="r" b="b"/>
            <a:pathLst>
              <a:path w="119063" h="14803">
                <a:moveTo>
                  <a:pt x="0" y="14803"/>
                </a:moveTo>
                <a:lnTo>
                  <a:pt x="119063" y="0"/>
                </a:lnTo>
              </a:path>
            </a:pathLst>
          </a:custGeom>
          <a:ln w="57150">
            <a:solidFill>
              <a:srgbClr val="005F8E"/>
            </a:solidFill>
          </a:ln>
        </p:spPr>
        <p:txBody>
          <a:bodyPr/>
          <a:lstStyle/>
          <a:p/>
        </p:txBody>
      </p:sp>
      <p:sp>
        <p:nvSpPr>
          <p:cNvPr id="199" name="seg"/>
          <p:cNvSpPr/>
          <p:nvPr/>
        </p:nvSpPr>
        <p:spPr>
          <a:xfrm>
            <a:off x="10440162" y="1494916"/>
            <a:ext cx="119062" cy="14803"/>
          </a:xfrm>
          <a:custGeom>
            <a:avLst/>
            <a:gdLst/>
            <a:ahLst/>
            <a:cxnLst/>
            <a:rect l="l" t="t" r="r" b="b"/>
            <a:pathLst>
              <a:path w="119062" h="14803">
                <a:moveTo>
                  <a:pt x="0" y="14803"/>
                </a:moveTo>
                <a:lnTo>
                  <a:pt x="119062" y="0"/>
                </a:lnTo>
              </a:path>
            </a:pathLst>
          </a:custGeom>
          <a:ln w="57150">
            <a:solidFill>
              <a:srgbClr val="005F8E"/>
            </a:solidFill>
          </a:ln>
        </p:spPr>
        <p:txBody>
          <a:bodyPr/>
          <a:lstStyle/>
          <a:p/>
        </p:txBody>
      </p:sp>
      <p:sp>
        <p:nvSpPr>
          <p:cNvPr id="199" name="seg"/>
          <p:cNvSpPr/>
          <p:nvPr/>
        </p:nvSpPr>
        <p:spPr>
          <a:xfrm>
            <a:off x="10559224" y="1481121"/>
            <a:ext cx="119063" cy="13795"/>
          </a:xfrm>
          <a:custGeom>
            <a:avLst/>
            <a:gdLst/>
            <a:ahLst/>
            <a:cxnLst/>
            <a:rect l="l" t="t" r="r" b="b"/>
            <a:pathLst>
              <a:path w="119063" h="13795">
                <a:moveTo>
                  <a:pt x="0" y="13795"/>
                </a:moveTo>
                <a:lnTo>
                  <a:pt x="119063" y="0"/>
                </a:lnTo>
              </a:path>
            </a:pathLst>
          </a:custGeom>
          <a:ln w="57150">
            <a:solidFill>
              <a:srgbClr val="005F8E"/>
            </a:solidFill>
          </a:ln>
        </p:spPr>
        <p:txBody>
          <a:bodyPr/>
          <a:lstStyle/>
          <a:p/>
        </p:txBody>
      </p:sp>
      <p:sp>
        <p:nvSpPr>
          <p:cNvPr id="199" name="seg"/>
          <p:cNvSpPr/>
          <p:nvPr/>
        </p:nvSpPr>
        <p:spPr>
          <a:xfrm>
            <a:off x="10678287" y="1469276"/>
            <a:ext cx="119062" cy="11845"/>
          </a:xfrm>
          <a:custGeom>
            <a:avLst/>
            <a:gdLst/>
            <a:ahLst/>
            <a:cxnLst/>
            <a:rect l="l" t="t" r="r" b="b"/>
            <a:pathLst>
              <a:path w="119062" h="11845">
                <a:moveTo>
                  <a:pt x="0" y="11845"/>
                </a:moveTo>
                <a:lnTo>
                  <a:pt x="119062" y="0"/>
                </a:lnTo>
              </a:path>
            </a:pathLst>
          </a:custGeom>
          <a:ln w="57150">
            <a:solidFill>
              <a:srgbClr val="005F8E"/>
            </a:solidFill>
          </a:ln>
        </p:spPr>
        <p:txBody>
          <a:bodyPr/>
          <a:lstStyle/>
          <a:p/>
        </p:txBody>
      </p:sp>
      <p:sp>
        <p:nvSpPr>
          <p:cNvPr id="199" name="seg"/>
          <p:cNvSpPr/>
          <p:nvPr/>
        </p:nvSpPr>
        <p:spPr>
          <a:xfrm>
            <a:off x="10797349" y="1460186"/>
            <a:ext cx="119063" cy="9144"/>
          </a:xfrm>
          <a:custGeom>
            <a:avLst/>
            <a:gdLst/>
            <a:ahLst/>
            <a:cxnLst/>
            <a:rect l="l" t="t" r="r" b="b"/>
            <a:pathLst>
              <a:path w="119063" h="9144">
                <a:moveTo>
                  <a:pt x="0" y="9090"/>
                </a:moveTo>
                <a:lnTo>
                  <a:pt x="119063" y="0"/>
                </a:lnTo>
              </a:path>
            </a:pathLst>
          </a:custGeom>
          <a:ln w="57150">
            <a:solidFill>
              <a:srgbClr val="005F8E"/>
            </a:solidFill>
          </a:ln>
        </p:spPr>
        <p:txBody>
          <a:bodyPr/>
          <a:lstStyle/>
          <a:p/>
        </p:txBody>
      </p:sp>
      <p:sp>
        <p:nvSpPr>
          <p:cNvPr id="199" name="seg"/>
          <p:cNvSpPr/>
          <p:nvPr/>
        </p:nvSpPr>
        <p:spPr>
          <a:xfrm>
            <a:off x="10916412" y="1454472"/>
            <a:ext cx="119062" cy="9144"/>
          </a:xfrm>
          <a:custGeom>
            <a:avLst/>
            <a:gdLst/>
            <a:ahLst/>
            <a:cxnLst/>
            <a:rect l="l" t="t" r="r" b="b"/>
            <a:pathLst>
              <a:path w="119062" h="9144">
                <a:moveTo>
                  <a:pt x="0" y="5714"/>
                </a:moveTo>
                <a:lnTo>
                  <a:pt x="119062" y="0"/>
                </a:lnTo>
              </a:path>
            </a:pathLst>
          </a:custGeom>
          <a:ln w="57150">
            <a:solidFill>
              <a:srgbClr val="005F8E"/>
            </a:solidFill>
          </a:ln>
        </p:spPr>
        <p:txBody>
          <a:bodyPr/>
          <a:lstStyle/>
          <a:p/>
        </p:txBody>
      </p:sp>
      <p:sp>
        <p:nvSpPr>
          <p:cNvPr id="199" name="seg"/>
          <p:cNvSpPr/>
          <p:nvPr/>
        </p:nvSpPr>
        <p:spPr>
          <a:xfrm>
            <a:off x="11035474" y="1452524"/>
            <a:ext cx="119063" cy="9144"/>
          </a:xfrm>
          <a:custGeom>
            <a:avLst/>
            <a:gdLst/>
            <a:ahLst/>
            <a:cxnLst/>
            <a:rect l="l" t="t" r="r" b="b"/>
            <a:pathLst>
              <a:path w="119063" h="9144">
                <a:moveTo>
                  <a:pt x="0" y="1948"/>
                </a:moveTo>
                <a:lnTo>
                  <a:pt x="119063" y="0"/>
                </a:lnTo>
              </a:path>
            </a:pathLst>
          </a:custGeom>
          <a:ln w="57150">
            <a:solidFill>
              <a:srgbClr val="005F8E"/>
            </a:solidFill>
          </a:ln>
        </p:spPr>
        <p:txBody>
          <a:bodyPr/>
          <a:lstStyle/>
          <a:p/>
        </p:txBody>
      </p:sp>
      <p:sp>
        <p:nvSpPr>
          <p:cNvPr id="200" name="Rectangle 199"/>
          <p:cNvSpPr/>
          <p:nvPr/>
        </p:nvSpPr>
        <p:spPr>
          <a:xfrm>
            <a:off x="1139571" y="4864242"/>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1139571" y="4964826"/>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1139571" y="5065410"/>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Oval 202"/>
          <p:cNvSpPr/>
          <p:nvPr/>
        </p:nvSpPr>
        <p:spPr>
          <a:xfrm>
            <a:off x="888111" y="4352178"/>
            <a:ext cx="530352" cy="5303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Oval 203"/>
          <p:cNvSpPr/>
          <p:nvPr/>
        </p:nvSpPr>
        <p:spPr>
          <a:xfrm>
            <a:off x="924687" y="4388754"/>
            <a:ext cx="457200" cy="457200"/>
          </a:xfrm>
          <a:prstGeom prst="ellipse">
            <a:avLst/>
          </a:prstGeom>
          <a:solidFill>
            <a:srgbClr val="782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970407" y="4434474"/>
            <a:ext cx="365760" cy="365760"/>
          </a:xfrm>
          <a:prstGeom prst="rect">
            <a:avLst/>
          </a:prstGeom>
          <a:noFill/>
        </p:spPr>
        <p:txBody>
          <a:bodyPr wrap="square">
            <a:spAutoFit/>
          </a:bodyPr>
          <a:lstStyle/>
          <a:p>
            <a:pPr algn="ctr"/>
            <a:r>
              <a:rPr sz="1200" b="1" i="0">
                <a:solidFill>
                  <a:srgbClr val="FFFFFF"/>
                </a:solidFill>
                <a:latin typeface="Calibri"/>
              </a:rPr>
              <a:t>1</a:t>
            </a:r>
          </a:p>
        </p:txBody>
      </p:sp>
      <p:sp>
        <p:nvSpPr>
          <p:cNvPr id="206" name="Rectangle 205"/>
          <p:cNvSpPr/>
          <p:nvPr/>
        </p:nvSpPr>
        <p:spPr>
          <a:xfrm>
            <a:off x="502920" y="5239512"/>
            <a:ext cx="1300734" cy="292608"/>
          </a:xfrm>
          <a:prstGeom prst="roundRect">
            <a:avLst>
              <a:gd name="adj" fmla="val 25000"/>
            </a:avLst>
          </a:prstGeom>
          <a:solidFill>
            <a:srgbClr val="782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502920" y="5239512"/>
            <a:ext cx="1300734" cy="292608"/>
          </a:xfrm>
          <a:prstGeom prst="rect">
            <a:avLst/>
          </a:prstGeom>
          <a:noFill/>
        </p:spPr>
        <p:txBody>
          <a:bodyPr wrap="square">
            <a:spAutoFit/>
          </a:bodyPr>
          <a:lstStyle/>
          <a:p>
            <a:pPr algn="ctr"/>
            <a:r>
              <a:rPr sz="900" b="1" i="0">
                <a:solidFill>
                  <a:srgbClr val="FFFFFF"/>
                </a:solidFill>
                <a:latin typeface="Calibri"/>
              </a:rPr>
              <a:t>Pre-Rx</a:t>
            </a:r>
          </a:p>
        </p:txBody>
      </p:sp>
      <p:sp>
        <p:nvSpPr>
          <p:cNvPr id="208" name="TextBox 207"/>
          <p:cNvSpPr txBox="1"/>
          <p:nvPr/>
        </p:nvSpPr>
        <p:spPr>
          <a:xfrm>
            <a:off x="475488" y="5586984"/>
            <a:ext cx="1355598" cy="621792"/>
          </a:xfrm>
          <a:prstGeom prst="rect">
            <a:avLst/>
          </a:prstGeom>
          <a:noFill/>
        </p:spPr>
        <p:txBody>
          <a:bodyPr wrap="square">
            <a:spAutoFit/>
          </a:bodyPr>
          <a:lstStyle/>
          <a:p>
            <a:pPr algn="ctr"/>
            <a:r>
              <a:rPr sz="900" b="1" i="0">
                <a:solidFill>
                  <a:srgbClr val="FFFFFF"/>
                </a:solidFill>
                <a:latin typeface="Calibri"/>
              </a:rPr>
              <a:t>Living with
Psoriasis</a:t>
            </a:r>
          </a:p>
        </p:txBody>
      </p:sp>
      <p:sp>
        <p:nvSpPr>
          <p:cNvPr id="209" name="TextBox 208"/>
          <p:cNvSpPr txBox="1"/>
          <p:nvPr/>
        </p:nvSpPr>
        <p:spPr>
          <a:xfrm>
            <a:off x="475488" y="4013850"/>
            <a:ext cx="1355598" cy="256032"/>
          </a:xfrm>
          <a:prstGeom prst="rect">
            <a:avLst/>
          </a:prstGeom>
          <a:noFill/>
        </p:spPr>
        <p:txBody>
          <a:bodyPr wrap="square">
            <a:spAutoFit/>
          </a:bodyPr>
          <a:lstStyle/>
          <a:p>
            <a:pPr algn="ctr"/>
            <a:r>
              <a:rPr sz="800" b="0" i="1">
                <a:solidFill>
                  <a:srgbClr val="CCCCCC"/>
                </a:solidFill>
                <a:latin typeface="Calibri"/>
              </a:rPr>
              <a:t>Frustrated &amp; Isolated</a:t>
            </a:r>
          </a:p>
        </p:txBody>
      </p:sp>
      <p:sp>
        <p:nvSpPr>
          <p:cNvPr id="210" name="Rectangle 209"/>
          <p:cNvSpPr/>
          <p:nvPr/>
        </p:nvSpPr>
        <p:spPr>
          <a:xfrm>
            <a:off x="2568321" y="4330415"/>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2568321" y="4430999"/>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Rectangle 211"/>
          <p:cNvSpPr/>
          <p:nvPr/>
        </p:nvSpPr>
        <p:spPr>
          <a:xfrm>
            <a:off x="2568321" y="4531583"/>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ectangle 212"/>
          <p:cNvSpPr/>
          <p:nvPr/>
        </p:nvSpPr>
        <p:spPr>
          <a:xfrm>
            <a:off x="2568321" y="4632167"/>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2568321" y="4732751"/>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2568321" y="4833335"/>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Rectangle 215"/>
          <p:cNvSpPr/>
          <p:nvPr/>
        </p:nvSpPr>
        <p:spPr>
          <a:xfrm>
            <a:off x="2568321" y="4933919"/>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Rectangle 216"/>
          <p:cNvSpPr/>
          <p:nvPr/>
        </p:nvSpPr>
        <p:spPr>
          <a:xfrm>
            <a:off x="2568321" y="5034503"/>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Oval 217"/>
          <p:cNvSpPr/>
          <p:nvPr/>
        </p:nvSpPr>
        <p:spPr>
          <a:xfrm>
            <a:off x="2316861" y="3818351"/>
            <a:ext cx="530352" cy="5303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Oval 218"/>
          <p:cNvSpPr/>
          <p:nvPr/>
        </p:nvSpPr>
        <p:spPr>
          <a:xfrm>
            <a:off x="2353437" y="3854927"/>
            <a:ext cx="457200" cy="457200"/>
          </a:xfrm>
          <a:prstGeom prst="ellipse">
            <a:avLst/>
          </a:prstGeom>
          <a:solidFill>
            <a:srgbClr val="E64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2399157" y="3900647"/>
            <a:ext cx="365760" cy="365760"/>
          </a:xfrm>
          <a:prstGeom prst="rect">
            <a:avLst/>
          </a:prstGeom>
          <a:noFill/>
        </p:spPr>
        <p:txBody>
          <a:bodyPr wrap="square">
            <a:spAutoFit/>
          </a:bodyPr>
          <a:lstStyle/>
          <a:p>
            <a:pPr algn="ctr"/>
            <a:r>
              <a:rPr sz="1200" b="1" i="0">
                <a:solidFill>
                  <a:srgbClr val="FFFFFF"/>
                </a:solidFill>
                <a:latin typeface="Calibri"/>
              </a:rPr>
              <a:t>2</a:t>
            </a:r>
          </a:p>
        </p:txBody>
      </p:sp>
      <p:sp>
        <p:nvSpPr>
          <p:cNvPr id="221" name="Rectangle 220"/>
          <p:cNvSpPr/>
          <p:nvPr/>
        </p:nvSpPr>
        <p:spPr>
          <a:xfrm>
            <a:off x="1931670" y="5239512"/>
            <a:ext cx="1300734" cy="292608"/>
          </a:xfrm>
          <a:prstGeom prst="roundRect">
            <a:avLst>
              <a:gd name="adj" fmla="val 25000"/>
            </a:avLst>
          </a:prstGeom>
          <a:solidFill>
            <a:srgbClr val="E64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221"/>
          <p:cNvSpPr txBox="1"/>
          <p:nvPr/>
        </p:nvSpPr>
        <p:spPr>
          <a:xfrm>
            <a:off x="1931670" y="5239512"/>
            <a:ext cx="1300734" cy="292608"/>
          </a:xfrm>
          <a:prstGeom prst="rect">
            <a:avLst/>
          </a:prstGeom>
          <a:noFill/>
        </p:spPr>
        <p:txBody>
          <a:bodyPr wrap="square">
            <a:spAutoFit/>
          </a:bodyPr>
          <a:lstStyle/>
          <a:p>
            <a:pPr algn="ctr"/>
            <a:r>
              <a:rPr sz="900" b="1" i="0">
                <a:solidFill>
                  <a:srgbClr val="FFFFFF"/>
                </a:solidFill>
                <a:latin typeface="Calibri"/>
              </a:rPr>
              <a:t>Day 0</a:t>
            </a:r>
          </a:p>
        </p:txBody>
      </p:sp>
      <p:sp>
        <p:nvSpPr>
          <p:cNvPr id="223" name="TextBox 222"/>
          <p:cNvSpPr txBox="1"/>
          <p:nvPr/>
        </p:nvSpPr>
        <p:spPr>
          <a:xfrm>
            <a:off x="1904238" y="5586984"/>
            <a:ext cx="1355598" cy="621792"/>
          </a:xfrm>
          <a:prstGeom prst="rect">
            <a:avLst/>
          </a:prstGeom>
          <a:noFill/>
        </p:spPr>
        <p:txBody>
          <a:bodyPr wrap="square">
            <a:spAutoFit/>
          </a:bodyPr>
          <a:lstStyle/>
          <a:p>
            <a:pPr algn="ctr"/>
            <a:r>
              <a:rPr sz="900" b="1" i="0">
                <a:solidFill>
                  <a:srgbClr val="FFFFFF"/>
                </a:solidFill>
                <a:latin typeface="Calibri"/>
              </a:rPr>
              <a:t>Dermatologist
Visit</a:t>
            </a:r>
          </a:p>
        </p:txBody>
      </p:sp>
      <p:sp>
        <p:nvSpPr>
          <p:cNvPr id="224" name="TextBox 223"/>
          <p:cNvSpPr txBox="1"/>
          <p:nvPr/>
        </p:nvSpPr>
        <p:spPr>
          <a:xfrm>
            <a:off x="1904238" y="3388583"/>
            <a:ext cx="1355598" cy="256032"/>
          </a:xfrm>
          <a:prstGeom prst="rect">
            <a:avLst/>
          </a:prstGeom>
          <a:noFill/>
        </p:spPr>
        <p:txBody>
          <a:bodyPr wrap="square">
            <a:spAutoFit/>
          </a:bodyPr>
          <a:lstStyle/>
          <a:p>
            <a:pPr algn="ctr"/>
            <a:r>
              <a:rPr sz="800" b="0" i="1">
                <a:solidFill>
                  <a:srgbClr val="CCCCCC"/>
                </a:solidFill>
                <a:latin typeface="Calibri"/>
              </a:rPr>
              <a:t>Cautiously Hopeful</a:t>
            </a:r>
          </a:p>
        </p:txBody>
      </p:sp>
      <p:sp>
        <p:nvSpPr>
          <p:cNvPr id="225" name="Rectangle 224"/>
          <p:cNvSpPr/>
          <p:nvPr/>
        </p:nvSpPr>
        <p:spPr>
          <a:xfrm>
            <a:off x="3997071" y="3605936"/>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3997071" y="3706520"/>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angle 226"/>
          <p:cNvSpPr/>
          <p:nvPr/>
        </p:nvSpPr>
        <p:spPr>
          <a:xfrm>
            <a:off x="3997071" y="3807104"/>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3997071" y="3907688"/>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3997071" y="4008272"/>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3997071" y="4108856"/>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3997071" y="4209440"/>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3997071" y="4310024"/>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3997071" y="4410608"/>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3997071" y="4511192"/>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Rectangle 234"/>
          <p:cNvSpPr/>
          <p:nvPr/>
        </p:nvSpPr>
        <p:spPr>
          <a:xfrm>
            <a:off x="3997071" y="4611776"/>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Rectangle 235"/>
          <p:cNvSpPr/>
          <p:nvPr/>
        </p:nvSpPr>
        <p:spPr>
          <a:xfrm>
            <a:off x="3997071" y="4712360"/>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3997071" y="4812944"/>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3997071" y="4913528"/>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3997071" y="5014112"/>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Oval 239"/>
          <p:cNvSpPr/>
          <p:nvPr/>
        </p:nvSpPr>
        <p:spPr>
          <a:xfrm>
            <a:off x="3745611" y="3093872"/>
            <a:ext cx="530352" cy="5303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Oval 240"/>
          <p:cNvSpPr/>
          <p:nvPr/>
        </p:nvSpPr>
        <p:spPr>
          <a:xfrm>
            <a:off x="3782187" y="3130448"/>
            <a:ext cx="457200" cy="457200"/>
          </a:xfrm>
          <a:prstGeom prst="ellipse">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Box 241"/>
          <p:cNvSpPr txBox="1"/>
          <p:nvPr/>
        </p:nvSpPr>
        <p:spPr>
          <a:xfrm>
            <a:off x="3827907" y="3176168"/>
            <a:ext cx="365760" cy="365760"/>
          </a:xfrm>
          <a:prstGeom prst="rect">
            <a:avLst/>
          </a:prstGeom>
          <a:noFill/>
        </p:spPr>
        <p:txBody>
          <a:bodyPr wrap="square">
            <a:spAutoFit/>
          </a:bodyPr>
          <a:lstStyle/>
          <a:p>
            <a:pPr algn="ctr"/>
            <a:r>
              <a:rPr sz="1200" b="1" i="0">
                <a:solidFill>
                  <a:srgbClr val="FFFFFF"/>
                </a:solidFill>
                <a:latin typeface="Calibri"/>
              </a:rPr>
              <a:t>3</a:t>
            </a:r>
          </a:p>
        </p:txBody>
      </p:sp>
      <p:sp>
        <p:nvSpPr>
          <p:cNvPr id="243" name="Rectangle 242"/>
          <p:cNvSpPr/>
          <p:nvPr/>
        </p:nvSpPr>
        <p:spPr>
          <a:xfrm>
            <a:off x="3360420" y="5239512"/>
            <a:ext cx="1300734" cy="292608"/>
          </a:xfrm>
          <a:prstGeom prst="roundRect">
            <a:avLst>
              <a:gd name="adj" fmla="val 25000"/>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TextBox 243"/>
          <p:cNvSpPr txBox="1"/>
          <p:nvPr/>
        </p:nvSpPr>
        <p:spPr>
          <a:xfrm>
            <a:off x="3360420" y="5239512"/>
            <a:ext cx="1300734" cy="292608"/>
          </a:xfrm>
          <a:prstGeom prst="rect">
            <a:avLst/>
          </a:prstGeom>
          <a:noFill/>
        </p:spPr>
        <p:txBody>
          <a:bodyPr wrap="square">
            <a:spAutoFit/>
          </a:bodyPr>
          <a:lstStyle/>
          <a:p>
            <a:pPr algn="ctr"/>
            <a:r>
              <a:rPr sz="900" b="1" i="0">
                <a:solidFill>
                  <a:srgbClr val="FFFFFF"/>
                </a:solidFill>
                <a:latin typeface="Calibri"/>
              </a:rPr>
              <a:t>Day 1</a:t>
            </a:r>
          </a:p>
        </p:txBody>
      </p:sp>
      <p:sp>
        <p:nvSpPr>
          <p:cNvPr id="245" name="TextBox 244"/>
          <p:cNvSpPr txBox="1"/>
          <p:nvPr/>
        </p:nvSpPr>
        <p:spPr>
          <a:xfrm>
            <a:off x="3332988" y="5586984"/>
            <a:ext cx="1355598" cy="621792"/>
          </a:xfrm>
          <a:prstGeom prst="rect">
            <a:avLst/>
          </a:prstGeom>
          <a:noFill/>
        </p:spPr>
        <p:txBody>
          <a:bodyPr wrap="square">
            <a:spAutoFit/>
          </a:bodyPr>
          <a:lstStyle/>
          <a:p>
            <a:pPr algn="ctr"/>
            <a:r>
              <a:rPr sz="900" b="1" i="0">
                <a:solidFill>
                  <a:srgbClr val="FFFFFF"/>
                </a:solidFill>
                <a:latin typeface="Calibri"/>
              </a:rPr>
              <a:t>App
Onboarding</a:t>
            </a:r>
          </a:p>
        </p:txBody>
      </p:sp>
      <p:sp>
        <p:nvSpPr>
          <p:cNvPr id="246" name="TextBox 245"/>
          <p:cNvSpPr txBox="1"/>
          <p:nvPr/>
        </p:nvSpPr>
        <p:spPr>
          <a:xfrm>
            <a:off x="3332988" y="2755544"/>
            <a:ext cx="1355598" cy="256032"/>
          </a:xfrm>
          <a:prstGeom prst="rect">
            <a:avLst/>
          </a:prstGeom>
          <a:noFill/>
        </p:spPr>
        <p:txBody>
          <a:bodyPr wrap="square">
            <a:spAutoFit/>
          </a:bodyPr>
          <a:lstStyle/>
          <a:p>
            <a:pPr algn="ctr"/>
            <a:r>
              <a:rPr sz="800" b="0" i="1">
                <a:solidFill>
                  <a:srgbClr val="CCCCCC"/>
                </a:solidFill>
                <a:latin typeface="Calibri"/>
              </a:rPr>
              <a:t>Empowered</a:t>
            </a:r>
          </a:p>
        </p:txBody>
      </p:sp>
      <p:sp>
        <p:nvSpPr>
          <p:cNvPr id="247" name="Rectangle 246"/>
          <p:cNvSpPr/>
          <p:nvPr/>
        </p:nvSpPr>
        <p:spPr>
          <a:xfrm>
            <a:off x="5425821" y="3110240"/>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5425821" y="3210824"/>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5425821" y="3311408"/>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5425821" y="3411992"/>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5425821" y="3512576"/>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5425821" y="3613160"/>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5425821" y="3713744"/>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5425821" y="3814328"/>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Rectangle 254"/>
          <p:cNvSpPr/>
          <p:nvPr/>
        </p:nvSpPr>
        <p:spPr>
          <a:xfrm>
            <a:off x="5425821" y="3914912"/>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ectangle 255"/>
          <p:cNvSpPr/>
          <p:nvPr/>
        </p:nvSpPr>
        <p:spPr>
          <a:xfrm>
            <a:off x="5425821" y="4015496"/>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Rectangle 256"/>
          <p:cNvSpPr/>
          <p:nvPr/>
        </p:nvSpPr>
        <p:spPr>
          <a:xfrm>
            <a:off x="5425821" y="4116080"/>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p:cNvSpPr/>
          <p:nvPr/>
        </p:nvSpPr>
        <p:spPr>
          <a:xfrm>
            <a:off x="5425821" y="4216664"/>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Rectangle 258"/>
          <p:cNvSpPr/>
          <p:nvPr/>
        </p:nvSpPr>
        <p:spPr>
          <a:xfrm>
            <a:off x="5425821" y="4317248"/>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Rectangle 259"/>
          <p:cNvSpPr/>
          <p:nvPr/>
        </p:nvSpPr>
        <p:spPr>
          <a:xfrm>
            <a:off x="5425821" y="4417832"/>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Rectangle 260"/>
          <p:cNvSpPr/>
          <p:nvPr/>
        </p:nvSpPr>
        <p:spPr>
          <a:xfrm>
            <a:off x="5425821" y="4518416"/>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Rectangle 261"/>
          <p:cNvSpPr/>
          <p:nvPr/>
        </p:nvSpPr>
        <p:spPr>
          <a:xfrm>
            <a:off x="5425821" y="4619000"/>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ectangle 262"/>
          <p:cNvSpPr/>
          <p:nvPr/>
        </p:nvSpPr>
        <p:spPr>
          <a:xfrm>
            <a:off x="5425821" y="4719584"/>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Rectangle 263"/>
          <p:cNvSpPr/>
          <p:nvPr/>
        </p:nvSpPr>
        <p:spPr>
          <a:xfrm>
            <a:off x="5425821" y="4820168"/>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Rectangle 264"/>
          <p:cNvSpPr/>
          <p:nvPr/>
        </p:nvSpPr>
        <p:spPr>
          <a:xfrm>
            <a:off x="5425821" y="4920752"/>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Rectangle 265"/>
          <p:cNvSpPr/>
          <p:nvPr/>
        </p:nvSpPr>
        <p:spPr>
          <a:xfrm>
            <a:off x="5425821" y="5021336"/>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Oval 266"/>
          <p:cNvSpPr/>
          <p:nvPr/>
        </p:nvSpPr>
        <p:spPr>
          <a:xfrm>
            <a:off x="5174361" y="2598176"/>
            <a:ext cx="530352" cy="5303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Oval 267"/>
          <p:cNvSpPr/>
          <p:nvPr/>
        </p:nvSpPr>
        <p:spPr>
          <a:xfrm>
            <a:off x="5210937" y="2634752"/>
            <a:ext cx="457200" cy="457200"/>
          </a:xfrm>
          <a:prstGeom prst="ellipse">
            <a:avLst/>
          </a:prstGeom>
          <a:solidFill>
            <a:srgbClr val="00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5256657" y="2680472"/>
            <a:ext cx="365760" cy="365760"/>
          </a:xfrm>
          <a:prstGeom prst="rect">
            <a:avLst/>
          </a:prstGeom>
          <a:noFill/>
        </p:spPr>
        <p:txBody>
          <a:bodyPr wrap="square">
            <a:spAutoFit/>
          </a:bodyPr>
          <a:lstStyle/>
          <a:p>
            <a:pPr algn="ctr"/>
            <a:r>
              <a:rPr sz="1200" b="1" i="0">
                <a:solidFill>
                  <a:srgbClr val="FFFFFF"/>
                </a:solidFill>
                <a:latin typeface="Calibri"/>
              </a:rPr>
              <a:t>4</a:t>
            </a:r>
          </a:p>
        </p:txBody>
      </p:sp>
      <p:sp>
        <p:nvSpPr>
          <p:cNvPr id="270" name="Rectangle 269"/>
          <p:cNvSpPr/>
          <p:nvPr/>
        </p:nvSpPr>
        <p:spPr>
          <a:xfrm>
            <a:off x="4789170" y="5239512"/>
            <a:ext cx="1300734" cy="292608"/>
          </a:xfrm>
          <a:prstGeom prst="roundRect">
            <a:avLst>
              <a:gd name="adj" fmla="val 25000"/>
            </a:avLst>
          </a:prstGeom>
          <a:solidFill>
            <a:srgbClr val="00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TextBox 270"/>
          <p:cNvSpPr txBox="1"/>
          <p:nvPr/>
        </p:nvSpPr>
        <p:spPr>
          <a:xfrm>
            <a:off x="4789170" y="5239512"/>
            <a:ext cx="1300734" cy="292608"/>
          </a:xfrm>
          <a:prstGeom prst="rect">
            <a:avLst/>
          </a:prstGeom>
          <a:noFill/>
        </p:spPr>
        <p:txBody>
          <a:bodyPr wrap="square">
            <a:spAutoFit/>
          </a:bodyPr>
          <a:lstStyle/>
          <a:p>
            <a:pPr algn="ctr"/>
            <a:r>
              <a:rPr sz="900" b="1" i="0">
                <a:solidFill>
                  <a:srgbClr val="FFFFFF"/>
                </a:solidFill>
                <a:latin typeface="Calibri"/>
              </a:rPr>
              <a:t>Wks 1–4</a:t>
            </a:r>
          </a:p>
        </p:txBody>
      </p:sp>
      <p:sp>
        <p:nvSpPr>
          <p:cNvPr id="272" name="TextBox 271"/>
          <p:cNvSpPr txBox="1"/>
          <p:nvPr/>
        </p:nvSpPr>
        <p:spPr>
          <a:xfrm>
            <a:off x="4761738" y="5586984"/>
            <a:ext cx="1355598" cy="621792"/>
          </a:xfrm>
          <a:prstGeom prst="rect">
            <a:avLst/>
          </a:prstGeom>
          <a:noFill/>
        </p:spPr>
        <p:txBody>
          <a:bodyPr wrap="square">
            <a:spAutoFit/>
          </a:bodyPr>
          <a:lstStyle/>
          <a:p>
            <a:pPr algn="ctr"/>
            <a:r>
              <a:rPr sz="900" b="1" i="0">
                <a:solidFill>
                  <a:srgbClr val="FFFFFF"/>
                </a:solidFill>
                <a:latin typeface="Calibri"/>
              </a:rPr>
              <a:t>First Dose &amp;
Early Weeks</a:t>
            </a:r>
          </a:p>
        </p:txBody>
      </p:sp>
      <p:sp>
        <p:nvSpPr>
          <p:cNvPr id="273" name="TextBox 272"/>
          <p:cNvSpPr txBox="1"/>
          <p:nvPr/>
        </p:nvSpPr>
        <p:spPr>
          <a:xfrm>
            <a:off x="4761738" y="2168408"/>
            <a:ext cx="1355598" cy="256032"/>
          </a:xfrm>
          <a:prstGeom prst="rect">
            <a:avLst/>
          </a:prstGeom>
          <a:noFill/>
        </p:spPr>
        <p:txBody>
          <a:bodyPr wrap="square">
            <a:spAutoFit/>
          </a:bodyPr>
          <a:lstStyle/>
          <a:p>
            <a:pPr algn="ctr"/>
            <a:r>
              <a:rPr sz="800" b="0" i="1">
                <a:solidFill>
                  <a:srgbClr val="CCCCCC"/>
                </a:solidFill>
                <a:latin typeface="Calibri"/>
              </a:rPr>
              <a:t>Engaged &amp; Monitoring</a:t>
            </a:r>
          </a:p>
        </p:txBody>
      </p:sp>
      <p:sp>
        <p:nvSpPr>
          <p:cNvPr id="274" name="Rectangle 273"/>
          <p:cNvSpPr/>
          <p:nvPr/>
        </p:nvSpPr>
        <p:spPr>
          <a:xfrm>
            <a:off x="6854571" y="2576413"/>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Rectangle 274"/>
          <p:cNvSpPr/>
          <p:nvPr/>
        </p:nvSpPr>
        <p:spPr>
          <a:xfrm>
            <a:off x="6854571" y="2676997"/>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Rectangle 275"/>
          <p:cNvSpPr/>
          <p:nvPr/>
        </p:nvSpPr>
        <p:spPr>
          <a:xfrm>
            <a:off x="6854571" y="2777581"/>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Rectangle 276"/>
          <p:cNvSpPr/>
          <p:nvPr/>
        </p:nvSpPr>
        <p:spPr>
          <a:xfrm>
            <a:off x="6854571" y="2878165"/>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Rectangle 277"/>
          <p:cNvSpPr/>
          <p:nvPr/>
        </p:nvSpPr>
        <p:spPr>
          <a:xfrm>
            <a:off x="6854571" y="2978749"/>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Rectangle 278"/>
          <p:cNvSpPr/>
          <p:nvPr/>
        </p:nvSpPr>
        <p:spPr>
          <a:xfrm>
            <a:off x="6854571" y="3079333"/>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Rectangle 279"/>
          <p:cNvSpPr/>
          <p:nvPr/>
        </p:nvSpPr>
        <p:spPr>
          <a:xfrm>
            <a:off x="6854571" y="3179917"/>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Rectangle 280"/>
          <p:cNvSpPr/>
          <p:nvPr/>
        </p:nvSpPr>
        <p:spPr>
          <a:xfrm>
            <a:off x="6854571" y="3280501"/>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Rectangle 281"/>
          <p:cNvSpPr/>
          <p:nvPr/>
        </p:nvSpPr>
        <p:spPr>
          <a:xfrm>
            <a:off x="6854571" y="3381085"/>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Rectangle 282"/>
          <p:cNvSpPr/>
          <p:nvPr/>
        </p:nvSpPr>
        <p:spPr>
          <a:xfrm>
            <a:off x="6854571" y="3481669"/>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Rectangle 283"/>
          <p:cNvSpPr/>
          <p:nvPr/>
        </p:nvSpPr>
        <p:spPr>
          <a:xfrm>
            <a:off x="6854571" y="3582253"/>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Rectangle 284"/>
          <p:cNvSpPr/>
          <p:nvPr/>
        </p:nvSpPr>
        <p:spPr>
          <a:xfrm>
            <a:off x="6854571" y="3682837"/>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Rectangle 285"/>
          <p:cNvSpPr/>
          <p:nvPr/>
        </p:nvSpPr>
        <p:spPr>
          <a:xfrm>
            <a:off x="6854571" y="3783421"/>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Rectangle 286"/>
          <p:cNvSpPr/>
          <p:nvPr/>
        </p:nvSpPr>
        <p:spPr>
          <a:xfrm>
            <a:off x="6854571" y="3884005"/>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Rectangle 287"/>
          <p:cNvSpPr/>
          <p:nvPr/>
        </p:nvSpPr>
        <p:spPr>
          <a:xfrm>
            <a:off x="6854571" y="3984589"/>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Rectangle 288"/>
          <p:cNvSpPr/>
          <p:nvPr/>
        </p:nvSpPr>
        <p:spPr>
          <a:xfrm>
            <a:off x="6854571" y="4085173"/>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Rectangle 289"/>
          <p:cNvSpPr/>
          <p:nvPr/>
        </p:nvSpPr>
        <p:spPr>
          <a:xfrm>
            <a:off x="6854571" y="4185757"/>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Rectangle 290"/>
          <p:cNvSpPr/>
          <p:nvPr/>
        </p:nvSpPr>
        <p:spPr>
          <a:xfrm>
            <a:off x="6854571" y="4286341"/>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Rectangle 291"/>
          <p:cNvSpPr/>
          <p:nvPr/>
        </p:nvSpPr>
        <p:spPr>
          <a:xfrm>
            <a:off x="6854571" y="4386925"/>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Rectangle 292"/>
          <p:cNvSpPr/>
          <p:nvPr/>
        </p:nvSpPr>
        <p:spPr>
          <a:xfrm>
            <a:off x="6854571" y="4487509"/>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Rectangle 293"/>
          <p:cNvSpPr/>
          <p:nvPr/>
        </p:nvSpPr>
        <p:spPr>
          <a:xfrm>
            <a:off x="6854571" y="4588093"/>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Rectangle 294"/>
          <p:cNvSpPr/>
          <p:nvPr/>
        </p:nvSpPr>
        <p:spPr>
          <a:xfrm>
            <a:off x="6854571" y="4688677"/>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Rectangle 295"/>
          <p:cNvSpPr/>
          <p:nvPr/>
        </p:nvSpPr>
        <p:spPr>
          <a:xfrm>
            <a:off x="6854571" y="4789261"/>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Rectangle 296"/>
          <p:cNvSpPr/>
          <p:nvPr/>
        </p:nvSpPr>
        <p:spPr>
          <a:xfrm>
            <a:off x="6854571" y="4889845"/>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Rectangle 297"/>
          <p:cNvSpPr/>
          <p:nvPr/>
        </p:nvSpPr>
        <p:spPr>
          <a:xfrm>
            <a:off x="6854571" y="4990429"/>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Rectangle 298"/>
          <p:cNvSpPr/>
          <p:nvPr/>
        </p:nvSpPr>
        <p:spPr>
          <a:xfrm>
            <a:off x="6854571" y="5091013"/>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Oval 299"/>
          <p:cNvSpPr/>
          <p:nvPr/>
        </p:nvSpPr>
        <p:spPr>
          <a:xfrm>
            <a:off x="6603111" y="2064349"/>
            <a:ext cx="530352" cy="5303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Oval 300"/>
          <p:cNvSpPr/>
          <p:nvPr/>
        </p:nvSpPr>
        <p:spPr>
          <a:xfrm>
            <a:off x="6639687" y="2100925"/>
            <a:ext cx="457200" cy="457200"/>
          </a:xfrm>
          <a:prstGeom prst="ellipse">
            <a:avLst/>
          </a:prstGeom>
          <a:solidFill>
            <a:srgbClr val="006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TextBox 301"/>
          <p:cNvSpPr txBox="1"/>
          <p:nvPr/>
        </p:nvSpPr>
        <p:spPr>
          <a:xfrm>
            <a:off x="6685407" y="2146645"/>
            <a:ext cx="365760" cy="365760"/>
          </a:xfrm>
          <a:prstGeom prst="rect">
            <a:avLst/>
          </a:prstGeom>
          <a:noFill/>
        </p:spPr>
        <p:txBody>
          <a:bodyPr wrap="square">
            <a:spAutoFit/>
          </a:bodyPr>
          <a:lstStyle/>
          <a:p>
            <a:pPr algn="ctr"/>
            <a:r>
              <a:rPr sz="1200" b="1" i="0">
                <a:solidFill>
                  <a:srgbClr val="FFFFFF"/>
                </a:solidFill>
                <a:latin typeface="Calibri"/>
              </a:rPr>
              <a:t>5</a:t>
            </a:r>
          </a:p>
        </p:txBody>
      </p:sp>
      <p:sp>
        <p:nvSpPr>
          <p:cNvPr id="303" name="Rectangle 302"/>
          <p:cNvSpPr/>
          <p:nvPr/>
        </p:nvSpPr>
        <p:spPr>
          <a:xfrm>
            <a:off x="6217920" y="5239512"/>
            <a:ext cx="1300734" cy="292608"/>
          </a:xfrm>
          <a:prstGeom prst="roundRect">
            <a:avLst>
              <a:gd name="adj" fmla="val 25000"/>
            </a:avLst>
          </a:prstGeom>
          <a:solidFill>
            <a:srgbClr val="006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TextBox 303"/>
          <p:cNvSpPr txBox="1"/>
          <p:nvPr/>
        </p:nvSpPr>
        <p:spPr>
          <a:xfrm>
            <a:off x="6217920" y="5239512"/>
            <a:ext cx="1300734" cy="292608"/>
          </a:xfrm>
          <a:prstGeom prst="rect">
            <a:avLst/>
          </a:prstGeom>
          <a:noFill/>
        </p:spPr>
        <p:txBody>
          <a:bodyPr wrap="square">
            <a:spAutoFit/>
          </a:bodyPr>
          <a:lstStyle/>
          <a:p>
            <a:pPr algn="ctr"/>
            <a:r>
              <a:rPr sz="900" b="1" i="0">
                <a:solidFill>
                  <a:srgbClr val="FFFFFF"/>
                </a:solidFill>
                <a:latin typeface="Calibri"/>
              </a:rPr>
              <a:t>Wk 4</a:t>
            </a:r>
          </a:p>
        </p:txBody>
      </p:sp>
      <p:sp>
        <p:nvSpPr>
          <p:cNvPr id="305" name="TextBox 304"/>
          <p:cNvSpPr txBox="1"/>
          <p:nvPr/>
        </p:nvSpPr>
        <p:spPr>
          <a:xfrm>
            <a:off x="6190488" y="5586984"/>
            <a:ext cx="1355598" cy="621792"/>
          </a:xfrm>
          <a:prstGeom prst="rect">
            <a:avLst/>
          </a:prstGeom>
          <a:noFill/>
        </p:spPr>
        <p:txBody>
          <a:bodyPr wrap="square">
            <a:spAutoFit/>
          </a:bodyPr>
          <a:lstStyle/>
          <a:p>
            <a:pPr algn="ctr"/>
            <a:r>
              <a:rPr sz="900" b="1" i="0">
                <a:solidFill>
                  <a:srgbClr val="FFFFFF"/>
                </a:solidFill>
                <a:latin typeface="Calibri"/>
              </a:rPr>
              <a:t>Week 4
Check-In</a:t>
            </a:r>
          </a:p>
        </p:txBody>
      </p:sp>
      <p:sp>
        <p:nvSpPr>
          <p:cNvPr id="306" name="TextBox 305"/>
          <p:cNvSpPr txBox="1"/>
          <p:nvPr/>
        </p:nvSpPr>
        <p:spPr>
          <a:xfrm>
            <a:off x="6190488" y="1726021"/>
            <a:ext cx="1355598" cy="256032"/>
          </a:xfrm>
          <a:prstGeom prst="rect">
            <a:avLst/>
          </a:prstGeom>
          <a:noFill/>
        </p:spPr>
        <p:txBody>
          <a:bodyPr wrap="square">
            <a:spAutoFit/>
          </a:bodyPr>
          <a:lstStyle/>
          <a:p>
            <a:pPr algn="ctr"/>
            <a:r>
              <a:rPr sz="800" b="0" i="1">
                <a:solidFill>
                  <a:srgbClr val="CCCCCC"/>
                </a:solidFill>
                <a:latin typeface="Calibri"/>
              </a:rPr>
              <a:t>Noticing Change</a:t>
            </a:r>
          </a:p>
        </p:txBody>
      </p:sp>
      <p:sp>
        <p:nvSpPr>
          <p:cNvPr id="307" name="Rectangle 306"/>
          <p:cNvSpPr/>
          <p:nvPr/>
        </p:nvSpPr>
        <p:spPr>
          <a:xfrm>
            <a:off x="8283321" y="1966325"/>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Rectangle 307"/>
          <p:cNvSpPr/>
          <p:nvPr/>
        </p:nvSpPr>
        <p:spPr>
          <a:xfrm>
            <a:off x="8283321" y="2066909"/>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ectangle 308"/>
          <p:cNvSpPr/>
          <p:nvPr/>
        </p:nvSpPr>
        <p:spPr>
          <a:xfrm>
            <a:off x="8283321" y="2167493"/>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Rectangle 309"/>
          <p:cNvSpPr/>
          <p:nvPr/>
        </p:nvSpPr>
        <p:spPr>
          <a:xfrm>
            <a:off x="8283321" y="2268077"/>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Rectangle 310"/>
          <p:cNvSpPr/>
          <p:nvPr/>
        </p:nvSpPr>
        <p:spPr>
          <a:xfrm>
            <a:off x="8283321" y="2368661"/>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ectangle 311"/>
          <p:cNvSpPr/>
          <p:nvPr/>
        </p:nvSpPr>
        <p:spPr>
          <a:xfrm>
            <a:off x="8283321" y="2469245"/>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Rectangle 312"/>
          <p:cNvSpPr/>
          <p:nvPr/>
        </p:nvSpPr>
        <p:spPr>
          <a:xfrm>
            <a:off x="8283321" y="2569829"/>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Rectangle 313"/>
          <p:cNvSpPr/>
          <p:nvPr/>
        </p:nvSpPr>
        <p:spPr>
          <a:xfrm>
            <a:off x="8283321" y="2670413"/>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ectangle 314"/>
          <p:cNvSpPr/>
          <p:nvPr/>
        </p:nvSpPr>
        <p:spPr>
          <a:xfrm>
            <a:off x="8283321" y="2770997"/>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Rectangle 315"/>
          <p:cNvSpPr/>
          <p:nvPr/>
        </p:nvSpPr>
        <p:spPr>
          <a:xfrm>
            <a:off x="8283321" y="2871581"/>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Rectangle 316"/>
          <p:cNvSpPr/>
          <p:nvPr/>
        </p:nvSpPr>
        <p:spPr>
          <a:xfrm>
            <a:off x="8283321" y="2972165"/>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Rectangle 317"/>
          <p:cNvSpPr/>
          <p:nvPr/>
        </p:nvSpPr>
        <p:spPr>
          <a:xfrm>
            <a:off x="8283321" y="3072749"/>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Rectangle 318"/>
          <p:cNvSpPr/>
          <p:nvPr/>
        </p:nvSpPr>
        <p:spPr>
          <a:xfrm>
            <a:off x="8283321" y="3173333"/>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Rectangle 319"/>
          <p:cNvSpPr/>
          <p:nvPr/>
        </p:nvSpPr>
        <p:spPr>
          <a:xfrm>
            <a:off x="8283321" y="3273917"/>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Rectangle 320"/>
          <p:cNvSpPr/>
          <p:nvPr/>
        </p:nvSpPr>
        <p:spPr>
          <a:xfrm>
            <a:off x="8283321" y="3374501"/>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Rectangle 321"/>
          <p:cNvSpPr/>
          <p:nvPr/>
        </p:nvSpPr>
        <p:spPr>
          <a:xfrm>
            <a:off x="8283321" y="3475085"/>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Rectangle 322"/>
          <p:cNvSpPr/>
          <p:nvPr/>
        </p:nvSpPr>
        <p:spPr>
          <a:xfrm>
            <a:off x="8283321" y="3575669"/>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Rectangle 323"/>
          <p:cNvSpPr/>
          <p:nvPr/>
        </p:nvSpPr>
        <p:spPr>
          <a:xfrm>
            <a:off x="8283321" y="3676253"/>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Rectangle 324"/>
          <p:cNvSpPr/>
          <p:nvPr/>
        </p:nvSpPr>
        <p:spPr>
          <a:xfrm>
            <a:off x="8283321" y="3776837"/>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Rectangle 325"/>
          <p:cNvSpPr/>
          <p:nvPr/>
        </p:nvSpPr>
        <p:spPr>
          <a:xfrm>
            <a:off x="8283321" y="3877421"/>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Rectangle 326"/>
          <p:cNvSpPr/>
          <p:nvPr/>
        </p:nvSpPr>
        <p:spPr>
          <a:xfrm>
            <a:off x="8283321" y="3978005"/>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Rectangle 327"/>
          <p:cNvSpPr/>
          <p:nvPr/>
        </p:nvSpPr>
        <p:spPr>
          <a:xfrm>
            <a:off x="8283321" y="4078589"/>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Rectangle 328"/>
          <p:cNvSpPr/>
          <p:nvPr/>
        </p:nvSpPr>
        <p:spPr>
          <a:xfrm>
            <a:off x="8283321" y="4179173"/>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Rectangle 329"/>
          <p:cNvSpPr/>
          <p:nvPr/>
        </p:nvSpPr>
        <p:spPr>
          <a:xfrm>
            <a:off x="8283321" y="4279757"/>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Rectangle 330"/>
          <p:cNvSpPr/>
          <p:nvPr/>
        </p:nvSpPr>
        <p:spPr>
          <a:xfrm>
            <a:off x="8283321" y="4380341"/>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Rectangle 331"/>
          <p:cNvSpPr/>
          <p:nvPr/>
        </p:nvSpPr>
        <p:spPr>
          <a:xfrm>
            <a:off x="8283321" y="4480925"/>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Rectangle 332"/>
          <p:cNvSpPr/>
          <p:nvPr/>
        </p:nvSpPr>
        <p:spPr>
          <a:xfrm>
            <a:off x="8283321" y="4581509"/>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Rectangle 333"/>
          <p:cNvSpPr/>
          <p:nvPr/>
        </p:nvSpPr>
        <p:spPr>
          <a:xfrm>
            <a:off x="8283321" y="4682093"/>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Rectangle 334"/>
          <p:cNvSpPr/>
          <p:nvPr/>
        </p:nvSpPr>
        <p:spPr>
          <a:xfrm>
            <a:off x="8283321" y="4782677"/>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Rectangle 335"/>
          <p:cNvSpPr/>
          <p:nvPr/>
        </p:nvSpPr>
        <p:spPr>
          <a:xfrm>
            <a:off x="8283321" y="4883261"/>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Rectangle 336"/>
          <p:cNvSpPr/>
          <p:nvPr/>
        </p:nvSpPr>
        <p:spPr>
          <a:xfrm>
            <a:off x="8283321" y="4983845"/>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Rectangle 337"/>
          <p:cNvSpPr/>
          <p:nvPr/>
        </p:nvSpPr>
        <p:spPr>
          <a:xfrm>
            <a:off x="8283321" y="5084429"/>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Oval 338"/>
          <p:cNvSpPr/>
          <p:nvPr/>
        </p:nvSpPr>
        <p:spPr>
          <a:xfrm>
            <a:off x="8031861" y="1454261"/>
            <a:ext cx="530352" cy="5303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Oval 339"/>
          <p:cNvSpPr/>
          <p:nvPr/>
        </p:nvSpPr>
        <p:spPr>
          <a:xfrm>
            <a:off x="8068437" y="1490837"/>
            <a:ext cx="457200" cy="45720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TextBox 340"/>
          <p:cNvSpPr txBox="1"/>
          <p:nvPr/>
        </p:nvSpPr>
        <p:spPr>
          <a:xfrm>
            <a:off x="8114157" y="1536557"/>
            <a:ext cx="365760" cy="365760"/>
          </a:xfrm>
          <a:prstGeom prst="rect">
            <a:avLst/>
          </a:prstGeom>
          <a:noFill/>
        </p:spPr>
        <p:txBody>
          <a:bodyPr wrap="square">
            <a:spAutoFit/>
          </a:bodyPr>
          <a:lstStyle/>
          <a:p>
            <a:pPr algn="ctr"/>
            <a:r>
              <a:rPr sz="1200" b="1" i="0">
                <a:solidFill>
                  <a:srgbClr val="FFFFFF"/>
                </a:solidFill>
                <a:latin typeface="Calibri"/>
              </a:rPr>
              <a:t>6</a:t>
            </a:r>
          </a:p>
        </p:txBody>
      </p:sp>
      <p:sp>
        <p:nvSpPr>
          <p:cNvPr id="342" name="Rectangle 341"/>
          <p:cNvSpPr/>
          <p:nvPr/>
        </p:nvSpPr>
        <p:spPr>
          <a:xfrm>
            <a:off x="7646670" y="5239512"/>
            <a:ext cx="1300734" cy="292608"/>
          </a:xfrm>
          <a:prstGeom prst="roundRect">
            <a:avLst>
              <a:gd name="adj" fmla="val 25000"/>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TextBox 342"/>
          <p:cNvSpPr txBox="1"/>
          <p:nvPr/>
        </p:nvSpPr>
        <p:spPr>
          <a:xfrm>
            <a:off x="7646670" y="5239512"/>
            <a:ext cx="1300734" cy="292608"/>
          </a:xfrm>
          <a:prstGeom prst="rect">
            <a:avLst/>
          </a:prstGeom>
          <a:noFill/>
        </p:spPr>
        <p:txBody>
          <a:bodyPr wrap="square">
            <a:spAutoFit/>
          </a:bodyPr>
          <a:lstStyle/>
          <a:p>
            <a:pPr algn="ctr"/>
            <a:r>
              <a:rPr sz="900" b="1" i="0">
                <a:solidFill>
                  <a:srgbClr val="FFFFFF"/>
                </a:solidFill>
                <a:latin typeface="Calibri"/>
              </a:rPr>
              <a:t>Wks 8–16</a:t>
            </a:r>
          </a:p>
        </p:txBody>
      </p:sp>
      <p:sp>
        <p:nvSpPr>
          <p:cNvPr id="344" name="TextBox 343"/>
          <p:cNvSpPr txBox="1"/>
          <p:nvPr/>
        </p:nvSpPr>
        <p:spPr>
          <a:xfrm>
            <a:off x="7619238" y="5586984"/>
            <a:ext cx="1355598" cy="621792"/>
          </a:xfrm>
          <a:prstGeom prst="rect">
            <a:avLst/>
          </a:prstGeom>
          <a:noFill/>
        </p:spPr>
        <p:txBody>
          <a:bodyPr wrap="square">
            <a:spAutoFit/>
          </a:bodyPr>
          <a:lstStyle/>
          <a:p>
            <a:pPr algn="ctr"/>
            <a:r>
              <a:rPr sz="900" b="1" i="0">
                <a:solidFill>
                  <a:srgbClr val="FFFFFF"/>
                </a:solidFill>
                <a:latin typeface="Calibri"/>
              </a:rPr>
              <a:t>Visible
Clearance</a:t>
            </a:r>
          </a:p>
        </p:txBody>
      </p:sp>
      <p:sp>
        <p:nvSpPr>
          <p:cNvPr id="345" name="TextBox 344"/>
          <p:cNvSpPr txBox="1"/>
          <p:nvPr/>
        </p:nvSpPr>
        <p:spPr>
          <a:xfrm>
            <a:off x="7619238" y="1143000"/>
            <a:ext cx="1355598" cy="256032"/>
          </a:xfrm>
          <a:prstGeom prst="rect">
            <a:avLst/>
          </a:prstGeom>
          <a:noFill/>
        </p:spPr>
        <p:txBody>
          <a:bodyPr wrap="square">
            <a:spAutoFit/>
          </a:bodyPr>
          <a:lstStyle/>
          <a:p>
            <a:pPr algn="ctr"/>
            <a:r>
              <a:rPr sz="800" b="0" i="1">
                <a:solidFill>
                  <a:srgbClr val="CCCCCC"/>
                </a:solidFill>
                <a:latin typeface="Calibri"/>
              </a:rPr>
              <a:t>Transformed</a:t>
            </a:r>
          </a:p>
        </p:txBody>
      </p:sp>
      <p:sp>
        <p:nvSpPr>
          <p:cNvPr id="346" name="Rectangle 345"/>
          <p:cNvSpPr/>
          <p:nvPr/>
        </p:nvSpPr>
        <p:spPr>
          <a:xfrm>
            <a:off x="9712071" y="1813803"/>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Rectangle 346"/>
          <p:cNvSpPr/>
          <p:nvPr/>
        </p:nvSpPr>
        <p:spPr>
          <a:xfrm>
            <a:off x="9712071" y="1914387"/>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Rectangle 347"/>
          <p:cNvSpPr/>
          <p:nvPr/>
        </p:nvSpPr>
        <p:spPr>
          <a:xfrm>
            <a:off x="9712071" y="2014971"/>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Rectangle 348"/>
          <p:cNvSpPr/>
          <p:nvPr/>
        </p:nvSpPr>
        <p:spPr>
          <a:xfrm>
            <a:off x="9712071" y="2115555"/>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Rectangle 349"/>
          <p:cNvSpPr/>
          <p:nvPr/>
        </p:nvSpPr>
        <p:spPr>
          <a:xfrm>
            <a:off x="9712071" y="2216139"/>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Rectangle 350"/>
          <p:cNvSpPr/>
          <p:nvPr/>
        </p:nvSpPr>
        <p:spPr>
          <a:xfrm>
            <a:off x="9712071" y="2316723"/>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Rectangle 351"/>
          <p:cNvSpPr/>
          <p:nvPr/>
        </p:nvSpPr>
        <p:spPr>
          <a:xfrm>
            <a:off x="9712071" y="2417307"/>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Rectangle 352"/>
          <p:cNvSpPr/>
          <p:nvPr/>
        </p:nvSpPr>
        <p:spPr>
          <a:xfrm>
            <a:off x="9712071" y="2517891"/>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Rectangle 353"/>
          <p:cNvSpPr/>
          <p:nvPr/>
        </p:nvSpPr>
        <p:spPr>
          <a:xfrm>
            <a:off x="9712071" y="2618475"/>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Rectangle 354"/>
          <p:cNvSpPr/>
          <p:nvPr/>
        </p:nvSpPr>
        <p:spPr>
          <a:xfrm>
            <a:off x="9712071" y="2719059"/>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Rectangle 355"/>
          <p:cNvSpPr/>
          <p:nvPr/>
        </p:nvSpPr>
        <p:spPr>
          <a:xfrm>
            <a:off x="9712071" y="2819643"/>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Rectangle 356"/>
          <p:cNvSpPr/>
          <p:nvPr/>
        </p:nvSpPr>
        <p:spPr>
          <a:xfrm>
            <a:off x="9712071" y="2920227"/>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Rectangle 357"/>
          <p:cNvSpPr/>
          <p:nvPr/>
        </p:nvSpPr>
        <p:spPr>
          <a:xfrm>
            <a:off x="9712071" y="3020811"/>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Rectangle 358"/>
          <p:cNvSpPr/>
          <p:nvPr/>
        </p:nvSpPr>
        <p:spPr>
          <a:xfrm>
            <a:off x="9712071" y="3121395"/>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Rectangle 359"/>
          <p:cNvSpPr/>
          <p:nvPr/>
        </p:nvSpPr>
        <p:spPr>
          <a:xfrm>
            <a:off x="9712071" y="3221979"/>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Rectangle 360"/>
          <p:cNvSpPr/>
          <p:nvPr/>
        </p:nvSpPr>
        <p:spPr>
          <a:xfrm>
            <a:off x="9712071" y="3322563"/>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Rectangle 361"/>
          <p:cNvSpPr/>
          <p:nvPr/>
        </p:nvSpPr>
        <p:spPr>
          <a:xfrm>
            <a:off x="9712071" y="3423147"/>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Rectangle 362"/>
          <p:cNvSpPr/>
          <p:nvPr/>
        </p:nvSpPr>
        <p:spPr>
          <a:xfrm>
            <a:off x="9712071" y="3523731"/>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Rectangle 363"/>
          <p:cNvSpPr/>
          <p:nvPr/>
        </p:nvSpPr>
        <p:spPr>
          <a:xfrm>
            <a:off x="9712071" y="3624315"/>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Rectangle 364"/>
          <p:cNvSpPr/>
          <p:nvPr/>
        </p:nvSpPr>
        <p:spPr>
          <a:xfrm>
            <a:off x="9712071" y="3724899"/>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Rectangle 365"/>
          <p:cNvSpPr/>
          <p:nvPr/>
        </p:nvSpPr>
        <p:spPr>
          <a:xfrm>
            <a:off x="9712071" y="3825483"/>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Rectangle 366"/>
          <p:cNvSpPr/>
          <p:nvPr/>
        </p:nvSpPr>
        <p:spPr>
          <a:xfrm>
            <a:off x="9712071" y="3926067"/>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Rectangle 367"/>
          <p:cNvSpPr/>
          <p:nvPr/>
        </p:nvSpPr>
        <p:spPr>
          <a:xfrm>
            <a:off x="9712071" y="4026651"/>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Rectangle 368"/>
          <p:cNvSpPr/>
          <p:nvPr/>
        </p:nvSpPr>
        <p:spPr>
          <a:xfrm>
            <a:off x="9712071" y="4127235"/>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Rectangle 369"/>
          <p:cNvSpPr/>
          <p:nvPr/>
        </p:nvSpPr>
        <p:spPr>
          <a:xfrm>
            <a:off x="9712071" y="4227819"/>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Rectangle 370"/>
          <p:cNvSpPr/>
          <p:nvPr/>
        </p:nvSpPr>
        <p:spPr>
          <a:xfrm>
            <a:off x="9712071" y="4328403"/>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Rectangle 371"/>
          <p:cNvSpPr/>
          <p:nvPr/>
        </p:nvSpPr>
        <p:spPr>
          <a:xfrm>
            <a:off x="9712071" y="4428987"/>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Rectangle 372"/>
          <p:cNvSpPr/>
          <p:nvPr/>
        </p:nvSpPr>
        <p:spPr>
          <a:xfrm>
            <a:off x="9712071" y="4529571"/>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Rectangle 373"/>
          <p:cNvSpPr/>
          <p:nvPr/>
        </p:nvSpPr>
        <p:spPr>
          <a:xfrm>
            <a:off x="9712071" y="4630155"/>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Rectangle 374"/>
          <p:cNvSpPr/>
          <p:nvPr/>
        </p:nvSpPr>
        <p:spPr>
          <a:xfrm>
            <a:off x="9712071" y="4730739"/>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Rectangle 375"/>
          <p:cNvSpPr/>
          <p:nvPr/>
        </p:nvSpPr>
        <p:spPr>
          <a:xfrm>
            <a:off x="9712071" y="4831323"/>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Rectangle 376"/>
          <p:cNvSpPr/>
          <p:nvPr/>
        </p:nvSpPr>
        <p:spPr>
          <a:xfrm>
            <a:off x="9712071" y="4931907"/>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Rectangle 377"/>
          <p:cNvSpPr/>
          <p:nvPr/>
        </p:nvSpPr>
        <p:spPr>
          <a:xfrm>
            <a:off x="9712071" y="5032491"/>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Oval 378"/>
          <p:cNvSpPr/>
          <p:nvPr/>
        </p:nvSpPr>
        <p:spPr>
          <a:xfrm>
            <a:off x="9460611" y="1301739"/>
            <a:ext cx="530352" cy="5303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Oval 379"/>
          <p:cNvSpPr/>
          <p:nvPr/>
        </p:nvSpPr>
        <p:spPr>
          <a:xfrm>
            <a:off x="9497187" y="1338315"/>
            <a:ext cx="457200" cy="457200"/>
          </a:xfrm>
          <a:prstGeom prst="ellipse">
            <a:avLst/>
          </a:prstGeom>
          <a:solidFill>
            <a:srgbClr val="005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TextBox 380"/>
          <p:cNvSpPr txBox="1"/>
          <p:nvPr/>
        </p:nvSpPr>
        <p:spPr>
          <a:xfrm>
            <a:off x="9542907" y="1384035"/>
            <a:ext cx="365760" cy="365760"/>
          </a:xfrm>
          <a:prstGeom prst="rect">
            <a:avLst/>
          </a:prstGeom>
          <a:noFill/>
        </p:spPr>
        <p:txBody>
          <a:bodyPr wrap="square">
            <a:spAutoFit/>
          </a:bodyPr>
          <a:lstStyle/>
          <a:p>
            <a:pPr algn="ctr"/>
            <a:r>
              <a:rPr sz="1200" b="1" i="0">
                <a:solidFill>
                  <a:srgbClr val="FFFFFF"/>
                </a:solidFill>
                <a:latin typeface="Calibri"/>
              </a:rPr>
              <a:t>7</a:t>
            </a:r>
          </a:p>
        </p:txBody>
      </p:sp>
      <p:sp>
        <p:nvSpPr>
          <p:cNvPr id="382" name="Rectangle 381"/>
          <p:cNvSpPr/>
          <p:nvPr/>
        </p:nvSpPr>
        <p:spPr>
          <a:xfrm>
            <a:off x="9075420" y="5239512"/>
            <a:ext cx="1300734" cy="292608"/>
          </a:xfrm>
          <a:prstGeom prst="roundRect">
            <a:avLst>
              <a:gd name="adj" fmla="val 25000"/>
            </a:avLst>
          </a:prstGeom>
          <a:solidFill>
            <a:srgbClr val="005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TextBox 382"/>
          <p:cNvSpPr txBox="1"/>
          <p:nvPr/>
        </p:nvSpPr>
        <p:spPr>
          <a:xfrm>
            <a:off x="9075420" y="5239512"/>
            <a:ext cx="1300734" cy="292608"/>
          </a:xfrm>
          <a:prstGeom prst="rect">
            <a:avLst/>
          </a:prstGeom>
          <a:noFill/>
        </p:spPr>
        <p:txBody>
          <a:bodyPr wrap="square">
            <a:spAutoFit/>
          </a:bodyPr>
          <a:lstStyle/>
          <a:p>
            <a:pPr algn="ctr"/>
            <a:r>
              <a:rPr sz="900" b="1" i="0">
                <a:solidFill>
                  <a:srgbClr val="FFFFFF"/>
                </a:solidFill>
                <a:latin typeface="Calibri"/>
              </a:rPr>
              <a:t>Wk 16</a:t>
            </a:r>
          </a:p>
        </p:txBody>
      </p:sp>
      <p:sp>
        <p:nvSpPr>
          <p:cNvPr id="384" name="TextBox 383"/>
          <p:cNvSpPr txBox="1"/>
          <p:nvPr/>
        </p:nvSpPr>
        <p:spPr>
          <a:xfrm>
            <a:off x="9047988" y="5586984"/>
            <a:ext cx="1355598" cy="621792"/>
          </a:xfrm>
          <a:prstGeom prst="rect">
            <a:avLst/>
          </a:prstGeom>
          <a:noFill/>
        </p:spPr>
        <p:txBody>
          <a:bodyPr wrap="square">
            <a:spAutoFit/>
          </a:bodyPr>
          <a:lstStyle/>
          <a:p>
            <a:pPr algn="ctr"/>
            <a:r>
              <a:rPr sz="900" b="1" i="0">
                <a:solidFill>
                  <a:srgbClr val="FFFFFF"/>
                </a:solidFill>
                <a:latin typeface="Calibri"/>
              </a:rPr>
              <a:t>Refill &amp;
HCP Review</a:t>
            </a:r>
          </a:p>
        </p:txBody>
      </p:sp>
      <p:sp>
        <p:nvSpPr>
          <p:cNvPr id="385" name="TextBox 384"/>
          <p:cNvSpPr txBox="1"/>
          <p:nvPr/>
        </p:nvSpPr>
        <p:spPr>
          <a:xfrm>
            <a:off x="9047988" y="1143000"/>
            <a:ext cx="1355598" cy="256032"/>
          </a:xfrm>
          <a:prstGeom prst="rect">
            <a:avLst/>
          </a:prstGeom>
          <a:noFill/>
        </p:spPr>
        <p:txBody>
          <a:bodyPr wrap="square">
            <a:spAutoFit/>
          </a:bodyPr>
          <a:lstStyle/>
          <a:p>
            <a:pPr algn="ctr"/>
            <a:r>
              <a:rPr sz="800" b="0" i="1">
                <a:solidFill>
                  <a:srgbClr val="CCCCCC"/>
                </a:solidFill>
                <a:latin typeface="Calibri"/>
              </a:rPr>
              <a:t>Confident</a:t>
            </a:r>
          </a:p>
        </p:txBody>
      </p:sp>
      <p:sp>
        <p:nvSpPr>
          <p:cNvPr id="386" name="Rectangle 385"/>
          <p:cNvSpPr/>
          <p:nvPr/>
        </p:nvSpPr>
        <p:spPr>
          <a:xfrm>
            <a:off x="11140821" y="1699412"/>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Rectangle 386"/>
          <p:cNvSpPr/>
          <p:nvPr/>
        </p:nvSpPr>
        <p:spPr>
          <a:xfrm>
            <a:off x="11140821" y="1799996"/>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Rectangle 387"/>
          <p:cNvSpPr/>
          <p:nvPr/>
        </p:nvSpPr>
        <p:spPr>
          <a:xfrm>
            <a:off x="11140821" y="1900580"/>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Rectangle 388"/>
          <p:cNvSpPr/>
          <p:nvPr/>
        </p:nvSpPr>
        <p:spPr>
          <a:xfrm>
            <a:off x="11140821" y="2001164"/>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0" name="Rectangle 389"/>
          <p:cNvSpPr/>
          <p:nvPr/>
        </p:nvSpPr>
        <p:spPr>
          <a:xfrm>
            <a:off x="11140821" y="2101748"/>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1" name="Rectangle 390"/>
          <p:cNvSpPr/>
          <p:nvPr/>
        </p:nvSpPr>
        <p:spPr>
          <a:xfrm>
            <a:off x="11140821" y="2202332"/>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2" name="Rectangle 391"/>
          <p:cNvSpPr/>
          <p:nvPr/>
        </p:nvSpPr>
        <p:spPr>
          <a:xfrm>
            <a:off x="11140821" y="2302916"/>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3" name="Rectangle 392"/>
          <p:cNvSpPr/>
          <p:nvPr/>
        </p:nvSpPr>
        <p:spPr>
          <a:xfrm>
            <a:off x="11140821" y="2403500"/>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4" name="Rectangle 393"/>
          <p:cNvSpPr/>
          <p:nvPr/>
        </p:nvSpPr>
        <p:spPr>
          <a:xfrm>
            <a:off x="11140821" y="2504084"/>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5" name="Rectangle 394"/>
          <p:cNvSpPr/>
          <p:nvPr/>
        </p:nvSpPr>
        <p:spPr>
          <a:xfrm>
            <a:off x="11140821" y="2604668"/>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6" name="Rectangle 395"/>
          <p:cNvSpPr/>
          <p:nvPr/>
        </p:nvSpPr>
        <p:spPr>
          <a:xfrm>
            <a:off x="11140821" y="2705252"/>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Rectangle 396"/>
          <p:cNvSpPr/>
          <p:nvPr/>
        </p:nvSpPr>
        <p:spPr>
          <a:xfrm>
            <a:off x="11140821" y="2805836"/>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8" name="Rectangle 397"/>
          <p:cNvSpPr/>
          <p:nvPr/>
        </p:nvSpPr>
        <p:spPr>
          <a:xfrm>
            <a:off x="11140821" y="2906420"/>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9" name="Rectangle 398"/>
          <p:cNvSpPr/>
          <p:nvPr/>
        </p:nvSpPr>
        <p:spPr>
          <a:xfrm>
            <a:off x="11140821" y="3007004"/>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0" name="Rectangle 399"/>
          <p:cNvSpPr/>
          <p:nvPr/>
        </p:nvSpPr>
        <p:spPr>
          <a:xfrm>
            <a:off x="11140821" y="3107588"/>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1" name="Rectangle 400"/>
          <p:cNvSpPr/>
          <p:nvPr/>
        </p:nvSpPr>
        <p:spPr>
          <a:xfrm>
            <a:off x="11140821" y="3208172"/>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2" name="Rectangle 401"/>
          <p:cNvSpPr/>
          <p:nvPr/>
        </p:nvSpPr>
        <p:spPr>
          <a:xfrm>
            <a:off x="11140821" y="3308756"/>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Rectangle 402"/>
          <p:cNvSpPr/>
          <p:nvPr/>
        </p:nvSpPr>
        <p:spPr>
          <a:xfrm>
            <a:off x="11140821" y="3409340"/>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Rectangle 403"/>
          <p:cNvSpPr/>
          <p:nvPr/>
        </p:nvSpPr>
        <p:spPr>
          <a:xfrm>
            <a:off x="11140821" y="3509924"/>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Rectangle 404"/>
          <p:cNvSpPr/>
          <p:nvPr/>
        </p:nvSpPr>
        <p:spPr>
          <a:xfrm>
            <a:off x="11140821" y="3610508"/>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Rectangle 405"/>
          <p:cNvSpPr/>
          <p:nvPr/>
        </p:nvSpPr>
        <p:spPr>
          <a:xfrm>
            <a:off x="11140821" y="3711092"/>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Rectangle 406"/>
          <p:cNvSpPr/>
          <p:nvPr/>
        </p:nvSpPr>
        <p:spPr>
          <a:xfrm>
            <a:off x="11140821" y="3811676"/>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Rectangle 407"/>
          <p:cNvSpPr/>
          <p:nvPr/>
        </p:nvSpPr>
        <p:spPr>
          <a:xfrm>
            <a:off x="11140821" y="3912260"/>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Rectangle 408"/>
          <p:cNvSpPr/>
          <p:nvPr/>
        </p:nvSpPr>
        <p:spPr>
          <a:xfrm>
            <a:off x="11140821" y="4012844"/>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Rectangle 409"/>
          <p:cNvSpPr/>
          <p:nvPr/>
        </p:nvSpPr>
        <p:spPr>
          <a:xfrm>
            <a:off x="11140821" y="4113428"/>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Rectangle 410"/>
          <p:cNvSpPr/>
          <p:nvPr/>
        </p:nvSpPr>
        <p:spPr>
          <a:xfrm>
            <a:off x="11140821" y="4214012"/>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Rectangle 411"/>
          <p:cNvSpPr/>
          <p:nvPr/>
        </p:nvSpPr>
        <p:spPr>
          <a:xfrm>
            <a:off x="11140821" y="4314596"/>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Rectangle 412"/>
          <p:cNvSpPr/>
          <p:nvPr/>
        </p:nvSpPr>
        <p:spPr>
          <a:xfrm>
            <a:off x="11140821" y="4415180"/>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Rectangle 413"/>
          <p:cNvSpPr/>
          <p:nvPr/>
        </p:nvSpPr>
        <p:spPr>
          <a:xfrm>
            <a:off x="11140821" y="4515764"/>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Rectangle 414"/>
          <p:cNvSpPr/>
          <p:nvPr/>
        </p:nvSpPr>
        <p:spPr>
          <a:xfrm>
            <a:off x="11140821" y="4616348"/>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Rectangle 415"/>
          <p:cNvSpPr/>
          <p:nvPr/>
        </p:nvSpPr>
        <p:spPr>
          <a:xfrm>
            <a:off x="11140821" y="4716932"/>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Rectangle 416"/>
          <p:cNvSpPr/>
          <p:nvPr/>
        </p:nvSpPr>
        <p:spPr>
          <a:xfrm>
            <a:off x="11140821" y="4817516"/>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Rectangle 417"/>
          <p:cNvSpPr/>
          <p:nvPr/>
        </p:nvSpPr>
        <p:spPr>
          <a:xfrm>
            <a:off x="11140821" y="4918100"/>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Rectangle 418"/>
          <p:cNvSpPr/>
          <p:nvPr/>
        </p:nvSpPr>
        <p:spPr>
          <a:xfrm>
            <a:off x="11140821" y="5018684"/>
            <a:ext cx="27432" cy="50292"/>
          </a:xfrm>
          <a:prstGeom prst="rect">
            <a:avLst/>
          </a:prstGeom>
          <a:solidFill>
            <a:srgbClr val="4455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Oval 419"/>
          <p:cNvSpPr/>
          <p:nvPr/>
        </p:nvSpPr>
        <p:spPr>
          <a:xfrm>
            <a:off x="10889361" y="1187348"/>
            <a:ext cx="530352" cy="5303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Oval 420"/>
          <p:cNvSpPr/>
          <p:nvPr/>
        </p:nvSpPr>
        <p:spPr>
          <a:xfrm>
            <a:off x="10925937" y="1223924"/>
            <a:ext cx="457200" cy="457200"/>
          </a:xfrm>
          <a:prstGeom prst="ellipse">
            <a:avLst/>
          </a:prstGeom>
          <a:solidFill>
            <a:srgbClr val="00A1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TextBox 421"/>
          <p:cNvSpPr txBox="1"/>
          <p:nvPr/>
        </p:nvSpPr>
        <p:spPr>
          <a:xfrm>
            <a:off x="10971657" y="1269644"/>
            <a:ext cx="365760" cy="365760"/>
          </a:xfrm>
          <a:prstGeom prst="rect">
            <a:avLst/>
          </a:prstGeom>
          <a:noFill/>
        </p:spPr>
        <p:txBody>
          <a:bodyPr wrap="square">
            <a:spAutoFit/>
          </a:bodyPr>
          <a:lstStyle/>
          <a:p>
            <a:pPr algn="ctr"/>
            <a:r>
              <a:rPr sz="1200" b="1" i="0">
                <a:solidFill>
                  <a:srgbClr val="FFFFFF"/>
                </a:solidFill>
                <a:latin typeface="Calibri"/>
              </a:rPr>
              <a:t>8</a:t>
            </a:r>
          </a:p>
        </p:txBody>
      </p:sp>
      <p:sp>
        <p:nvSpPr>
          <p:cNvPr id="423" name="Rectangle 422"/>
          <p:cNvSpPr/>
          <p:nvPr/>
        </p:nvSpPr>
        <p:spPr>
          <a:xfrm>
            <a:off x="10504170" y="5239512"/>
            <a:ext cx="1300734" cy="292608"/>
          </a:xfrm>
          <a:prstGeom prst="roundRect">
            <a:avLst>
              <a:gd name="adj" fmla="val 25000"/>
            </a:avLst>
          </a:prstGeom>
          <a:solidFill>
            <a:srgbClr val="00A1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TextBox 423"/>
          <p:cNvSpPr txBox="1"/>
          <p:nvPr/>
        </p:nvSpPr>
        <p:spPr>
          <a:xfrm>
            <a:off x="10504170" y="5239512"/>
            <a:ext cx="1300734" cy="292608"/>
          </a:xfrm>
          <a:prstGeom prst="rect">
            <a:avLst/>
          </a:prstGeom>
          <a:noFill/>
        </p:spPr>
        <p:txBody>
          <a:bodyPr wrap="square">
            <a:spAutoFit/>
          </a:bodyPr>
          <a:lstStyle/>
          <a:p>
            <a:pPr algn="ctr"/>
            <a:r>
              <a:rPr sz="900" b="1" i="0">
                <a:solidFill>
                  <a:srgbClr val="FFFFFF"/>
                </a:solidFill>
                <a:latin typeface="Calibri"/>
              </a:rPr>
              <a:t>Wk 16+</a:t>
            </a:r>
          </a:p>
        </p:txBody>
      </p:sp>
      <p:sp>
        <p:nvSpPr>
          <p:cNvPr id="425" name="TextBox 424"/>
          <p:cNvSpPr txBox="1"/>
          <p:nvPr/>
        </p:nvSpPr>
        <p:spPr>
          <a:xfrm>
            <a:off x="10476738" y="5586984"/>
            <a:ext cx="1355598" cy="621792"/>
          </a:xfrm>
          <a:prstGeom prst="rect">
            <a:avLst/>
          </a:prstGeom>
          <a:noFill/>
        </p:spPr>
        <p:txBody>
          <a:bodyPr wrap="square">
            <a:spAutoFit/>
          </a:bodyPr>
          <a:lstStyle/>
          <a:p>
            <a:pPr algn="ctr"/>
            <a:r>
              <a:rPr sz="900" b="1" i="0">
                <a:solidFill>
                  <a:srgbClr val="FFFFFF"/>
                </a:solidFill>
                <a:latin typeface="Calibri"/>
              </a:rPr>
              <a:t>Long-term
Living Well</a:t>
            </a:r>
          </a:p>
        </p:txBody>
      </p:sp>
      <p:sp>
        <p:nvSpPr>
          <p:cNvPr id="426" name="TextBox 425"/>
          <p:cNvSpPr txBox="1"/>
          <p:nvPr/>
        </p:nvSpPr>
        <p:spPr>
          <a:xfrm>
            <a:off x="10476738" y="1143000"/>
            <a:ext cx="1355598" cy="256032"/>
          </a:xfrm>
          <a:prstGeom prst="rect">
            <a:avLst/>
          </a:prstGeom>
          <a:noFill/>
        </p:spPr>
        <p:txBody>
          <a:bodyPr wrap="square">
            <a:spAutoFit/>
          </a:bodyPr>
          <a:lstStyle/>
          <a:p>
            <a:pPr algn="ctr"/>
            <a:r>
              <a:rPr sz="800" b="0" i="1">
                <a:solidFill>
                  <a:srgbClr val="CCCCCC"/>
                </a:solidFill>
                <a:latin typeface="Calibri"/>
              </a:rPr>
              <a:t>In Control</a:t>
            </a:r>
          </a:p>
        </p:txBody>
      </p:sp>
      <p:sp>
        <p:nvSpPr>
          <p:cNvPr id="427" name="TextBox 426"/>
          <p:cNvSpPr txBox="1"/>
          <p:nvPr/>
        </p:nvSpPr>
        <p:spPr>
          <a:xfrm>
            <a:off x="438912" y="5212080"/>
            <a:ext cx="4114800" cy="274320"/>
          </a:xfrm>
          <a:prstGeom prst="rect">
            <a:avLst/>
          </a:prstGeom>
          <a:noFill/>
        </p:spPr>
        <p:txBody>
          <a:bodyPr wrap="square">
            <a:spAutoFit/>
          </a:bodyPr>
          <a:lstStyle/>
          <a:p>
            <a:pPr algn="l"/>
            <a:r>
              <a:rPr sz="800" b="0" i="1">
                <a:solidFill>
                  <a:srgbClr val="774455"/>
                </a:solidFill>
                <a:latin typeface="Calibri"/>
              </a:rPr>
              <a:t>Patient experience   ←  Frustration &amp; burden</a:t>
            </a:r>
          </a:p>
        </p:txBody>
      </p:sp>
      <p:sp>
        <p:nvSpPr>
          <p:cNvPr id="428" name="TextBox 427"/>
          <p:cNvSpPr txBox="1"/>
          <p:nvPr/>
        </p:nvSpPr>
        <p:spPr>
          <a:xfrm>
            <a:off x="8988552" y="5212080"/>
            <a:ext cx="2926080" cy="274320"/>
          </a:xfrm>
          <a:prstGeom prst="rect">
            <a:avLst/>
          </a:prstGeom>
          <a:noFill/>
        </p:spPr>
        <p:txBody>
          <a:bodyPr wrap="square">
            <a:spAutoFit/>
          </a:bodyPr>
          <a:lstStyle/>
          <a:p>
            <a:pPr algn="r"/>
            <a:r>
              <a:rPr sz="800" b="0" i="1">
                <a:solidFill>
                  <a:srgbClr val="447755"/>
                </a:solidFill>
                <a:latin typeface="Calibri"/>
              </a:rPr>
              <a:t>Clearance &amp; confidence  →</a:t>
            </a:r>
          </a:p>
        </p:txBody>
      </p:sp>
      <p:sp>
        <p:nvSpPr>
          <p:cNvPr id="429" name="Rectangle 428"/>
          <p:cNvSpPr/>
          <p:nvPr/>
        </p:nvSpPr>
        <p:spPr>
          <a:xfrm>
            <a:off x="9418320" y="2377440"/>
            <a:ext cx="2468880" cy="960120"/>
          </a:xfrm>
          <a:prstGeom prst="roundRect">
            <a:avLst>
              <a:gd name="adj" fmla="val 25000"/>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TextBox 429"/>
          <p:cNvSpPr txBox="1"/>
          <p:nvPr/>
        </p:nvSpPr>
        <p:spPr>
          <a:xfrm>
            <a:off x="9555480" y="2450592"/>
            <a:ext cx="2194560" cy="274320"/>
          </a:xfrm>
          <a:prstGeom prst="rect">
            <a:avLst/>
          </a:prstGeom>
          <a:noFill/>
        </p:spPr>
        <p:txBody>
          <a:bodyPr wrap="square">
            <a:spAutoFit/>
          </a:bodyPr>
          <a:lstStyle/>
          <a:p>
            <a:pPr algn="ctr"/>
            <a:r>
              <a:rPr sz="900" b="1" i="0">
                <a:solidFill>
                  <a:srgbClr val="FFFFFF"/>
                </a:solidFill>
                <a:latin typeface="Calibri"/>
              </a:rPr>
              <a:t>Phase 3:</a:t>
            </a:r>
          </a:p>
        </p:txBody>
      </p:sp>
      <p:sp>
        <p:nvSpPr>
          <p:cNvPr id="431" name="TextBox 430"/>
          <p:cNvSpPr txBox="1"/>
          <p:nvPr/>
        </p:nvSpPr>
        <p:spPr>
          <a:xfrm>
            <a:off x="9555480" y="2697480"/>
            <a:ext cx="2194560" cy="548640"/>
          </a:xfrm>
          <a:prstGeom prst="rect">
            <a:avLst/>
          </a:prstGeom>
          <a:noFill/>
        </p:spPr>
        <p:txBody>
          <a:bodyPr wrap="square">
            <a:spAutoFit/>
          </a:bodyPr>
          <a:lstStyle/>
          <a:p>
            <a:pPr algn="ctr"/>
            <a:r>
              <a:rPr sz="1000" b="1" i="0">
                <a:solidFill>
                  <a:srgbClr val="FFFFFF"/>
                </a:solidFill>
                <a:latin typeface="Calibri"/>
              </a:rPr>
              <a:t>~2× more effective
than current best oral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87552"/>
          </a:xfrm>
          <a:prstGeom prst="rect">
            <a:avLst/>
          </a:prstGeom>
          <a:solidFill>
            <a:srgbClr val="1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46520"/>
            <a:ext cx="12188952" cy="411480"/>
          </a:xfrm>
          <a:prstGeom prst="rect">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
            <a:ext cx="10972800" cy="438912"/>
          </a:xfrm>
          <a:prstGeom prst="rect">
            <a:avLst/>
          </a:prstGeom>
          <a:noFill/>
        </p:spPr>
        <p:txBody>
          <a:bodyPr wrap="square">
            <a:spAutoFit/>
          </a:bodyPr>
          <a:lstStyle/>
          <a:p>
            <a:pPr algn="l"/>
            <a:r>
              <a:rPr sz="1300" b="1" i="0">
                <a:solidFill>
                  <a:srgbClr val="AADDFF"/>
                </a:solidFill>
                <a:latin typeface="Calibri"/>
              </a:rPr>
              <a:t>"FOR YOU WITH YOU: ZASOCITINIB"  ·  App Touchpoints by Journey Stage</a:t>
            </a:r>
          </a:p>
        </p:txBody>
      </p:sp>
      <p:sp>
        <p:nvSpPr>
          <p:cNvPr id="6" name="TextBox 5"/>
          <p:cNvSpPr txBox="1"/>
          <p:nvPr/>
        </p:nvSpPr>
        <p:spPr>
          <a:xfrm>
            <a:off x="457200" y="566928"/>
            <a:ext cx="10972800" cy="347472"/>
          </a:xfrm>
          <a:prstGeom prst="rect">
            <a:avLst/>
          </a:prstGeom>
          <a:noFill/>
        </p:spPr>
        <p:txBody>
          <a:bodyPr wrap="square">
            <a:spAutoFit/>
          </a:bodyPr>
          <a:lstStyle/>
          <a:p>
            <a:pPr algn="l"/>
            <a:r>
              <a:rPr sz="1200" b="0" i="1">
                <a:solidFill>
                  <a:srgbClr val="88AACC"/>
                </a:solidFill>
                <a:latin typeface="Calibri"/>
              </a:rPr>
              <a:t>Feature set grounded in Takeda's For You With You: IBD app — extrapolated to moderate-to-severe plaque psoriasis</a:t>
            </a:r>
          </a:p>
        </p:txBody>
      </p:sp>
      <p:sp>
        <p:nvSpPr>
          <p:cNvPr id="7" name="Rectangle 6"/>
          <p:cNvSpPr/>
          <p:nvPr/>
        </p:nvSpPr>
        <p:spPr>
          <a:xfrm>
            <a:off x="1153287" y="1344168"/>
            <a:ext cx="10001250" cy="731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 y="1060704"/>
            <a:ext cx="1337310" cy="640080"/>
          </a:xfrm>
          <a:prstGeom prst="rect">
            <a:avLst/>
          </a:prstGeom>
          <a:solidFill>
            <a:srgbClr val="782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3776" y="1115568"/>
            <a:ext cx="1245870" cy="548640"/>
          </a:xfrm>
          <a:prstGeom prst="rect">
            <a:avLst/>
          </a:prstGeom>
          <a:noFill/>
        </p:spPr>
        <p:txBody>
          <a:bodyPr wrap="square">
            <a:spAutoFit/>
          </a:bodyPr>
          <a:lstStyle/>
          <a:p>
            <a:pPr algn="ctr"/>
            <a:r>
              <a:rPr sz="900" b="1" i="0">
                <a:solidFill>
                  <a:srgbClr val="FFFFFF"/>
                </a:solidFill>
                <a:latin typeface="Calibri"/>
              </a:rPr>
              <a:t>Living with
Psoriasis</a:t>
            </a:r>
          </a:p>
        </p:txBody>
      </p:sp>
      <p:sp>
        <p:nvSpPr>
          <p:cNvPr id="10" name="Rectangle 9"/>
          <p:cNvSpPr/>
          <p:nvPr/>
        </p:nvSpPr>
        <p:spPr>
          <a:xfrm>
            <a:off x="438912" y="1746504"/>
            <a:ext cx="1337310" cy="3657600"/>
          </a:xfrm>
          <a:prstGeom prst="rect">
            <a:avLst/>
          </a:prstGeom>
          <a:solidFill>
            <a:srgbClr val="FFFFFF"/>
          </a:solidFill>
          <a:ln w="15240">
            <a:solidFill>
              <a:srgbClr val="782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 y="1746504"/>
            <a:ext cx="1337310" cy="256032"/>
          </a:xfrm>
          <a:prstGeom prst="rect">
            <a:avLst/>
          </a:prstGeom>
          <a:solidFill>
            <a:srgbClr val="782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4632" y="1773936"/>
            <a:ext cx="1245870" cy="219456"/>
          </a:xfrm>
          <a:prstGeom prst="rect">
            <a:avLst/>
          </a:prstGeom>
          <a:noFill/>
        </p:spPr>
        <p:txBody>
          <a:bodyPr wrap="square">
            <a:spAutoFit/>
          </a:bodyPr>
          <a:lstStyle/>
          <a:p>
            <a:pPr algn="ctr"/>
            <a:r>
              <a:rPr sz="800" b="1" i="0">
                <a:solidFill>
                  <a:srgbClr val="FFFFFF"/>
                </a:solidFill>
                <a:latin typeface="Calibri"/>
              </a:rPr>
              <a:t>Unmet Need</a:t>
            </a:r>
          </a:p>
        </p:txBody>
      </p:sp>
      <p:sp>
        <p:nvSpPr>
          <p:cNvPr id="13" name="Oval 12"/>
          <p:cNvSpPr/>
          <p:nvPr/>
        </p:nvSpPr>
        <p:spPr>
          <a:xfrm>
            <a:off x="521208" y="2313066"/>
            <a:ext cx="128016" cy="128016"/>
          </a:xfrm>
          <a:prstGeom prst="ellipse">
            <a:avLst/>
          </a:prstGeom>
          <a:solidFill>
            <a:srgbClr val="782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075688"/>
            <a:ext cx="1008126" cy="786384"/>
          </a:xfrm>
          <a:prstGeom prst="rect">
            <a:avLst/>
          </a:prstGeom>
          <a:noFill/>
        </p:spPr>
        <p:txBody>
          <a:bodyPr wrap="square">
            <a:spAutoFit/>
          </a:bodyPr>
          <a:lstStyle/>
          <a:p>
            <a:pPr algn="l"/>
            <a:r>
              <a:rPr sz="800" b="0" i="0">
                <a:solidFill>
                  <a:srgbClr val="444455"/>
                </a:solidFill>
                <a:latin typeface="Calibri"/>
              </a:rPr>
              <a:t>Uncontrolled itch, visible plaques affecting QoL</a:t>
            </a:r>
          </a:p>
        </p:txBody>
      </p:sp>
      <p:sp>
        <p:nvSpPr>
          <p:cNvPr id="15" name="Oval 14"/>
          <p:cNvSpPr/>
          <p:nvPr/>
        </p:nvSpPr>
        <p:spPr>
          <a:xfrm>
            <a:off x="521208" y="3154314"/>
            <a:ext cx="128016" cy="128016"/>
          </a:xfrm>
          <a:prstGeom prst="ellipse">
            <a:avLst/>
          </a:prstGeom>
          <a:solidFill>
            <a:srgbClr val="782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916936"/>
            <a:ext cx="1008126" cy="786384"/>
          </a:xfrm>
          <a:prstGeom prst="rect">
            <a:avLst/>
          </a:prstGeom>
          <a:noFill/>
        </p:spPr>
        <p:txBody>
          <a:bodyPr wrap="square">
            <a:spAutoFit/>
          </a:bodyPr>
          <a:lstStyle/>
          <a:p>
            <a:pPr algn="l"/>
            <a:r>
              <a:rPr sz="800" b="0" i="0">
                <a:solidFill>
                  <a:srgbClr val="444455"/>
                </a:solidFill>
                <a:latin typeface="Calibri"/>
              </a:rPr>
              <a:t>Average 2+ failed treatments before biologics or TYK2i</a:t>
            </a:r>
          </a:p>
        </p:txBody>
      </p:sp>
      <p:sp>
        <p:nvSpPr>
          <p:cNvPr id="17" name="Oval 16"/>
          <p:cNvSpPr/>
          <p:nvPr/>
        </p:nvSpPr>
        <p:spPr>
          <a:xfrm>
            <a:off x="521208" y="3995562"/>
            <a:ext cx="128016" cy="128016"/>
          </a:xfrm>
          <a:prstGeom prst="ellipse">
            <a:avLst/>
          </a:prstGeom>
          <a:solidFill>
            <a:srgbClr val="782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758184"/>
            <a:ext cx="1008126" cy="786384"/>
          </a:xfrm>
          <a:prstGeom prst="rect">
            <a:avLst/>
          </a:prstGeom>
          <a:noFill/>
        </p:spPr>
        <p:txBody>
          <a:bodyPr wrap="square">
            <a:spAutoFit/>
          </a:bodyPr>
          <a:lstStyle/>
          <a:p>
            <a:pPr algn="l"/>
            <a:r>
              <a:rPr sz="800" b="0" i="0">
                <a:solidFill>
                  <a:srgbClr val="444455"/>
                </a:solidFill>
                <a:latin typeface="Calibri"/>
              </a:rPr>
              <a:t>DLQI often &gt;10 — significant life impairment</a:t>
            </a:r>
          </a:p>
        </p:txBody>
      </p:sp>
      <p:sp>
        <p:nvSpPr>
          <p:cNvPr id="19" name="Oval 18"/>
          <p:cNvSpPr/>
          <p:nvPr/>
        </p:nvSpPr>
        <p:spPr>
          <a:xfrm>
            <a:off x="521208" y="4836810"/>
            <a:ext cx="128016" cy="128016"/>
          </a:xfrm>
          <a:prstGeom prst="ellipse">
            <a:avLst/>
          </a:prstGeom>
          <a:solidFill>
            <a:srgbClr val="782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599432"/>
            <a:ext cx="1008126" cy="786384"/>
          </a:xfrm>
          <a:prstGeom prst="rect">
            <a:avLst/>
          </a:prstGeom>
          <a:noFill/>
        </p:spPr>
        <p:txBody>
          <a:bodyPr wrap="square">
            <a:spAutoFit/>
          </a:bodyPr>
          <a:lstStyle/>
          <a:p>
            <a:pPr algn="l"/>
            <a:r>
              <a:rPr sz="800" b="0" i="0">
                <a:solidFill>
                  <a:srgbClr val="444455"/>
                </a:solidFill>
                <a:latin typeface="Calibri"/>
              </a:rPr>
              <a:t>Social withdrawal, anxiety, lost confidence</a:t>
            </a:r>
          </a:p>
        </p:txBody>
      </p:sp>
      <p:sp>
        <p:nvSpPr>
          <p:cNvPr id="21" name="Rectangle 20"/>
          <p:cNvSpPr/>
          <p:nvPr/>
        </p:nvSpPr>
        <p:spPr>
          <a:xfrm>
            <a:off x="438912" y="5522976"/>
            <a:ext cx="1337310" cy="658368"/>
          </a:xfrm>
          <a:prstGeom prst="roundRect">
            <a:avLst>
              <a:gd name="adj" fmla="val 25000"/>
            </a:avLst>
          </a:prstGeom>
          <a:solidFill>
            <a:srgbClr val="DD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67662" y="1060704"/>
            <a:ext cx="1337310" cy="640080"/>
          </a:xfrm>
          <a:prstGeom prst="rect">
            <a:avLst/>
          </a:prstGeom>
          <a:solidFill>
            <a:srgbClr val="E64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922526" y="1115568"/>
            <a:ext cx="1245870" cy="548640"/>
          </a:xfrm>
          <a:prstGeom prst="rect">
            <a:avLst/>
          </a:prstGeom>
          <a:noFill/>
        </p:spPr>
        <p:txBody>
          <a:bodyPr wrap="square">
            <a:spAutoFit/>
          </a:bodyPr>
          <a:lstStyle/>
          <a:p>
            <a:pPr algn="ctr"/>
            <a:r>
              <a:rPr sz="900" b="1" i="0">
                <a:solidFill>
                  <a:srgbClr val="FFFFFF"/>
                </a:solidFill>
                <a:latin typeface="Calibri"/>
              </a:rPr>
              <a:t>Dermatologist
Visit</a:t>
            </a:r>
          </a:p>
        </p:txBody>
      </p:sp>
      <p:sp>
        <p:nvSpPr>
          <p:cNvPr id="24" name="Rectangle 23"/>
          <p:cNvSpPr/>
          <p:nvPr/>
        </p:nvSpPr>
        <p:spPr>
          <a:xfrm>
            <a:off x="1867662" y="1746504"/>
            <a:ext cx="1337310" cy="3657600"/>
          </a:xfrm>
          <a:prstGeom prst="rect">
            <a:avLst/>
          </a:prstGeom>
          <a:solidFill>
            <a:srgbClr val="FFFFFF"/>
          </a:solidFill>
          <a:ln w="15240">
            <a:solidFill>
              <a:srgbClr val="E64A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67662" y="1746504"/>
            <a:ext cx="1337310" cy="256032"/>
          </a:xfrm>
          <a:prstGeom prst="rect">
            <a:avLst/>
          </a:prstGeom>
          <a:solidFill>
            <a:srgbClr val="E64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913382" y="1773936"/>
            <a:ext cx="1245870" cy="219456"/>
          </a:xfrm>
          <a:prstGeom prst="rect">
            <a:avLst/>
          </a:prstGeom>
          <a:noFill/>
        </p:spPr>
        <p:txBody>
          <a:bodyPr wrap="square">
            <a:spAutoFit/>
          </a:bodyPr>
          <a:lstStyle/>
          <a:p>
            <a:pPr algn="ctr"/>
            <a:r>
              <a:rPr sz="800" b="1" i="0">
                <a:solidFill>
                  <a:srgbClr val="FFFFFF"/>
                </a:solidFill>
                <a:latin typeface="Calibri"/>
              </a:rPr>
              <a:t>Enrolment</a:t>
            </a:r>
          </a:p>
        </p:txBody>
      </p:sp>
      <p:sp>
        <p:nvSpPr>
          <p:cNvPr id="27" name="Oval 26"/>
          <p:cNvSpPr/>
          <p:nvPr/>
        </p:nvSpPr>
        <p:spPr>
          <a:xfrm>
            <a:off x="1949958" y="2313066"/>
            <a:ext cx="128016" cy="128016"/>
          </a:xfrm>
          <a:prstGeom prst="ellipse">
            <a:avLst/>
          </a:prstGeom>
          <a:solidFill>
            <a:srgbClr val="E64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114550" y="2075688"/>
            <a:ext cx="1008126" cy="786384"/>
          </a:xfrm>
          <a:prstGeom prst="rect">
            <a:avLst/>
          </a:prstGeom>
          <a:noFill/>
        </p:spPr>
        <p:txBody>
          <a:bodyPr wrap="square">
            <a:spAutoFit/>
          </a:bodyPr>
          <a:lstStyle/>
          <a:p>
            <a:pPr algn="l"/>
            <a:r>
              <a:rPr sz="800" b="0" i="0">
                <a:solidFill>
                  <a:srgbClr val="444455"/>
                </a:solidFill>
                <a:latin typeface="Calibri"/>
              </a:rPr>
              <a:t>Clinical PASI &amp; IGA assessed by dermatologist</a:t>
            </a:r>
          </a:p>
        </p:txBody>
      </p:sp>
      <p:sp>
        <p:nvSpPr>
          <p:cNvPr id="29" name="Oval 28"/>
          <p:cNvSpPr/>
          <p:nvPr/>
        </p:nvSpPr>
        <p:spPr>
          <a:xfrm>
            <a:off x="1949958" y="3154314"/>
            <a:ext cx="128016" cy="128016"/>
          </a:xfrm>
          <a:prstGeom prst="ellipse">
            <a:avLst/>
          </a:prstGeom>
          <a:solidFill>
            <a:srgbClr val="E64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114550" y="2916936"/>
            <a:ext cx="1008126" cy="786384"/>
          </a:xfrm>
          <a:prstGeom prst="rect">
            <a:avLst/>
          </a:prstGeom>
          <a:noFill/>
        </p:spPr>
        <p:txBody>
          <a:bodyPr wrap="square">
            <a:spAutoFit/>
          </a:bodyPr>
          <a:lstStyle/>
          <a:p>
            <a:pPr algn="l"/>
            <a:r>
              <a:rPr sz="800" b="0" i="0">
                <a:solidFill>
                  <a:srgbClr val="444455"/>
                </a:solidFill>
                <a:latin typeface="Calibri"/>
              </a:rPr>
              <a:t>Zasocitinib prescribed — once-daily oral TYK2 inhibitor</a:t>
            </a:r>
          </a:p>
        </p:txBody>
      </p:sp>
      <p:sp>
        <p:nvSpPr>
          <p:cNvPr id="31" name="Oval 30"/>
          <p:cNvSpPr/>
          <p:nvPr/>
        </p:nvSpPr>
        <p:spPr>
          <a:xfrm>
            <a:off x="1949958" y="3995562"/>
            <a:ext cx="128016" cy="128016"/>
          </a:xfrm>
          <a:prstGeom prst="ellipse">
            <a:avLst/>
          </a:prstGeom>
          <a:solidFill>
            <a:srgbClr val="E64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14550" y="3758184"/>
            <a:ext cx="1008126" cy="786384"/>
          </a:xfrm>
          <a:prstGeom prst="rect">
            <a:avLst/>
          </a:prstGeom>
          <a:noFill/>
        </p:spPr>
        <p:txBody>
          <a:bodyPr wrap="square">
            <a:spAutoFit/>
          </a:bodyPr>
          <a:lstStyle/>
          <a:p>
            <a:pPr algn="l"/>
            <a:r>
              <a:rPr sz="800" b="0" i="0">
                <a:solidFill>
                  <a:srgbClr val="444455"/>
                </a:solidFill>
                <a:latin typeface="Calibri"/>
              </a:rPr>
              <a:t>HCP recommends "For You With You: Psoriasis" app</a:t>
            </a:r>
          </a:p>
        </p:txBody>
      </p:sp>
      <p:sp>
        <p:nvSpPr>
          <p:cNvPr id="33" name="Oval 32"/>
          <p:cNvSpPr/>
          <p:nvPr/>
        </p:nvSpPr>
        <p:spPr>
          <a:xfrm>
            <a:off x="1949958" y="4836810"/>
            <a:ext cx="128016" cy="128016"/>
          </a:xfrm>
          <a:prstGeom prst="ellipse">
            <a:avLst/>
          </a:prstGeom>
          <a:solidFill>
            <a:srgbClr val="E64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114550" y="4599432"/>
            <a:ext cx="1008126" cy="786384"/>
          </a:xfrm>
          <a:prstGeom prst="rect">
            <a:avLst/>
          </a:prstGeom>
          <a:noFill/>
        </p:spPr>
        <p:txBody>
          <a:bodyPr wrap="square">
            <a:spAutoFit/>
          </a:bodyPr>
          <a:lstStyle/>
          <a:p>
            <a:pPr algn="l"/>
            <a:r>
              <a:rPr sz="800" b="0" i="0">
                <a:solidFill>
                  <a:srgbClr val="444455"/>
                </a:solidFill>
                <a:latin typeface="Calibri"/>
              </a:rPr>
              <a:t>Patient enrolled in Takeda companion programme; access support initiated</a:t>
            </a:r>
          </a:p>
        </p:txBody>
      </p:sp>
      <p:sp>
        <p:nvSpPr>
          <p:cNvPr id="35" name="Rectangle 34"/>
          <p:cNvSpPr/>
          <p:nvPr/>
        </p:nvSpPr>
        <p:spPr>
          <a:xfrm>
            <a:off x="1867662" y="5522976"/>
            <a:ext cx="1337310" cy="658368"/>
          </a:xfrm>
          <a:prstGeom prst="roundRect">
            <a:avLst>
              <a:gd name="adj" fmla="val 25000"/>
            </a:avLst>
          </a:prstGeom>
          <a:solidFill>
            <a:srgbClr val="1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922526" y="5559552"/>
            <a:ext cx="1245870" cy="274320"/>
          </a:xfrm>
          <a:prstGeom prst="rect">
            <a:avLst/>
          </a:prstGeom>
          <a:noFill/>
        </p:spPr>
        <p:txBody>
          <a:bodyPr wrap="square">
            <a:spAutoFit/>
          </a:bodyPr>
          <a:lstStyle/>
          <a:p>
            <a:pPr algn="ctr"/>
            <a:r>
              <a:rPr sz="700" b="1" i="0">
                <a:solidFill>
                  <a:srgbClr val="00A1E0"/>
                </a:solidFill>
                <a:latin typeface="Calibri"/>
              </a:rPr>
              <a:t>Health Cloud</a:t>
            </a:r>
          </a:p>
        </p:txBody>
      </p:sp>
      <p:sp>
        <p:nvSpPr>
          <p:cNvPr id="37" name="TextBox 36"/>
          <p:cNvSpPr txBox="1"/>
          <p:nvPr/>
        </p:nvSpPr>
        <p:spPr>
          <a:xfrm>
            <a:off x="1922526" y="5815584"/>
            <a:ext cx="1245870" cy="310896"/>
          </a:xfrm>
          <a:prstGeom prst="rect">
            <a:avLst/>
          </a:prstGeom>
          <a:noFill/>
        </p:spPr>
        <p:txBody>
          <a:bodyPr wrap="square">
            <a:spAutoFit/>
          </a:bodyPr>
          <a:lstStyle/>
          <a:p>
            <a:pPr algn="ctr"/>
            <a:r>
              <a:rPr sz="700" b="0" i="0">
                <a:solidFill>
                  <a:srgbClr val="88AACC"/>
                </a:solidFill>
                <a:latin typeface="Calibri"/>
              </a:rPr>
              <a:t>Patient profile created in Health Cloud;
HCP-patient relationship established</a:t>
            </a:r>
          </a:p>
        </p:txBody>
      </p:sp>
      <p:sp>
        <p:nvSpPr>
          <p:cNvPr id="38" name="Rectangle 37"/>
          <p:cNvSpPr/>
          <p:nvPr/>
        </p:nvSpPr>
        <p:spPr>
          <a:xfrm>
            <a:off x="3296412" y="1060704"/>
            <a:ext cx="1337310" cy="640080"/>
          </a:xfrm>
          <a:prstGeom prst="rect">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351276" y="1115568"/>
            <a:ext cx="1245870" cy="548640"/>
          </a:xfrm>
          <a:prstGeom prst="rect">
            <a:avLst/>
          </a:prstGeom>
          <a:noFill/>
        </p:spPr>
        <p:txBody>
          <a:bodyPr wrap="square">
            <a:spAutoFit/>
          </a:bodyPr>
          <a:lstStyle/>
          <a:p>
            <a:pPr algn="ctr"/>
            <a:r>
              <a:rPr sz="900" b="1" i="0">
                <a:solidFill>
                  <a:srgbClr val="FFFFFF"/>
                </a:solidFill>
                <a:latin typeface="Calibri"/>
              </a:rPr>
              <a:t>App
Onboarding</a:t>
            </a:r>
          </a:p>
        </p:txBody>
      </p:sp>
      <p:sp>
        <p:nvSpPr>
          <p:cNvPr id="40" name="Rectangle 39"/>
          <p:cNvSpPr/>
          <p:nvPr/>
        </p:nvSpPr>
        <p:spPr>
          <a:xfrm>
            <a:off x="3296412" y="1746504"/>
            <a:ext cx="1337310" cy="3657600"/>
          </a:xfrm>
          <a:prstGeom prst="rect">
            <a:avLst/>
          </a:prstGeom>
          <a:solidFill>
            <a:srgbClr val="FFFFFF"/>
          </a:solidFill>
          <a:ln w="15240">
            <a:solidFill>
              <a:srgbClr val="FFA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296412" y="1746504"/>
            <a:ext cx="1337310" cy="256032"/>
          </a:xfrm>
          <a:prstGeom prst="rect">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342132" y="1773936"/>
            <a:ext cx="1245870" cy="219456"/>
          </a:xfrm>
          <a:prstGeom prst="rect">
            <a:avLst/>
          </a:prstGeom>
          <a:noFill/>
        </p:spPr>
        <p:txBody>
          <a:bodyPr wrap="square">
            <a:spAutoFit/>
          </a:bodyPr>
          <a:lstStyle/>
          <a:p>
            <a:pPr algn="ctr"/>
            <a:r>
              <a:rPr sz="800" b="1" i="0">
                <a:solidFill>
                  <a:srgbClr val="FFFFFF"/>
                </a:solidFill>
                <a:latin typeface="Calibri"/>
              </a:rPr>
              <a:t>Baseline</a:t>
            </a:r>
          </a:p>
        </p:txBody>
      </p:sp>
      <p:sp>
        <p:nvSpPr>
          <p:cNvPr id="43" name="Oval 42"/>
          <p:cNvSpPr/>
          <p:nvPr/>
        </p:nvSpPr>
        <p:spPr>
          <a:xfrm>
            <a:off x="3378708" y="2313066"/>
            <a:ext cx="128016" cy="128016"/>
          </a:xfrm>
          <a:prstGeom prst="ellipse">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543300" y="2075688"/>
            <a:ext cx="1008126" cy="786384"/>
          </a:xfrm>
          <a:prstGeom prst="rect">
            <a:avLst/>
          </a:prstGeom>
          <a:noFill/>
        </p:spPr>
        <p:txBody>
          <a:bodyPr wrap="square">
            <a:spAutoFit/>
          </a:bodyPr>
          <a:lstStyle/>
          <a:p>
            <a:pPr algn="l"/>
            <a:r>
              <a:rPr sz="800" b="0" i="0">
                <a:solidFill>
                  <a:srgbClr val="444455"/>
                </a:solidFill>
                <a:latin typeface="Calibri"/>
              </a:rPr>
              <a:t>Profile setup: condition history, current severity, goals</a:t>
            </a:r>
          </a:p>
        </p:txBody>
      </p:sp>
      <p:sp>
        <p:nvSpPr>
          <p:cNvPr id="45" name="Oval 44"/>
          <p:cNvSpPr/>
          <p:nvPr/>
        </p:nvSpPr>
        <p:spPr>
          <a:xfrm>
            <a:off x="3378708" y="3154314"/>
            <a:ext cx="128016" cy="128016"/>
          </a:xfrm>
          <a:prstGeom prst="ellipse">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543300" y="2916936"/>
            <a:ext cx="1008126" cy="786384"/>
          </a:xfrm>
          <a:prstGeom prst="rect">
            <a:avLst/>
          </a:prstGeom>
          <a:noFill/>
        </p:spPr>
        <p:txBody>
          <a:bodyPr wrap="square">
            <a:spAutoFit/>
          </a:bodyPr>
          <a:lstStyle/>
          <a:p>
            <a:pPr algn="l"/>
            <a:r>
              <a:rPr sz="800" b="0" i="0">
                <a:solidFill>
                  <a:srgbClr val="444455"/>
                </a:solidFill>
                <a:latin typeface="Calibri"/>
              </a:rPr>
              <a:t>Baseline photo diary capture — full body map annotation</a:t>
            </a:r>
          </a:p>
        </p:txBody>
      </p:sp>
      <p:sp>
        <p:nvSpPr>
          <p:cNvPr id="47" name="Oval 46"/>
          <p:cNvSpPr/>
          <p:nvPr/>
        </p:nvSpPr>
        <p:spPr>
          <a:xfrm>
            <a:off x="3378708" y="3995562"/>
            <a:ext cx="128016" cy="128016"/>
          </a:xfrm>
          <a:prstGeom prst="ellipse">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543300" y="3758184"/>
            <a:ext cx="1008126" cy="786384"/>
          </a:xfrm>
          <a:prstGeom prst="rect">
            <a:avLst/>
          </a:prstGeom>
          <a:noFill/>
        </p:spPr>
        <p:txBody>
          <a:bodyPr wrap="square">
            <a:spAutoFit/>
          </a:bodyPr>
          <a:lstStyle/>
          <a:p>
            <a:pPr algn="l"/>
            <a:r>
              <a:rPr sz="800" b="0" i="0">
                <a:solidFill>
                  <a:srgbClr val="444455"/>
                </a:solidFill>
                <a:latin typeface="Calibri"/>
              </a:rPr>
              <a:t>Itch NRS (0–10) &amp; BSA self-assessment scored and stored</a:t>
            </a:r>
          </a:p>
        </p:txBody>
      </p:sp>
      <p:sp>
        <p:nvSpPr>
          <p:cNvPr id="49" name="Oval 48"/>
          <p:cNvSpPr/>
          <p:nvPr/>
        </p:nvSpPr>
        <p:spPr>
          <a:xfrm>
            <a:off x="3378708" y="4836810"/>
            <a:ext cx="128016" cy="128016"/>
          </a:xfrm>
          <a:prstGeom prst="ellipse">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543300" y="4599432"/>
            <a:ext cx="1008126" cy="786384"/>
          </a:xfrm>
          <a:prstGeom prst="rect">
            <a:avLst/>
          </a:prstGeom>
          <a:noFill/>
        </p:spPr>
        <p:txBody>
          <a:bodyPr wrap="square">
            <a:spAutoFit/>
          </a:bodyPr>
          <a:lstStyle/>
          <a:p>
            <a:pPr algn="l"/>
            <a:r>
              <a:rPr sz="800" b="0" i="0">
                <a:solidFill>
                  <a:srgbClr val="444455"/>
                </a:solidFill>
                <a:latin typeface="Calibri"/>
              </a:rPr>
              <a:t>Dose reminder set; notification preferences confirmed</a:t>
            </a:r>
          </a:p>
        </p:txBody>
      </p:sp>
      <p:sp>
        <p:nvSpPr>
          <p:cNvPr id="51" name="Rectangle 50"/>
          <p:cNvSpPr/>
          <p:nvPr/>
        </p:nvSpPr>
        <p:spPr>
          <a:xfrm>
            <a:off x="3296412" y="5522976"/>
            <a:ext cx="1337310" cy="658368"/>
          </a:xfrm>
          <a:prstGeom prst="roundRect">
            <a:avLst>
              <a:gd name="adj" fmla="val 25000"/>
            </a:avLst>
          </a:prstGeom>
          <a:solidFill>
            <a:srgbClr val="1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351276" y="5559552"/>
            <a:ext cx="1245870" cy="274320"/>
          </a:xfrm>
          <a:prstGeom prst="rect">
            <a:avLst/>
          </a:prstGeom>
          <a:noFill/>
        </p:spPr>
        <p:txBody>
          <a:bodyPr wrap="square">
            <a:spAutoFit/>
          </a:bodyPr>
          <a:lstStyle/>
          <a:p>
            <a:pPr algn="ctr"/>
            <a:r>
              <a:rPr sz="700" b="1" i="0">
                <a:solidFill>
                  <a:srgbClr val="00A1E0"/>
                </a:solidFill>
                <a:latin typeface="Calibri"/>
              </a:rPr>
              <a:t>Health Cloud + Data Cloud</a:t>
            </a:r>
          </a:p>
        </p:txBody>
      </p:sp>
      <p:sp>
        <p:nvSpPr>
          <p:cNvPr id="53" name="TextBox 52"/>
          <p:cNvSpPr txBox="1"/>
          <p:nvPr/>
        </p:nvSpPr>
        <p:spPr>
          <a:xfrm>
            <a:off x="3351276" y="5815584"/>
            <a:ext cx="1245870" cy="310896"/>
          </a:xfrm>
          <a:prstGeom prst="rect">
            <a:avLst/>
          </a:prstGeom>
          <a:noFill/>
        </p:spPr>
        <p:txBody>
          <a:bodyPr wrap="square">
            <a:spAutoFit/>
          </a:bodyPr>
          <a:lstStyle/>
          <a:p>
            <a:pPr algn="ctr"/>
            <a:r>
              <a:rPr sz="700" b="0" i="0">
                <a:solidFill>
                  <a:srgbClr val="88AACC"/>
                </a:solidFill>
                <a:latin typeface="Calibri"/>
              </a:rPr>
              <a:t>Baseline patient record unified;
Data Cloud ingests first symptom data</a:t>
            </a:r>
          </a:p>
        </p:txBody>
      </p:sp>
      <p:sp>
        <p:nvSpPr>
          <p:cNvPr id="54" name="Rectangle 53"/>
          <p:cNvSpPr/>
          <p:nvPr/>
        </p:nvSpPr>
        <p:spPr>
          <a:xfrm>
            <a:off x="4725162" y="1060704"/>
            <a:ext cx="1337310" cy="640080"/>
          </a:xfrm>
          <a:prstGeom prst="rect">
            <a:avLst/>
          </a:prstGeom>
          <a:solidFill>
            <a:srgbClr val="00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780026" y="1115568"/>
            <a:ext cx="1245870" cy="548640"/>
          </a:xfrm>
          <a:prstGeom prst="rect">
            <a:avLst/>
          </a:prstGeom>
          <a:noFill/>
        </p:spPr>
        <p:txBody>
          <a:bodyPr wrap="square">
            <a:spAutoFit/>
          </a:bodyPr>
          <a:lstStyle/>
          <a:p>
            <a:pPr algn="ctr"/>
            <a:r>
              <a:rPr sz="900" b="1" i="0">
                <a:solidFill>
                  <a:srgbClr val="FFFFFF"/>
                </a:solidFill>
                <a:latin typeface="Calibri"/>
              </a:rPr>
              <a:t>First Dose &amp;
Early Weeks</a:t>
            </a:r>
          </a:p>
        </p:txBody>
      </p:sp>
      <p:sp>
        <p:nvSpPr>
          <p:cNvPr id="56" name="Rectangle 55"/>
          <p:cNvSpPr/>
          <p:nvPr/>
        </p:nvSpPr>
        <p:spPr>
          <a:xfrm>
            <a:off x="4725162" y="1746504"/>
            <a:ext cx="1337310" cy="3657600"/>
          </a:xfrm>
          <a:prstGeom prst="rect">
            <a:avLst/>
          </a:prstGeom>
          <a:solidFill>
            <a:srgbClr val="FFFFFF"/>
          </a:solidFill>
          <a:ln w="15240">
            <a:solidFill>
              <a:srgbClr val="006E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725162" y="1746504"/>
            <a:ext cx="1337310" cy="256032"/>
          </a:xfrm>
          <a:prstGeom prst="rect">
            <a:avLst/>
          </a:prstGeom>
          <a:solidFill>
            <a:srgbClr val="00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770882" y="1773936"/>
            <a:ext cx="1245870" cy="219456"/>
          </a:xfrm>
          <a:prstGeom prst="rect">
            <a:avLst/>
          </a:prstGeom>
          <a:noFill/>
        </p:spPr>
        <p:txBody>
          <a:bodyPr wrap="square">
            <a:spAutoFit/>
          </a:bodyPr>
          <a:lstStyle/>
          <a:p>
            <a:pPr algn="ctr"/>
            <a:r>
              <a:rPr sz="800" b="1" i="0">
                <a:solidFill>
                  <a:srgbClr val="FFFFFF"/>
                </a:solidFill>
                <a:latin typeface="Calibri"/>
              </a:rPr>
              <a:t>Adherence</a:t>
            </a:r>
          </a:p>
        </p:txBody>
      </p:sp>
      <p:sp>
        <p:nvSpPr>
          <p:cNvPr id="59" name="Oval 58"/>
          <p:cNvSpPr/>
          <p:nvPr/>
        </p:nvSpPr>
        <p:spPr>
          <a:xfrm>
            <a:off x="4807458" y="2249131"/>
            <a:ext cx="128016" cy="128016"/>
          </a:xfrm>
          <a:prstGeom prst="ellipse">
            <a:avLst/>
          </a:prstGeom>
          <a:solidFill>
            <a:srgbClr val="00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972050" y="2075688"/>
            <a:ext cx="1008126" cy="618134"/>
          </a:xfrm>
          <a:prstGeom prst="rect">
            <a:avLst/>
          </a:prstGeom>
          <a:noFill/>
        </p:spPr>
        <p:txBody>
          <a:bodyPr wrap="square">
            <a:spAutoFit/>
          </a:bodyPr>
          <a:lstStyle/>
          <a:p>
            <a:pPr algn="l"/>
            <a:r>
              <a:rPr sz="800" b="0" i="0">
                <a:solidFill>
                  <a:srgbClr val="444455"/>
                </a:solidFill>
                <a:latin typeface="Calibri"/>
              </a:rPr>
              <a:t>Daily dose confirmation tap + streak counter</a:t>
            </a:r>
          </a:p>
        </p:txBody>
      </p:sp>
      <p:sp>
        <p:nvSpPr>
          <p:cNvPr id="61" name="Oval 60"/>
          <p:cNvSpPr/>
          <p:nvPr/>
        </p:nvSpPr>
        <p:spPr>
          <a:xfrm>
            <a:off x="4807458" y="2922129"/>
            <a:ext cx="128016" cy="128016"/>
          </a:xfrm>
          <a:prstGeom prst="ellipse">
            <a:avLst/>
          </a:prstGeom>
          <a:solidFill>
            <a:srgbClr val="00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972050" y="2748686"/>
            <a:ext cx="1008126" cy="618134"/>
          </a:xfrm>
          <a:prstGeom prst="rect">
            <a:avLst/>
          </a:prstGeom>
          <a:noFill/>
        </p:spPr>
        <p:txBody>
          <a:bodyPr wrap="square">
            <a:spAutoFit/>
          </a:bodyPr>
          <a:lstStyle/>
          <a:p>
            <a:pPr algn="l"/>
            <a:r>
              <a:rPr sz="800" b="0" i="0">
                <a:solidFill>
                  <a:srgbClr val="444455"/>
                </a:solidFill>
                <a:latin typeface="Calibri"/>
              </a:rPr>
              <a:t>Itch diary: morning &amp; evening NRS scores logged daily</a:t>
            </a:r>
          </a:p>
        </p:txBody>
      </p:sp>
      <p:sp>
        <p:nvSpPr>
          <p:cNvPr id="63" name="Oval 62"/>
          <p:cNvSpPr/>
          <p:nvPr/>
        </p:nvSpPr>
        <p:spPr>
          <a:xfrm>
            <a:off x="4807458" y="3595128"/>
            <a:ext cx="128016" cy="128016"/>
          </a:xfrm>
          <a:prstGeom prst="ellipse">
            <a:avLst/>
          </a:prstGeom>
          <a:solidFill>
            <a:srgbClr val="00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972050" y="3421684"/>
            <a:ext cx="1008126" cy="618134"/>
          </a:xfrm>
          <a:prstGeom prst="rect">
            <a:avLst/>
          </a:prstGeom>
          <a:noFill/>
        </p:spPr>
        <p:txBody>
          <a:bodyPr wrap="square">
            <a:spAutoFit/>
          </a:bodyPr>
          <a:lstStyle/>
          <a:p>
            <a:pPr algn="l"/>
            <a:r>
              <a:rPr sz="800" b="0" i="0">
                <a:solidFill>
                  <a:srgbClr val="444455"/>
                </a:solidFill>
                <a:latin typeface="Calibri"/>
              </a:rPr>
              <a:t>Side-effect check-in module (extrapolated from IBD flare monitor)</a:t>
            </a:r>
          </a:p>
        </p:txBody>
      </p:sp>
      <p:sp>
        <p:nvSpPr>
          <p:cNvPr id="65" name="Oval 64"/>
          <p:cNvSpPr/>
          <p:nvPr/>
        </p:nvSpPr>
        <p:spPr>
          <a:xfrm>
            <a:off x="4807458" y="4268126"/>
            <a:ext cx="128016" cy="128016"/>
          </a:xfrm>
          <a:prstGeom prst="ellipse">
            <a:avLst/>
          </a:prstGeom>
          <a:solidFill>
            <a:srgbClr val="00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972050" y="4094683"/>
            <a:ext cx="1008126" cy="618134"/>
          </a:xfrm>
          <a:prstGeom prst="rect">
            <a:avLst/>
          </a:prstGeom>
          <a:noFill/>
        </p:spPr>
        <p:txBody>
          <a:bodyPr wrap="square">
            <a:spAutoFit/>
          </a:bodyPr>
          <a:lstStyle/>
          <a:p>
            <a:pPr algn="l"/>
            <a:r>
              <a:rPr sz="800" b="0" i="0">
                <a:solidFill>
                  <a:srgbClr val="444455"/>
                </a:solidFill>
                <a:latin typeface="Calibri"/>
              </a:rPr>
              <a:t>Education push: 'What TYK2 inhibition does in your skin — week by week'</a:t>
            </a:r>
          </a:p>
        </p:txBody>
      </p:sp>
      <p:sp>
        <p:nvSpPr>
          <p:cNvPr id="67" name="Oval 66"/>
          <p:cNvSpPr/>
          <p:nvPr/>
        </p:nvSpPr>
        <p:spPr>
          <a:xfrm>
            <a:off x="4807458" y="4941124"/>
            <a:ext cx="128016" cy="128016"/>
          </a:xfrm>
          <a:prstGeom prst="ellipse">
            <a:avLst/>
          </a:prstGeom>
          <a:solidFill>
            <a:srgbClr val="00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972050" y="4767681"/>
            <a:ext cx="1008126" cy="618134"/>
          </a:xfrm>
          <a:prstGeom prst="rect">
            <a:avLst/>
          </a:prstGeom>
          <a:noFill/>
        </p:spPr>
        <p:txBody>
          <a:bodyPr wrap="square">
            <a:spAutoFit/>
          </a:bodyPr>
          <a:lstStyle/>
          <a:p>
            <a:pPr algn="l"/>
            <a:r>
              <a:rPr sz="800" b="0" i="0">
                <a:solidFill>
                  <a:srgbClr val="444455"/>
                </a:solidFill>
                <a:latin typeface="Calibri"/>
              </a:rPr>
              <a:t>Agentforce AI available 24/7 for questions; escalates to nurse line</a:t>
            </a:r>
          </a:p>
        </p:txBody>
      </p:sp>
      <p:sp>
        <p:nvSpPr>
          <p:cNvPr id="69" name="Rectangle 68"/>
          <p:cNvSpPr/>
          <p:nvPr/>
        </p:nvSpPr>
        <p:spPr>
          <a:xfrm>
            <a:off x="4725162" y="5522976"/>
            <a:ext cx="1337310" cy="658368"/>
          </a:xfrm>
          <a:prstGeom prst="roundRect">
            <a:avLst>
              <a:gd name="adj" fmla="val 25000"/>
            </a:avLst>
          </a:prstGeom>
          <a:solidFill>
            <a:srgbClr val="1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780026" y="5559552"/>
            <a:ext cx="1245870" cy="274320"/>
          </a:xfrm>
          <a:prstGeom prst="rect">
            <a:avLst/>
          </a:prstGeom>
          <a:noFill/>
        </p:spPr>
        <p:txBody>
          <a:bodyPr wrap="square">
            <a:spAutoFit/>
          </a:bodyPr>
          <a:lstStyle/>
          <a:p>
            <a:pPr algn="ctr"/>
            <a:r>
              <a:rPr sz="700" b="1" i="0">
                <a:solidFill>
                  <a:srgbClr val="00A1E0"/>
                </a:solidFill>
                <a:latin typeface="Calibri"/>
              </a:rPr>
              <a:t>Agentforce + Marketing Cloud</a:t>
            </a:r>
          </a:p>
        </p:txBody>
      </p:sp>
      <p:sp>
        <p:nvSpPr>
          <p:cNvPr id="71" name="TextBox 70"/>
          <p:cNvSpPr txBox="1"/>
          <p:nvPr/>
        </p:nvSpPr>
        <p:spPr>
          <a:xfrm>
            <a:off x="4780026" y="5815584"/>
            <a:ext cx="1245870" cy="310896"/>
          </a:xfrm>
          <a:prstGeom prst="rect">
            <a:avLst/>
          </a:prstGeom>
          <a:noFill/>
        </p:spPr>
        <p:txBody>
          <a:bodyPr wrap="square">
            <a:spAutoFit/>
          </a:bodyPr>
          <a:lstStyle/>
          <a:p>
            <a:pPr algn="ctr"/>
            <a:r>
              <a:rPr sz="700" b="0" i="0">
                <a:solidFill>
                  <a:srgbClr val="88AACC"/>
                </a:solidFill>
                <a:latin typeface="Calibri"/>
              </a:rPr>
              <a:t>AI agent handles FAQs; personalised
education sequences activated</a:t>
            </a:r>
          </a:p>
        </p:txBody>
      </p:sp>
      <p:sp>
        <p:nvSpPr>
          <p:cNvPr id="72" name="Rectangle 71"/>
          <p:cNvSpPr/>
          <p:nvPr/>
        </p:nvSpPr>
        <p:spPr>
          <a:xfrm>
            <a:off x="6153912" y="1060704"/>
            <a:ext cx="1337310" cy="640080"/>
          </a:xfrm>
          <a:prstGeom prst="rect">
            <a:avLst/>
          </a:prstGeom>
          <a:solidFill>
            <a:srgbClr val="006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208776" y="1115568"/>
            <a:ext cx="1245870" cy="548640"/>
          </a:xfrm>
          <a:prstGeom prst="rect">
            <a:avLst/>
          </a:prstGeom>
          <a:noFill/>
        </p:spPr>
        <p:txBody>
          <a:bodyPr wrap="square">
            <a:spAutoFit/>
          </a:bodyPr>
          <a:lstStyle/>
          <a:p>
            <a:pPr algn="ctr"/>
            <a:r>
              <a:rPr sz="900" b="1" i="0">
                <a:solidFill>
                  <a:srgbClr val="FFFFFF"/>
                </a:solidFill>
                <a:latin typeface="Calibri"/>
              </a:rPr>
              <a:t>Week 4
Check-In</a:t>
            </a:r>
          </a:p>
        </p:txBody>
      </p:sp>
      <p:sp>
        <p:nvSpPr>
          <p:cNvPr id="74" name="Rectangle 73"/>
          <p:cNvSpPr/>
          <p:nvPr/>
        </p:nvSpPr>
        <p:spPr>
          <a:xfrm>
            <a:off x="6153912" y="1746504"/>
            <a:ext cx="1337310" cy="3657600"/>
          </a:xfrm>
          <a:prstGeom prst="rect">
            <a:avLst/>
          </a:prstGeom>
          <a:solidFill>
            <a:srgbClr val="FFFFFF"/>
          </a:solidFill>
          <a:ln w="15240">
            <a:solidFill>
              <a:srgbClr val="006E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153912" y="1746504"/>
            <a:ext cx="1337310" cy="256032"/>
          </a:xfrm>
          <a:prstGeom prst="rect">
            <a:avLst/>
          </a:prstGeom>
          <a:solidFill>
            <a:srgbClr val="006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199632" y="1773936"/>
            <a:ext cx="1245870" cy="219456"/>
          </a:xfrm>
          <a:prstGeom prst="rect">
            <a:avLst/>
          </a:prstGeom>
          <a:noFill/>
        </p:spPr>
        <p:txBody>
          <a:bodyPr wrap="square">
            <a:spAutoFit/>
          </a:bodyPr>
          <a:lstStyle/>
          <a:p>
            <a:pPr algn="ctr"/>
            <a:r>
              <a:rPr sz="800" b="1" i="0">
                <a:solidFill>
                  <a:srgbClr val="FFFFFF"/>
                </a:solidFill>
                <a:latin typeface="Calibri"/>
              </a:rPr>
              <a:t>Assessment</a:t>
            </a:r>
          </a:p>
        </p:txBody>
      </p:sp>
      <p:sp>
        <p:nvSpPr>
          <p:cNvPr id="77" name="Oval 76"/>
          <p:cNvSpPr/>
          <p:nvPr/>
        </p:nvSpPr>
        <p:spPr>
          <a:xfrm>
            <a:off x="6236208" y="2249131"/>
            <a:ext cx="128016" cy="128016"/>
          </a:xfrm>
          <a:prstGeom prst="ellipse">
            <a:avLst/>
          </a:prstGeom>
          <a:solidFill>
            <a:srgbClr val="006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400800" y="2075688"/>
            <a:ext cx="1008126" cy="618134"/>
          </a:xfrm>
          <a:prstGeom prst="rect">
            <a:avLst/>
          </a:prstGeom>
          <a:noFill/>
        </p:spPr>
        <p:txBody>
          <a:bodyPr wrap="square">
            <a:spAutoFit/>
          </a:bodyPr>
          <a:lstStyle/>
          <a:p>
            <a:pPr algn="l"/>
            <a:r>
              <a:rPr sz="800" b="0" i="0">
                <a:solidFill>
                  <a:srgbClr val="444455"/>
                </a:solidFill>
                <a:latin typeface="Calibri"/>
              </a:rPr>
              <a:t>In-app progress photo comparison — baseline vs. week 4 side-by-side</a:t>
            </a:r>
          </a:p>
        </p:txBody>
      </p:sp>
      <p:sp>
        <p:nvSpPr>
          <p:cNvPr id="79" name="Oval 78"/>
          <p:cNvSpPr/>
          <p:nvPr/>
        </p:nvSpPr>
        <p:spPr>
          <a:xfrm>
            <a:off x="6236208" y="2922129"/>
            <a:ext cx="128016" cy="128016"/>
          </a:xfrm>
          <a:prstGeom prst="ellipse">
            <a:avLst/>
          </a:prstGeom>
          <a:solidFill>
            <a:srgbClr val="006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400800" y="2748686"/>
            <a:ext cx="1008126" cy="618134"/>
          </a:xfrm>
          <a:prstGeom prst="rect">
            <a:avLst/>
          </a:prstGeom>
          <a:noFill/>
        </p:spPr>
        <p:txBody>
          <a:bodyPr wrap="square">
            <a:spAutoFit/>
          </a:bodyPr>
          <a:lstStyle/>
          <a:p>
            <a:pPr algn="l"/>
            <a:r>
              <a:rPr sz="800" b="0" i="0">
                <a:solidFill>
                  <a:srgbClr val="444455"/>
                </a:solidFill>
                <a:latin typeface="Calibri"/>
              </a:rPr>
              <a:t>PASI self-assessment + IGA patient-reported score</a:t>
            </a:r>
          </a:p>
        </p:txBody>
      </p:sp>
      <p:sp>
        <p:nvSpPr>
          <p:cNvPr id="81" name="Oval 80"/>
          <p:cNvSpPr/>
          <p:nvPr/>
        </p:nvSpPr>
        <p:spPr>
          <a:xfrm>
            <a:off x="6236208" y="3595128"/>
            <a:ext cx="128016" cy="128016"/>
          </a:xfrm>
          <a:prstGeom prst="ellipse">
            <a:avLst/>
          </a:prstGeom>
          <a:solidFill>
            <a:srgbClr val="006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400800" y="3421684"/>
            <a:ext cx="1008126" cy="618134"/>
          </a:xfrm>
          <a:prstGeom prst="rect">
            <a:avLst/>
          </a:prstGeom>
          <a:noFill/>
        </p:spPr>
        <p:txBody>
          <a:bodyPr wrap="square">
            <a:spAutoFit/>
          </a:bodyPr>
          <a:lstStyle/>
          <a:p>
            <a:pPr algn="l"/>
            <a:r>
              <a:rPr sz="800" b="0" i="0">
                <a:solidFill>
                  <a:srgbClr val="444455"/>
                </a:solidFill>
                <a:latin typeface="Calibri"/>
              </a:rPr>
              <a:t>'My Health Report' auto-generated — PDF summary for HCP (from IBD feature)</a:t>
            </a:r>
          </a:p>
        </p:txBody>
      </p:sp>
      <p:sp>
        <p:nvSpPr>
          <p:cNvPr id="83" name="Oval 82"/>
          <p:cNvSpPr/>
          <p:nvPr/>
        </p:nvSpPr>
        <p:spPr>
          <a:xfrm>
            <a:off x="6236208" y="4268126"/>
            <a:ext cx="128016" cy="128016"/>
          </a:xfrm>
          <a:prstGeom prst="ellipse">
            <a:avLst/>
          </a:prstGeom>
          <a:solidFill>
            <a:srgbClr val="006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400800" y="4094683"/>
            <a:ext cx="1008126" cy="618134"/>
          </a:xfrm>
          <a:prstGeom prst="rect">
            <a:avLst/>
          </a:prstGeom>
          <a:noFill/>
        </p:spPr>
        <p:txBody>
          <a:bodyPr wrap="square">
            <a:spAutoFit/>
          </a:bodyPr>
          <a:lstStyle/>
          <a:p>
            <a:pPr algn="l"/>
            <a:r>
              <a:rPr sz="800" b="0" i="0">
                <a:solidFill>
                  <a:srgbClr val="444455"/>
                </a:solidFill>
                <a:latin typeface="Calibri"/>
              </a:rPr>
              <a:t>Personalised message based on tracked data: 'Your itch score is down X%'</a:t>
            </a:r>
          </a:p>
        </p:txBody>
      </p:sp>
      <p:sp>
        <p:nvSpPr>
          <p:cNvPr id="85" name="Oval 84"/>
          <p:cNvSpPr/>
          <p:nvPr/>
        </p:nvSpPr>
        <p:spPr>
          <a:xfrm>
            <a:off x="6236208" y="4941124"/>
            <a:ext cx="128016" cy="128016"/>
          </a:xfrm>
          <a:prstGeom prst="ellipse">
            <a:avLst/>
          </a:prstGeom>
          <a:solidFill>
            <a:srgbClr val="006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400800" y="4767681"/>
            <a:ext cx="1008126" cy="618134"/>
          </a:xfrm>
          <a:prstGeom prst="rect">
            <a:avLst/>
          </a:prstGeom>
          <a:noFill/>
        </p:spPr>
        <p:txBody>
          <a:bodyPr wrap="square">
            <a:spAutoFit/>
          </a:bodyPr>
          <a:lstStyle/>
          <a:p>
            <a:pPr algn="l"/>
            <a:r>
              <a:rPr sz="800" b="0" i="0">
                <a:solidFill>
                  <a:srgbClr val="444455"/>
                </a:solidFill>
                <a:latin typeface="Calibri"/>
              </a:rPr>
              <a:t>Dermatology nurse specialist call available via app</a:t>
            </a:r>
          </a:p>
        </p:txBody>
      </p:sp>
      <p:sp>
        <p:nvSpPr>
          <p:cNvPr id="87" name="Rectangle 86"/>
          <p:cNvSpPr/>
          <p:nvPr/>
        </p:nvSpPr>
        <p:spPr>
          <a:xfrm>
            <a:off x="6153912" y="5522976"/>
            <a:ext cx="1337310" cy="658368"/>
          </a:xfrm>
          <a:prstGeom prst="roundRect">
            <a:avLst>
              <a:gd name="adj" fmla="val 25000"/>
            </a:avLst>
          </a:prstGeom>
          <a:solidFill>
            <a:srgbClr val="1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208776" y="5559552"/>
            <a:ext cx="1245870" cy="274320"/>
          </a:xfrm>
          <a:prstGeom prst="rect">
            <a:avLst/>
          </a:prstGeom>
          <a:noFill/>
        </p:spPr>
        <p:txBody>
          <a:bodyPr wrap="square">
            <a:spAutoFit/>
          </a:bodyPr>
          <a:lstStyle/>
          <a:p>
            <a:pPr algn="ctr"/>
            <a:r>
              <a:rPr sz="700" b="1" i="0">
                <a:solidFill>
                  <a:srgbClr val="00A1E0"/>
                </a:solidFill>
                <a:latin typeface="Calibri"/>
              </a:rPr>
              <a:t>Health Cloud + Agentforce</a:t>
            </a:r>
          </a:p>
        </p:txBody>
      </p:sp>
      <p:sp>
        <p:nvSpPr>
          <p:cNvPr id="89" name="TextBox 88"/>
          <p:cNvSpPr txBox="1"/>
          <p:nvPr/>
        </p:nvSpPr>
        <p:spPr>
          <a:xfrm>
            <a:off x="6208776" y="5815584"/>
            <a:ext cx="1245870" cy="310896"/>
          </a:xfrm>
          <a:prstGeom prst="rect">
            <a:avLst/>
          </a:prstGeom>
          <a:noFill/>
        </p:spPr>
        <p:txBody>
          <a:bodyPr wrap="square">
            <a:spAutoFit/>
          </a:bodyPr>
          <a:lstStyle/>
          <a:p>
            <a:pPr algn="ctr"/>
            <a:r>
              <a:rPr sz="700" b="0" i="0">
                <a:solidFill>
                  <a:srgbClr val="88AACC"/>
                </a:solidFill>
                <a:latin typeface="Calibri"/>
              </a:rPr>
              <a:t>HCP summary report auto-generated;
Agentforce flags low-adherence patients</a:t>
            </a:r>
          </a:p>
        </p:txBody>
      </p:sp>
      <p:sp>
        <p:nvSpPr>
          <p:cNvPr id="90" name="Rectangle 89"/>
          <p:cNvSpPr/>
          <p:nvPr/>
        </p:nvSpPr>
        <p:spPr>
          <a:xfrm>
            <a:off x="7582662" y="1060704"/>
            <a:ext cx="1337310" cy="6400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637526" y="1115568"/>
            <a:ext cx="1245870" cy="548640"/>
          </a:xfrm>
          <a:prstGeom prst="rect">
            <a:avLst/>
          </a:prstGeom>
          <a:noFill/>
        </p:spPr>
        <p:txBody>
          <a:bodyPr wrap="square">
            <a:spAutoFit/>
          </a:bodyPr>
          <a:lstStyle/>
          <a:p>
            <a:pPr algn="ctr"/>
            <a:r>
              <a:rPr sz="900" b="1" i="0">
                <a:solidFill>
                  <a:srgbClr val="FFFFFF"/>
                </a:solidFill>
                <a:latin typeface="Calibri"/>
              </a:rPr>
              <a:t>Visible
Clearance</a:t>
            </a:r>
          </a:p>
        </p:txBody>
      </p:sp>
      <p:sp>
        <p:nvSpPr>
          <p:cNvPr id="92" name="Rectangle 91"/>
          <p:cNvSpPr/>
          <p:nvPr/>
        </p:nvSpPr>
        <p:spPr>
          <a:xfrm>
            <a:off x="7582662" y="1746504"/>
            <a:ext cx="1337310" cy="3657600"/>
          </a:xfrm>
          <a:prstGeom prst="rect">
            <a:avLst/>
          </a:prstGeom>
          <a:solidFill>
            <a:srgbClr val="FFFFFF"/>
          </a:solidFill>
          <a:ln w="1524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7582662" y="1746504"/>
            <a:ext cx="1337310" cy="25603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7628382" y="1773936"/>
            <a:ext cx="1245870" cy="219456"/>
          </a:xfrm>
          <a:prstGeom prst="rect">
            <a:avLst/>
          </a:prstGeom>
          <a:noFill/>
        </p:spPr>
        <p:txBody>
          <a:bodyPr wrap="square">
            <a:spAutoFit/>
          </a:bodyPr>
          <a:lstStyle/>
          <a:p>
            <a:pPr algn="ctr"/>
            <a:r>
              <a:rPr sz="800" b="1" i="0">
                <a:solidFill>
                  <a:srgbClr val="FFFFFF"/>
                </a:solidFill>
                <a:latin typeface="Calibri"/>
              </a:rPr>
              <a:t>Milestone</a:t>
            </a:r>
          </a:p>
        </p:txBody>
      </p:sp>
      <p:sp>
        <p:nvSpPr>
          <p:cNvPr id="95" name="Oval 94"/>
          <p:cNvSpPr/>
          <p:nvPr/>
        </p:nvSpPr>
        <p:spPr>
          <a:xfrm>
            <a:off x="7664958" y="2249131"/>
            <a:ext cx="128016" cy="128016"/>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7829550" y="2075688"/>
            <a:ext cx="1008126" cy="618134"/>
          </a:xfrm>
          <a:prstGeom prst="rect">
            <a:avLst/>
          </a:prstGeom>
          <a:noFill/>
        </p:spPr>
        <p:txBody>
          <a:bodyPr wrap="square">
            <a:spAutoFit/>
          </a:bodyPr>
          <a:lstStyle/>
          <a:p>
            <a:pPr algn="l"/>
            <a:r>
              <a:rPr sz="800" b="0" i="0">
                <a:solidFill>
                  <a:srgbClr val="444455"/>
                </a:solidFill>
                <a:latin typeface="Calibri"/>
              </a:rPr>
              <a:t>App detects PASI 75 threshold — triggers clearance milestone notification</a:t>
            </a:r>
          </a:p>
        </p:txBody>
      </p:sp>
      <p:sp>
        <p:nvSpPr>
          <p:cNvPr id="97" name="Oval 96"/>
          <p:cNvSpPr/>
          <p:nvPr/>
        </p:nvSpPr>
        <p:spPr>
          <a:xfrm>
            <a:off x="7664958" y="2922129"/>
            <a:ext cx="128016" cy="128016"/>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7829550" y="2748686"/>
            <a:ext cx="1008126" cy="618134"/>
          </a:xfrm>
          <a:prstGeom prst="rect">
            <a:avLst/>
          </a:prstGeom>
          <a:noFill/>
        </p:spPr>
        <p:txBody>
          <a:bodyPr wrap="square">
            <a:spAutoFit/>
          </a:bodyPr>
          <a:lstStyle/>
          <a:p>
            <a:pPr algn="l"/>
            <a:r>
              <a:rPr sz="800" b="0" i="0">
                <a:solidFill>
                  <a:srgbClr val="444455"/>
                </a:solidFill>
                <a:latin typeface="Calibri"/>
              </a:rPr>
              <a:t>Photo diary: dramatic before/after comparison unlocked and shareable</a:t>
            </a:r>
          </a:p>
        </p:txBody>
      </p:sp>
      <p:sp>
        <p:nvSpPr>
          <p:cNvPr id="99" name="Oval 98"/>
          <p:cNvSpPr/>
          <p:nvPr/>
        </p:nvSpPr>
        <p:spPr>
          <a:xfrm>
            <a:off x="7664958" y="3595128"/>
            <a:ext cx="128016" cy="128016"/>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7829550" y="3421684"/>
            <a:ext cx="1008126" cy="618134"/>
          </a:xfrm>
          <a:prstGeom prst="rect">
            <a:avLst/>
          </a:prstGeom>
          <a:noFill/>
        </p:spPr>
        <p:txBody>
          <a:bodyPr wrap="square">
            <a:spAutoFit/>
          </a:bodyPr>
          <a:lstStyle/>
          <a:p>
            <a:pPr algn="l"/>
            <a:r>
              <a:rPr sz="800" b="0" i="0">
                <a:solidFill>
                  <a:srgbClr val="444455"/>
                </a:solidFill>
                <a:latin typeface="Calibri"/>
              </a:rPr>
              <a:t>DLQI resurveyed — measures real-life quality of life improvement</a:t>
            </a:r>
          </a:p>
        </p:txBody>
      </p:sp>
      <p:sp>
        <p:nvSpPr>
          <p:cNvPr id="101" name="Oval 100"/>
          <p:cNvSpPr/>
          <p:nvPr/>
        </p:nvSpPr>
        <p:spPr>
          <a:xfrm>
            <a:off x="7664958" y="4268126"/>
            <a:ext cx="128016" cy="128016"/>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7829550" y="4094683"/>
            <a:ext cx="1008126" cy="618134"/>
          </a:xfrm>
          <a:prstGeom prst="rect">
            <a:avLst/>
          </a:prstGeom>
          <a:noFill/>
        </p:spPr>
        <p:txBody>
          <a:bodyPr wrap="square">
            <a:spAutoFit/>
          </a:bodyPr>
          <a:lstStyle/>
          <a:p>
            <a:pPr algn="l"/>
            <a:r>
              <a:rPr sz="800" b="0" i="0">
                <a:solidFill>
                  <a:srgbClr val="444455"/>
                </a:solidFill>
                <a:latin typeface="Calibri"/>
              </a:rPr>
              <a:t>Body confidence check-in: social, emotional, and physical wellbeing</a:t>
            </a:r>
          </a:p>
        </p:txBody>
      </p:sp>
      <p:sp>
        <p:nvSpPr>
          <p:cNvPr id="103" name="Oval 102"/>
          <p:cNvSpPr/>
          <p:nvPr/>
        </p:nvSpPr>
        <p:spPr>
          <a:xfrm>
            <a:off x="7664958" y="4941124"/>
            <a:ext cx="128016" cy="128016"/>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7829550" y="4767681"/>
            <a:ext cx="1008126" cy="618134"/>
          </a:xfrm>
          <a:prstGeom prst="rect">
            <a:avLst/>
          </a:prstGeom>
          <a:noFill/>
        </p:spPr>
        <p:txBody>
          <a:bodyPr wrap="square">
            <a:spAutoFit/>
          </a:bodyPr>
          <a:lstStyle/>
          <a:p>
            <a:pPr algn="l"/>
            <a:r>
              <a:rPr sz="800" b="0" i="0">
                <a:solidFill>
                  <a:srgbClr val="444455"/>
                </a:solidFill>
                <a:latin typeface="Calibri"/>
              </a:rPr>
              <a:t>Zasocitinib Phase 3: ~2× effectiveness vs. current best oral therapy</a:t>
            </a:r>
          </a:p>
        </p:txBody>
      </p:sp>
      <p:sp>
        <p:nvSpPr>
          <p:cNvPr id="105" name="Rectangle 104"/>
          <p:cNvSpPr/>
          <p:nvPr/>
        </p:nvSpPr>
        <p:spPr>
          <a:xfrm>
            <a:off x="7582662" y="5522976"/>
            <a:ext cx="1337310" cy="658368"/>
          </a:xfrm>
          <a:prstGeom prst="roundRect">
            <a:avLst>
              <a:gd name="adj" fmla="val 25000"/>
            </a:avLst>
          </a:prstGeom>
          <a:solidFill>
            <a:srgbClr val="1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7637526" y="5559552"/>
            <a:ext cx="1245870" cy="274320"/>
          </a:xfrm>
          <a:prstGeom prst="rect">
            <a:avLst/>
          </a:prstGeom>
          <a:noFill/>
        </p:spPr>
        <p:txBody>
          <a:bodyPr wrap="square">
            <a:spAutoFit/>
          </a:bodyPr>
          <a:lstStyle/>
          <a:p>
            <a:pPr algn="ctr"/>
            <a:r>
              <a:rPr sz="700" b="1" i="0">
                <a:solidFill>
                  <a:srgbClr val="00A1E0"/>
                </a:solidFill>
                <a:latin typeface="Calibri"/>
              </a:rPr>
              <a:t>Data Cloud + Marketing Cloud</a:t>
            </a:r>
          </a:p>
        </p:txBody>
      </p:sp>
      <p:sp>
        <p:nvSpPr>
          <p:cNvPr id="107" name="TextBox 106"/>
          <p:cNvSpPr txBox="1"/>
          <p:nvPr/>
        </p:nvSpPr>
        <p:spPr>
          <a:xfrm>
            <a:off x="7637526" y="5815584"/>
            <a:ext cx="1245870" cy="310896"/>
          </a:xfrm>
          <a:prstGeom prst="rect">
            <a:avLst/>
          </a:prstGeom>
          <a:noFill/>
        </p:spPr>
        <p:txBody>
          <a:bodyPr wrap="square">
            <a:spAutoFit/>
          </a:bodyPr>
          <a:lstStyle/>
          <a:p>
            <a:pPr algn="ctr"/>
            <a:r>
              <a:rPr sz="700" b="0" i="0">
                <a:solidFill>
                  <a:srgbClr val="88AACC"/>
                </a:solidFill>
                <a:latin typeface="Calibri"/>
              </a:rPr>
              <a:t>PASI milestone triggers personalised
celebration &amp; HCP notification via Data Cloud</a:t>
            </a:r>
          </a:p>
        </p:txBody>
      </p:sp>
      <p:sp>
        <p:nvSpPr>
          <p:cNvPr id="108" name="Rectangle 107"/>
          <p:cNvSpPr/>
          <p:nvPr/>
        </p:nvSpPr>
        <p:spPr>
          <a:xfrm>
            <a:off x="9011412" y="1060704"/>
            <a:ext cx="1337310" cy="640080"/>
          </a:xfrm>
          <a:prstGeom prst="rect">
            <a:avLst/>
          </a:prstGeom>
          <a:solidFill>
            <a:srgbClr val="005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9066276" y="1115568"/>
            <a:ext cx="1245870" cy="548640"/>
          </a:xfrm>
          <a:prstGeom prst="rect">
            <a:avLst/>
          </a:prstGeom>
          <a:noFill/>
        </p:spPr>
        <p:txBody>
          <a:bodyPr wrap="square">
            <a:spAutoFit/>
          </a:bodyPr>
          <a:lstStyle/>
          <a:p>
            <a:pPr algn="ctr"/>
            <a:r>
              <a:rPr sz="900" b="1" i="0">
                <a:solidFill>
                  <a:srgbClr val="FFFFFF"/>
                </a:solidFill>
                <a:latin typeface="Calibri"/>
              </a:rPr>
              <a:t>Refill &amp;
HCP Review</a:t>
            </a:r>
          </a:p>
        </p:txBody>
      </p:sp>
      <p:sp>
        <p:nvSpPr>
          <p:cNvPr id="110" name="Rectangle 109"/>
          <p:cNvSpPr/>
          <p:nvPr/>
        </p:nvSpPr>
        <p:spPr>
          <a:xfrm>
            <a:off x="9011412" y="1746504"/>
            <a:ext cx="1337310" cy="3657600"/>
          </a:xfrm>
          <a:prstGeom prst="rect">
            <a:avLst/>
          </a:prstGeom>
          <a:solidFill>
            <a:srgbClr val="FFFFFF"/>
          </a:solidFill>
          <a:ln w="15240">
            <a:solidFill>
              <a:srgbClr val="005F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9011412" y="1746504"/>
            <a:ext cx="1337310" cy="256032"/>
          </a:xfrm>
          <a:prstGeom prst="rect">
            <a:avLst/>
          </a:prstGeom>
          <a:solidFill>
            <a:srgbClr val="005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9057132" y="1773936"/>
            <a:ext cx="1245870" cy="219456"/>
          </a:xfrm>
          <a:prstGeom prst="rect">
            <a:avLst/>
          </a:prstGeom>
          <a:noFill/>
        </p:spPr>
        <p:txBody>
          <a:bodyPr wrap="square">
            <a:spAutoFit/>
          </a:bodyPr>
          <a:lstStyle/>
          <a:p>
            <a:pPr algn="ctr"/>
            <a:r>
              <a:rPr sz="800" b="1" i="0">
                <a:solidFill>
                  <a:srgbClr val="FFFFFF"/>
                </a:solidFill>
                <a:latin typeface="Calibri"/>
              </a:rPr>
              <a:t>Sustain</a:t>
            </a:r>
          </a:p>
        </p:txBody>
      </p:sp>
      <p:sp>
        <p:nvSpPr>
          <p:cNvPr id="113" name="Oval 112"/>
          <p:cNvSpPr/>
          <p:nvPr/>
        </p:nvSpPr>
        <p:spPr>
          <a:xfrm>
            <a:off x="9093708" y="2313066"/>
            <a:ext cx="128016" cy="128016"/>
          </a:xfrm>
          <a:prstGeom prst="ellipse">
            <a:avLst/>
          </a:prstGeom>
          <a:solidFill>
            <a:srgbClr val="005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9258300" y="2075688"/>
            <a:ext cx="1008126" cy="786384"/>
          </a:xfrm>
          <a:prstGeom prst="rect">
            <a:avLst/>
          </a:prstGeom>
          <a:noFill/>
        </p:spPr>
        <p:txBody>
          <a:bodyPr wrap="square">
            <a:spAutoFit/>
          </a:bodyPr>
          <a:lstStyle/>
          <a:p>
            <a:pPr algn="l"/>
            <a:r>
              <a:rPr sz="800" b="0" i="0">
                <a:solidFill>
                  <a:srgbClr val="444455"/>
                </a:solidFill>
                <a:latin typeface="Calibri"/>
              </a:rPr>
              <a:t>Proactive refill reminder before supply runs out (oral daily — no infusion)</a:t>
            </a:r>
          </a:p>
        </p:txBody>
      </p:sp>
      <p:sp>
        <p:nvSpPr>
          <p:cNvPr id="115" name="Oval 114"/>
          <p:cNvSpPr/>
          <p:nvPr/>
        </p:nvSpPr>
        <p:spPr>
          <a:xfrm>
            <a:off x="9093708" y="3154314"/>
            <a:ext cx="128016" cy="128016"/>
          </a:xfrm>
          <a:prstGeom prst="ellipse">
            <a:avLst/>
          </a:prstGeom>
          <a:solidFill>
            <a:srgbClr val="005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9258300" y="2916936"/>
            <a:ext cx="1008126" cy="786384"/>
          </a:xfrm>
          <a:prstGeom prst="rect">
            <a:avLst/>
          </a:prstGeom>
          <a:noFill/>
        </p:spPr>
        <p:txBody>
          <a:bodyPr wrap="square">
            <a:spAutoFit/>
          </a:bodyPr>
          <a:lstStyle/>
          <a:p>
            <a:pPr algn="l"/>
            <a:r>
              <a:rPr sz="800" b="0" i="0">
                <a:solidFill>
                  <a:srgbClr val="444455"/>
                </a:solidFill>
                <a:latin typeface="Calibri"/>
              </a:rPr>
              <a:t>Full 16-week 'My Health Report' prepared ahead of dermatologist review</a:t>
            </a:r>
          </a:p>
        </p:txBody>
      </p:sp>
      <p:sp>
        <p:nvSpPr>
          <p:cNvPr id="117" name="Oval 116"/>
          <p:cNvSpPr/>
          <p:nvPr/>
        </p:nvSpPr>
        <p:spPr>
          <a:xfrm>
            <a:off x="9093708" y="3995562"/>
            <a:ext cx="128016" cy="128016"/>
          </a:xfrm>
          <a:prstGeom prst="ellipse">
            <a:avLst/>
          </a:prstGeom>
          <a:solidFill>
            <a:srgbClr val="005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9258300" y="3758184"/>
            <a:ext cx="1008126" cy="786384"/>
          </a:xfrm>
          <a:prstGeom prst="rect">
            <a:avLst/>
          </a:prstGeom>
          <a:noFill/>
        </p:spPr>
        <p:txBody>
          <a:bodyPr wrap="square">
            <a:spAutoFit/>
          </a:bodyPr>
          <a:lstStyle/>
          <a:p>
            <a:pPr algn="l"/>
            <a:r>
              <a:rPr sz="800" b="0" i="0">
                <a:solidFill>
                  <a:srgbClr val="444455"/>
                </a:solidFill>
                <a:latin typeface="Calibri"/>
              </a:rPr>
              <a:t>Trigger diary review: stress, UV, products — pattern identified by AI</a:t>
            </a:r>
          </a:p>
        </p:txBody>
      </p:sp>
      <p:sp>
        <p:nvSpPr>
          <p:cNvPr id="119" name="Oval 118"/>
          <p:cNvSpPr/>
          <p:nvPr/>
        </p:nvSpPr>
        <p:spPr>
          <a:xfrm>
            <a:off x="9093708" y="4836810"/>
            <a:ext cx="128016" cy="128016"/>
          </a:xfrm>
          <a:prstGeom prst="ellipse">
            <a:avLst/>
          </a:prstGeom>
          <a:solidFill>
            <a:srgbClr val="005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9258300" y="4599432"/>
            <a:ext cx="1008126" cy="786384"/>
          </a:xfrm>
          <a:prstGeom prst="rect">
            <a:avLst/>
          </a:prstGeom>
          <a:noFill/>
        </p:spPr>
        <p:txBody>
          <a:bodyPr wrap="square">
            <a:spAutoFit/>
          </a:bodyPr>
          <a:lstStyle/>
          <a:p>
            <a:pPr algn="l"/>
            <a:r>
              <a:rPr sz="800" b="0" i="0">
                <a:solidFill>
                  <a:srgbClr val="444455"/>
                </a:solidFill>
                <a:latin typeface="Calibri"/>
              </a:rPr>
              <a:t>Treatment continuation support + insurance renewal initiated via app</a:t>
            </a:r>
          </a:p>
        </p:txBody>
      </p:sp>
      <p:sp>
        <p:nvSpPr>
          <p:cNvPr id="121" name="Rectangle 120"/>
          <p:cNvSpPr/>
          <p:nvPr/>
        </p:nvSpPr>
        <p:spPr>
          <a:xfrm>
            <a:off x="9011412" y="5522976"/>
            <a:ext cx="1337310" cy="658368"/>
          </a:xfrm>
          <a:prstGeom prst="roundRect">
            <a:avLst>
              <a:gd name="adj" fmla="val 25000"/>
            </a:avLst>
          </a:prstGeom>
          <a:solidFill>
            <a:srgbClr val="1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9066276" y="5559552"/>
            <a:ext cx="1245870" cy="274320"/>
          </a:xfrm>
          <a:prstGeom prst="rect">
            <a:avLst/>
          </a:prstGeom>
          <a:noFill/>
        </p:spPr>
        <p:txBody>
          <a:bodyPr wrap="square">
            <a:spAutoFit/>
          </a:bodyPr>
          <a:lstStyle/>
          <a:p>
            <a:pPr algn="ctr"/>
            <a:r>
              <a:rPr sz="700" b="1" i="0">
                <a:solidFill>
                  <a:srgbClr val="00A1E0"/>
                </a:solidFill>
                <a:latin typeface="Calibri"/>
              </a:rPr>
              <a:t>Health Cloud + Marketing Cloud</a:t>
            </a:r>
          </a:p>
        </p:txBody>
      </p:sp>
      <p:sp>
        <p:nvSpPr>
          <p:cNvPr id="123" name="TextBox 122"/>
          <p:cNvSpPr txBox="1"/>
          <p:nvPr/>
        </p:nvSpPr>
        <p:spPr>
          <a:xfrm>
            <a:off x="9066276" y="5815584"/>
            <a:ext cx="1245870" cy="310896"/>
          </a:xfrm>
          <a:prstGeom prst="rect">
            <a:avLst/>
          </a:prstGeom>
          <a:noFill/>
        </p:spPr>
        <p:txBody>
          <a:bodyPr wrap="square">
            <a:spAutoFit/>
          </a:bodyPr>
          <a:lstStyle/>
          <a:p>
            <a:pPr algn="ctr"/>
            <a:r>
              <a:rPr sz="700" b="0" i="0">
                <a:solidFill>
                  <a:srgbClr val="88AACC"/>
                </a:solidFill>
                <a:latin typeface="Calibri"/>
              </a:rPr>
              <a:t>Refill orchestration via Health Cloud;
Marketing Cloud sends renewal sequences</a:t>
            </a:r>
          </a:p>
        </p:txBody>
      </p:sp>
      <p:sp>
        <p:nvSpPr>
          <p:cNvPr id="124" name="Rectangle 123"/>
          <p:cNvSpPr/>
          <p:nvPr/>
        </p:nvSpPr>
        <p:spPr>
          <a:xfrm>
            <a:off x="10440162" y="1060704"/>
            <a:ext cx="1337310" cy="640080"/>
          </a:xfrm>
          <a:prstGeom prst="rect">
            <a:avLst/>
          </a:prstGeom>
          <a:solidFill>
            <a:srgbClr val="00A1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10495026" y="1115568"/>
            <a:ext cx="1245870" cy="548640"/>
          </a:xfrm>
          <a:prstGeom prst="rect">
            <a:avLst/>
          </a:prstGeom>
          <a:noFill/>
        </p:spPr>
        <p:txBody>
          <a:bodyPr wrap="square">
            <a:spAutoFit/>
          </a:bodyPr>
          <a:lstStyle/>
          <a:p>
            <a:pPr algn="ctr"/>
            <a:r>
              <a:rPr sz="900" b="1" i="0">
                <a:solidFill>
                  <a:srgbClr val="FFFFFF"/>
                </a:solidFill>
                <a:latin typeface="Calibri"/>
              </a:rPr>
              <a:t>Long-term
Living Well</a:t>
            </a:r>
          </a:p>
        </p:txBody>
      </p:sp>
      <p:sp>
        <p:nvSpPr>
          <p:cNvPr id="126" name="Rectangle 125"/>
          <p:cNvSpPr/>
          <p:nvPr/>
        </p:nvSpPr>
        <p:spPr>
          <a:xfrm>
            <a:off x="10440162" y="1746504"/>
            <a:ext cx="1337310" cy="3657600"/>
          </a:xfrm>
          <a:prstGeom prst="rect">
            <a:avLst/>
          </a:prstGeom>
          <a:solidFill>
            <a:srgbClr val="FFFFFF"/>
          </a:solidFill>
          <a:ln w="15240">
            <a:solidFill>
              <a:srgbClr val="00A1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0440162" y="1746504"/>
            <a:ext cx="1337310" cy="256032"/>
          </a:xfrm>
          <a:prstGeom prst="rect">
            <a:avLst/>
          </a:prstGeom>
          <a:solidFill>
            <a:srgbClr val="00A1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10485882" y="1773936"/>
            <a:ext cx="1245870" cy="219456"/>
          </a:xfrm>
          <a:prstGeom prst="rect">
            <a:avLst/>
          </a:prstGeom>
          <a:noFill/>
        </p:spPr>
        <p:txBody>
          <a:bodyPr wrap="square">
            <a:spAutoFit/>
          </a:bodyPr>
          <a:lstStyle/>
          <a:p>
            <a:pPr algn="ctr"/>
            <a:r>
              <a:rPr sz="800" b="1" i="0">
                <a:solidFill>
                  <a:srgbClr val="FFFFFF"/>
                </a:solidFill>
                <a:latin typeface="Calibri"/>
              </a:rPr>
              <a:t>Long-term</a:t>
            </a:r>
          </a:p>
        </p:txBody>
      </p:sp>
      <p:sp>
        <p:nvSpPr>
          <p:cNvPr id="129" name="Oval 128"/>
          <p:cNvSpPr/>
          <p:nvPr/>
        </p:nvSpPr>
        <p:spPr>
          <a:xfrm>
            <a:off x="10522458" y="2249131"/>
            <a:ext cx="128016" cy="128016"/>
          </a:xfrm>
          <a:prstGeom prst="ellipse">
            <a:avLst/>
          </a:prstGeom>
          <a:solidFill>
            <a:srgbClr val="00A1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0687050" y="2075688"/>
            <a:ext cx="1008126" cy="618134"/>
          </a:xfrm>
          <a:prstGeom prst="rect">
            <a:avLst/>
          </a:prstGeom>
          <a:noFill/>
        </p:spPr>
        <p:txBody>
          <a:bodyPr wrap="square">
            <a:spAutoFit/>
          </a:bodyPr>
          <a:lstStyle/>
          <a:p>
            <a:pPr algn="l"/>
            <a:r>
              <a:rPr sz="800" b="0" i="0">
                <a:solidFill>
                  <a:srgbClr val="444455"/>
                </a:solidFill>
                <a:latin typeface="Calibri"/>
              </a:rPr>
              <a:t>Ongoing itch + BSA trend dashboard — early flare pattern detection</a:t>
            </a:r>
          </a:p>
        </p:txBody>
      </p:sp>
      <p:sp>
        <p:nvSpPr>
          <p:cNvPr id="131" name="Oval 130"/>
          <p:cNvSpPr/>
          <p:nvPr/>
        </p:nvSpPr>
        <p:spPr>
          <a:xfrm>
            <a:off x="10522458" y="2922129"/>
            <a:ext cx="128016" cy="128016"/>
          </a:xfrm>
          <a:prstGeom prst="ellipse">
            <a:avLst/>
          </a:prstGeom>
          <a:solidFill>
            <a:srgbClr val="00A1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10687050" y="2748686"/>
            <a:ext cx="1008126" cy="618134"/>
          </a:xfrm>
          <a:prstGeom prst="rect">
            <a:avLst/>
          </a:prstGeom>
          <a:noFill/>
        </p:spPr>
        <p:txBody>
          <a:bodyPr wrap="square">
            <a:spAutoFit/>
          </a:bodyPr>
          <a:lstStyle/>
          <a:p>
            <a:pPr algn="l"/>
            <a:r>
              <a:rPr sz="800" b="0" i="0">
                <a:solidFill>
                  <a:srgbClr val="444455"/>
                </a:solidFill>
                <a:latin typeface="Calibri"/>
              </a:rPr>
              <a:t>Seasonal trigger alerts (UV, cold, stress) from accumulated data</a:t>
            </a:r>
          </a:p>
        </p:txBody>
      </p:sp>
      <p:sp>
        <p:nvSpPr>
          <p:cNvPr id="133" name="Oval 132"/>
          <p:cNvSpPr/>
          <p:nvPr/>
        </p:nvSpPr>
        <p:spPr>
          <a:xfrm>
            <a:off x="10522458" y="3595128"/>
            <a:ext cx="128016" cy="128016"/>
          </a:xfrm>
          <a:prstGeom prst="ellipse">
            <a:avLst/>
          </a:prstGeom>
          <a:solidFill>
            <a:srgbClr val="00A1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10687050" y="3421684"/>
            <a:ext cx="1008126" cy="618134"/>
          </a:xfrm>
          <a:prstGeom prst="rect">
            <a:avLst/>
          </a:prstGeom>
          <a:noFill/>
        </p:spPr>
        <p:txBody>
          <a:bodyPr wrap="square">
            <a:spAutoFit/>
          </a:bodyPr>
          <a:lstStyle/>
          <a:p>
            <a:pPr algn="l"/>
            <a:r>
              <a:rPr sz="800" b="0" i="0">
                <a:solidFill>
                  <a:srgbClr val="444455"/>
                </a:solidFill>
                <a:latin typeface="Calibri"/>
              </a:rPr>
              <a:t>Community: connect with other psoriasis patients via app</a:t>
            </a:r>
          </a:p>
        </p:txBody>
      </p:sp>
      <p:sp>
        <p:nvSpPr>
          <p:cNvPr id="135" name="Oval 134"/>
          <p:cNvSpPr/>
          <p:nvPr/>
        </p:nvSpPr>
        <p:spPr>
          <a:xfrm>
            <a:off x="10522458" y="4268126"/>
            <a:ext cx="128016" cy="128016"/>
          </a:xfrm>
          <a:prstGeom prst="ellipse">
            <a:avLst/>
          </a:prstGeom>
          <a:solidFill>
            <a:srgbClr val="00A1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10687050" y="4094683"/>
            <a:ext cx="1008126" cy="618134"/>
          </a:xfrm>
          <a:prstGeom prst="rect">
            <a:avLst/>
          </a:prstGeom>
          <a:noFill/>
        </p:spPr>
        <p:txBody>
          <a:bodyPr wrap="square">
            <a:spAutoFit/>
          </a:bodyPr>
          <a:lstStyle/>
          <a:p>
            <a:pPr algn="l"/>
            <a:r>
              <a:rPr sz="800" b="0" i="0">
                <a:solidFill>
                  <a:srgbClr val="444455"/>
                </a:solidFill>
                <a:latin typeface="Calibri"/>
              </a:rPr>
              <a:t>Annual DLQI survey — real-world evidence for Takeda &amp; HCP</a:t>
            </a:r>
          </a:p>
        </p:txBody>
      </p:sp>
      <p:sp>
        <p:nvSpPr>
          <p:cNvPr id="137" name="Oval 136"/>
          <p:cNvSpPr/>
          <p:nvPr/>
        </p:nvSpPr>
        <p:spPr>
          <a:xfrm>
            <a:off x="10522458" y="4941124"/>
            <a:ext cx="128016" cy="128016"/>
          </a:xfrm>
          <a:prstGeom prst="ellipse">
            <a:avLst/>
          </a:prstGeom>
          <a:solidFill>
            <a:srgbClr val="00A1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0687050" y="4767681"/>
            <a:ext cx="1008126" cy="618134"/>
          </a:xfrm>
          <a:prstGeom prst="rect">
            <a:avLst/>
          </a:prstGeom>
          <a:noFill/>
        </p:spPr>
        <p:txBody>
          <a:bodyPr wrap="square">
            <a:spAutoFit/>
          </a:bodyPr>
          <a:lstStyle/>
          <a:p>
            <a:pPr algn="l"/>
            <a:r>
              <a:rPr sz="800" b="0" i="0">
                <a:solidFill>
                  <a:srgbClr val="444455"/>
                </a:solidFill>
                <a:latin typeface="Calibri"/>
              </a:rPr>
              <a:t>Platform extensible: zasocitinib in Crohn's disease — same app, new module</a:t>
            </a:r>
          </a:p>
        </p:txBody>
      </p:sp>
      <p:sp>
        <p:nvSpPr>
          <p:cNvPr id="139" name="Rectangle 138"/>
          <p:cNvSpPr/>
          <p:nvPr/>
        </p:nvSpPr>
        <p:spPr>
          <a:xfrm>
            <a:off x="10440162" y="5522976"/>
            <a:ext cx="1337310" cy="658368"/>
          </a:xfrm>
          <a:prstGeom prst="roundRect">
            <a:avLst>
              <a:gd name="adj" fmla="val 25000"/>
            </a:avLst>
          </a:prstGeom>
          <a:solidFill>
            <a:srgbClr val="1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10495026" y="5559552"/>
            <a:ext cx="1245870" cy="274320"/>
          </a:xfrm>
          <a:prstGeom prst="rect">
            <a:avLst/>
          </a:prstGeom>
          <a:noFill/>
        </p:spPr>
        <p:txBody>
          <a:bodyPr wrap="square">
            <a:spAutoFit/>
          </a:bodyPr>
          <a:lstStyle/>
          <a:p>
            <a:pPr algn="ctr"/>
            <a:r>
              <a:rPr sz="700" b="1" i="0">
                <a:solidFill>
                  <a:srgbClr val="00A1E0"/>
                </a:solidFill>
                <a:latin typeface="Calibri"/>
              </a:rPr>
              <a:t>Agentforce + Health Cloud + Data Cloud</a:t>
            </a:r>
          </a:p>
        </p:txBody>
      </p:sp>
      <p:sp>
        <p:nvSpPr>
          <p:cNvPr id="141" name="TextBox 140"/>
          <p:cNvSpPr txBox="1"/>
          <p:nvPr/>
        </p:nvSpPr>
        <p:spPr>
          <a:xfrm>
            <a:off x="10495026" y="5815584"/>
            <a:ext cx="1245870" cy="310896"/>
          </a:xfrm>
          <a:prstGeom prst="rect">
            <a:avLst/>
          </a:prstGeom>
          <a:noFill/>
        </p:spPr>
        <p:txBody>
          <a:bodyPr wrap="square">
            <a:spAutoFit/>
          </a:bodyPr>
          <a:lstStyle/>
          <a:p>
            <a:pPr algn="ctr"/>
            <a:r>
              <a:rPr sz="700" b="0" i="0">
                <a:solidFill>
                  <a:srgbClr val="88AACC"/>
                </a:solidFill>
                <a:latin typeface="Calibri"/>
              </a:rPr>
              <a:t>Continuous learning loop; real-world
evidence fed back to Takeda via Data Cloud</a:t>
            </a:r>
          </a:p>
        </p:txBody>
      </p:sp>
      <p:sp>
        <p:nvSpPr>
          <p:cNvPr id="142" name="Rectangle 141"/>
          <p:cNvSpPr/>
          <p:nvPr/>
        </p:nvSpPr>
        <p:spPr>
          <a:xfrm>
            <a:off x="10058400" y="4572000"/>
            <a:ext cx="1828800" cy="1554480"/>
          </a:xfrm>
          <a:prstGeom prst="rect">
            <a:avLst/>
          </a:prstGeom>
          <a:solidFill>
            <a:srgbClr val="FFFFFF"/>
          </a:solidFill>
          <a:ln w="12700">
            <a:solidFill>
              <a:srgbClr val="E40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10149840" y="4626864"/>
            <a:ext cx="1645920" cy="256032"/>
          </a:xfrm>
          <a:prstGeom prst="rect">
            <a:avLst/>
          </a:prstGeom>
          <a:noFill/>
        </p:spPr>
        <p:txBody>
          <a:bodyPr wrap="square">
            <a:spAutoFit/>
          </a:bodyPr>
          <a:lstStyle/>
          <a:p>
            <a:pPr algn="l"/>
            <a:r>
              <a:rPr sz="800" b="1" i="0">
                <a:solidFill>
                  <a:srgbClr val="E4003A"/>
                </a:solidFill>
                <a:latin typeface="Calibri"/>
              </a:rPr>
              <a:t>IBD App → Psoriasis</a:t>
            </a:r>
          </a:p>
        </p:txBody>
      </p:sp>
      <p:sp>
        <p:nvSpPr>
          <p:cNvPr id="144" name="TextBox 143"/>
          <p:cNvSpPr txBox="1"/>
          <p:nvPr/>
        </p:nvSpPr>
        <p:spPr>
          <a:xfrm>
            <a:off x="10149840" y="4901184"/>
            <a:ext cx="1691640" cy="182880"/>
          </a:xfrm>
          <a:prstGeom prst="rect">
            <a:avLst/>
          </a:prstGeom>
          <a:noFill/>
        </p:spPr>
        <p:txBody>
          <a:bodyPr wrap="square">
            <a:spAutoFit/>
          </a:bodyPr>
          <a:lstStyle/>
          <a:p>
            <a:pPr algn="l"/>
            <a:r>
              <a:rPr sz="750" b="0" i="0">
                <a:solidFill>
                  <a:srgbClr val="444455"/>
                </a:solidFill>
                <a:latin typeface="Calibri"/>
              </a:rPr>
              <a:t>Bowel diary → Itch NRS</a:t>
            </a:r>
          </a:p>
        </p:txBody>
      </p:sp>
      <p:sp>
        <p:nvSpPr>
          <p:cNvPr id="145" name="TextBox 144"/>
          <p:cNvSpPr txBox="1"/>
          <p:nvPr/>
        </p:nvSpPr>
        <p:spPr>
          <a:xfrm>
            <a:off x="10149840" y="5084064"/>
            <a:ext cx="1691640" cy="182880"/>
          </a:xfrm>
          <a:prstGeom prst="rect">
            <a:avLst/>
          </a:prstGeom>
          <a:noFill/>
        </p:spPr>
        <p:txBody>
          <a:bodyPr wrap="square">
            <a:spAutoFit/>
          </a:bodyPr>
          <a:lstStyle/>
          <a:p>
            <a:pPr algn="l"/>
            <a:r>
              <a:rPr sz="750" b="0" i="0">
                <a:solidFill>
                  <a:srgbClr val="444455"/>
                </a:solidFill>
                <a:latin typeface="Calibri"/>
              </a:rPr>
              <a:t>Disease score → PASI / IGA</a:t>
            </a:r>
          </a:p>
        </p:txBody>
      </p:sp>
      <p:sp>
        <p:nvSpPr>
          <p:cNvPr id="146" name="TextBox 145"/>
          <p:cNvSpPr txBox="1"/>
          <p:nvPr/>
        </p:nvSpPr>
        <p:spPr>
          <a:xfrm>
            <a:off x="10149840" y="5266944"/>
            <a:ext cx="1691640" cy="182880"/>
          </a:xfrm>
          <a:prstGeom prst="rect">
            <a:avLst/>
          </a:prstGeom>
          <a:noFill/>
        </p:spPr>
        <p:txBody>
          <a:bodyPr wrap="square">
            <a:spAutoFit/>
          </a:bodyPr>
          <a:lstStyle/>
          <a:p>
            <a:pPr algn="l"/>
            <a:r>
              <a:rPr sz="750" b="0" i="0">
                <a:solidFill>
                  <a:srgbClr val="444455"/>
                </a:solidFill>
                <a:latin typeface="Calibri"/>
              </a:rPr>
              <a:t>Food diary → Trigger diary</a:t>
            </a:r>
          </a:p>
        </p:txBody>
      </p:sp>
      <p:sp>
        <p:nvSpPr>
          <p:cNvPr id="147" name="TextBox 146"/>
          <p:cNvSpPr txBox="1"/>
          <p:nvPr/>
        </p:nvSpPr>
        <p:spPr>
          <a:xfrm>
            <a:off x="10149840" y="5449824"/>
            <a:ext cx="1691640" cy="182880"/>
          </a:xfrm>
          <a:prstGeom prst="rect">
            <a:avLst/>
          </a:prstGeom>
          <a:noFill/>
        </p:spPr>
        <p:txBody>
          <a:bodyPr wrap="square">
            <a:spAutoFit/>
          </a:bodyPr>
          <a:lstStyle/>
          <a:p>
            <a:pPr algn="l"/>
            <a:r>
              <a:rPr sz="750" b="0" i="0">
                <a:solidFill>
                  <a:srgbClr val="444455"/>
                </a:solidFill>
                <a:latin typeface="Calibri"/>
              </a:rPr>
              <a:t>Mood check → DLQI / QoL</a:t>
            </a:r>
          </a:p>
        </p:txBody>
      </p:sp>
      <p:sp>
        <p:nvSpPr>
          <p:cNvPr id="148" name="TextBox 147"/>
          <p:cNvSpPr txBox="1"/>
          <p:nvPr/>
        </p:nvSpPr>
        <p:spPr>
          <a:xfrm>
            <a:off x="10149840" y="5632704"/>
            <a:ext cx="1691640" cy="182880"/>
          </a:xfrm>
          <a:prstGeom prst="rect">
            <a:avLst/>
          </a:prstGeom>
          <a:noFill/>
        </p:spPr>
        <p:txBody>
          <a:bodyPr wrap="square">
            <a:spAutoFit/>
          </a:bodyPr>
          <a:lstStyle/>
          <a:p>
            <a:pPr algn="l"/>
            <a:r>
              <a:rPr sz="750" b="0" i="0">
                <a:solidFill>
                  <a:srgbClr val="444455"/>
                </a:solidFill>
                <a:latin typeface="Calibri"/>
              </a:rPr>
              <a:t>Infusion Rx → Oral daily dose</a:t>
            </a:r>
          </a:p>
        </p:txBody>
      </p:sp>
      <p:sp>
        <p:nvSpPr>
          <p:cNvPr id="149" name="TextBox 148"/>
          <p:cNvSpPr txBox="1"/>
          <p:nvPr/>
        </p:nvSpPr>
        <p:spPr>
          <a:xfrm>
            <a:off x="10149840" y="5815584"/>
            <a:ext cx="1691640" cy="182880"/>
          </a:xfrm>
          <a:prstGeom prst="rect">
            <a:avLst/>
          </a:prstGeom>
          <a:noFill/>
        </p:spPr>
        <p:txBody>
          <a:bodyPr wrap="square">
            <a:spAutoFit/>
          </a:bodyPr>
          <a:lstStyle/>
          <a:p>
            <a:pPr algn="l"/>
            <a:r>
              <a:rPr sz="750" b="0" i="0">
                <a:solidFill>
                  <a:srgbClr val="444455"/>
                </a:solidFill>
                <a:latin typeface="Calibri"/>
              </a:rPr>
              <a:t>My Health Report → same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46520"/>
            <a:ext cx="12188952" cy="411480"/>
          </a:xfrm>
          <a:prstGeom prst="rect">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
            <a:ext cx="11201400" cy="384048"/>
          </a:xfrm>
          <a:prstGeom prst="rect">
            <a:avLst/>
          </a:prstGeom>
          <a:noFill/>
        </p:spPr>
        <p:txBody>
          <a:bodyPr wrap="square">
            <a:spAutoFit/>
          </a:bodyPr>
          <a:lstStyle/>
          <a:p>
            <a:pPr algn="l"/>
            <a:r>
              <a:rPr sz="1300" b="1" i="0">
                <a:solidFill>
                  <a:srgbClr val="FFFFFF"/>
                </a:solidFill>
                <a:latin typeface="Calibri"/>
              </a:rPr>
              <a:t>"For You With You" IBD  →  Zasocitinib: Capability Comparison  (1/2)</a:t>
            </a:r>
          </a:p>
        </p:txBody>
      </p:sp>
      <p:sp>
        <p:nvSpPr>
          <p:cNvPr id="6" name="TextBox 5"/>
          <p:cNvSpPr txBox="1"/>
          <p:nvPr/>
        </p:nvSpPr>
        <p:spPr>
          <a:xfrm>
            <a:off x="457200" y="512064"/>
            <a:ext cx="11201400" cy="329184"/>
          </a:xfrm>
          <a:prstGeom prst="rect">
            <a:avLst/>
          </a:prstGeom>
          <a:noFill/>
        </p:spPr>
        <p:txBody>
          <a:bodyPr wrap="square">
            <a:spAutoFit/>
          </a:bodyPr>
          <a:lstStyle/>
          <a:p>
            <a:pPr algn="l"/>
            <a:r>
              <a:rPr sz="1100" b="0" i="1">
                <a:solidFill>
                  <a:srgbClr val="88AACC"/>
                </a:solidFill>
                <a:latin typeface="Calibri"/>
              </a:rPr>
              <a:t>Every zasocitinib capability is grounded in a live feature from Takeda's IBD companion app — mapped, not invented</a:t>
            </a:r>
          </a:p>
        </p:txBody>
      </p:sp>
      <p:sp>
        <p:nvSpPr>
          <p:cNvPr id="7" name="Rectangle 6"/>
          <p:cNvSpPr/>
          <p:nvPr/>
        </p:nvSpPr>
        <p:spPr>
          <a:xfrm>
            <a:off x="411480" y="969264"/>
            <a:ext cx="1664208" cy="347472"/>
          </a:xfrm>
          <a:prstGeom prst="rect">
            <a:avLst/>
          </a:prstGeom>
          <a:solidFill>
            <a:srgbClr val="1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130552" y="969264"/>
            <a:ext cx="4434840" cy="347472"/>
          </a:xfrm>
          <a:prstGeom prst="rect">
            <a:avLst/>
          </a:prstGeom>
          <a:solidFill>
            <a:srgbClr val="005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20256" y="969264"/>
            <a:ext cx="5349240" cy="347472"/>
          </a:xfrm>
          <a:prstGeom prst="rect">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 y="969264"/>
            <a:ext cx="1508760" cy="347472"/>
          </a:xfrm>
          <a:prstGeom prst="rect">
            <a:avLst/>
          </a:prstGeom>
          <a:noFill/>
        </p:spPr>
        <p:txBody>
          <a:bodyPr wrap="square">
            <a:spAutoFit/>
          </a:bodyPr>
          <a:lstStyle/>
          <a:p>
            <a:pPr algn="ctr"/>
            <a:r>
              <a:rPr sz="1000" b="1" i="0">
                <a:solidFill>
                  <a:srgbClr val="FFFFFF"/>
                </a:solidFill>
                <a:latin typeface="Calibri"/>
              </a:rPr>
              <a:t>Category</a:t>
            </a:r>
          </a:p>
        </p:txBody>
      </p:sp>
      <p:sp>
        <p:nvSpPr>
          <p:cNvPr id="11" name="TextBox 10"/>
          <p:cNvSpPr txBox="1"/>
          <p:nvPr/>
        </p:nvSpPr>
        <p:spPr>
          <a:xfrm>
            <a:off x="2240280" y="969264"/>
            <a:ext cx="4279392" cy="347472"/>
          </a:xfrm>
          <a:prstGeom prst="rect">
            <a:avLst/>
          </a:prstGeom>
          <a:noFill/>
        </p:spPr>
        <p:txBody>
          <a:bodyPr wrap="square">
            <a:spAutoFit/>
          </a:bodyPr>
          <a:lstStyle/>
          <a:p>
            <a:pPr algn="ctr"/>
            <a:r>
              <a:rPr sz="1000" b="1" i="0">
                <a:solidFill>
                  <a:srgbClr val="FFFFFF"/>
                </a:solidFill>
                <a:latin typeface="Calibri"/>
              </a:rPr>
              <a:t>"For You With You: IBD"  capability</a:t>
            </a:r>
          </a:p>
        </p:txBody>
      </p:sp>
      <p:sp>
        <p:nvSpPr>
          <p:cNvPr id="12" name="TextBox 11"/>
          <p:cNvSpPr txBox="1"/>
          <p:nvPr/>
        </p:nvSpPr>
        <p:spPr>
          <a:xfrm>
            <a:off x="6729984" y="969264"/>
            <a:ext cx="5193792" cy="347472"/>
          </a:xfrm>
          <a:prstGeom prst="rect">
            <a:avLst/>
          </a:prstGeom>
          <a:noFill/>
        </p:spPr>
        <p:txBody>
          <a:bodyPr wrap="square">
            <a:spAutoFit/>
          </a:bodyPr>
          <a:lstStyle/>
          <a:p>
            <a:pPr algn="ctr"/>
            <a:r>
              <a:rPr sz="1000" b="1" i="0">
                <a:solidFill>
                  <a:srgbClr val="FFFFFF"/>
                </a:solidFill>
                <a:latin typeface="Calibri"/>
              </a:rPr>
              <a:t>Proposed  "For You With You: Zasocitinib"  capability</a:t>
            </a:r>
          </a:p>
        </p:txBody>
      </p:sp>
      <p:sp>
        <p:nvSpPr>
          <p:cNvPr id="13" name="Rectangle 12"/>
          <p:cNvSpPr/>
          <p:nvPr/>
        </p:nvSpPr>
        <p:spPr>
          <a:xfrm>
            <a:off x="411480" y="1316736"/>
            <a:ext cx="11558016" cy="27432"/>
          </a:xfrm>
          <a:prstGeom prst="rect">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 y="1353312"/>
            <a:ext cx="1664208" cy="1901952"/>
          </a:xfrm>
          <a:prstGeom prst="rect">
            <a:avLst/>
          </a:prstGeom>
          <a:solidFill>
            <a:srgbClr val="005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2103120"/>
            <a:ext cx="1508760" cy="402336"/>
          </a:xfrm>
          <a:prstGeom prst="rect">
            <a:avLst/>
          </a:prstGeom>
          <a:noFill/>
        </p:spPr>
        <p:txBody>
          <a:bodyPr wrap="square">
            <a:spAutoFit/>
          </a:bodyPr>
          <a:lstStyle/>
          <a:p>
            <a:pPr algn="ctr"/>
            <a:r>
              <a:rPr sz="800" b="1" i="0">
                <a:solidFill>
                  <a:srgbClr val="FFFFFF"/>
                </a:solidFill>
                <a:latin typeface="Calibri"/>
              </a:rPr>
              <a:t>SYMPTOM TRACKING</a:t>
            </a:r>
          </a:p>
        </p:txBody>
      </p:sp>
      <p:sp>
        <p:nvSpPr>
          <p:cNvPr id="16" name="Rectangle 15"/>
          <p:cNvSpPr/>
          <p:nvPr/>
        </p:nvSpPr>
        <p:spPr>
          <a:xfrm>
            <a:off x="2130552" y="1353312"/>
            <a:ext cx="4434840" cy="475488"/>
          </a:xfrm>
          <a:prstGeom prst="rect">
            <a:avLst/>
          </a:prstGeom>
          <a:solidFill>
            <a:srgbClr val="ECF4FB"/>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40280" y="1389888"/>
            <a:ext cx="4279392" cy="420624"/>
          </a:xfrm>
          <a:prstGeom prst="rect">
            <a:avLst/>
          </a:prstGeom>
          <a:noFill/>
        </p:spPr>
        <p:txBody>
          <a:bodyPr wrap="square">
            <a:spAutoFit/>
          </a:bodyPr>
          <a:lstStyle/>
          <a:p>
            <a:pPr algn="l"/>
            <a:r>
              <a:rPr sz="900" b="0" i="0">
                <a:solidFill>
                  <a:srgbClr val="333344"/>
                </a:solidFill>
                <a:latin typeface="Calibri"/>
              </a:rPr>
              <a:t>Daily bowel frequency log
(times per day)</a:t>
            </a:r>
          </a:p>
        </p:txBody>
      </p:sp>
      <p:sp>
        <p:nvSpPr>
          <p:cNvPr id="18" name="Rectangle 17"/>
          <p:cNvSpPr/>
          <p:nvPr/>
        </p:nvSpPr>
        <p:spPr>
          <a:xfrm>
            <a:off x="6620256" y="1353312"/>
            <a:ext cx="5349240" cy="475488"/>
          </a:xfrm>
          <a:prstGeom prst="rect">
            <a:avLst/>
          </a:prstGeom>
          <a:solidFill>
            <a:srgbClr val="ECF4FB"/>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29984" y="1389888"/>
            <a:ext cx="5193792" cy="420624"/>
          </a:xfrm>
          <a:prstGeom prst="rect">
            <a:avLst/>
          </a:prstGeom>
          <a:noFill/>
        </p:spPr>
        <p:txBody>
          <a:bodyPr wrap="square">
            <a:spAutoFit/>
          </a:bodyPr>
          <a:lstStyle/>
          <a:p>
            <a:pPr algn="l"/>
            <a:r>
              <a:rPr sz="900" b="1" i="0">
                <a:solidFill>
                  <a:srgbClr val="333344"/>
                </a:solidFill>
                <a:latin typeface="Calibri"/>
              </a:rPr>
              <a:t>Daily itch diary — NRS 0–10
(logged morning &amp; evening)</a:t>
            </a:r>
          </a:p>
        </p:txBody>
      </p:sp>
      <p:sp>
        <p:nvSpPr>
          <p:cNvPr id="20" name="Rectangle 19"/>
          <p:cNvSpPr/>
          <p:nvPr/>
        </p:nvSpPr>
        <p:spPr>
          <a:xfrm>
            <a:off x="2130552" y="1828800"/>
            <a:ext cx="4434840" cy="475488"/>
          </a:xfrm>
          <a:prstGeom prst="rect">
            <a:avLst/>
          </a:prstGeom>
          <a:solidFill>
            <a:srgbClr val="FFFFFF"/>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40280" y="1865376"/>
            <a:ext cx="4279392" cy="420624"/>
          </a:xfrm>
          <a:prstGeom prst="rect">
            <a:avLst/>
          </a:prstGeom>
          <a:noFill/>
        </p:spPr>
        <p:txBody>
          <a:bodyPr wrap="square">
            <a:spAutoFit/>
          </a:bodyPr>
          <a:lstStyle/>
          <a:p>
            <a:pPr algn="l"/>
            <a:r>
              <a:rPr sz="900" b="0" i="0">
                <a:solidFill>
                  <a:srgbClr val="333344"/>
                </a:solidFill>
                <a:latin typeface="Calibri"/>
              </a:rPr>
              <a:t>Bristol Stool Scale
(stool consistency)</a:t>
            </a:r>
          </a:p>
        </p:txBody>
      </p:sp>
      <p:sp>
        <p:nvSpPr>
          <p:cNvPr id="22" name="Rectangle 21"/>
          <p:cNvSpPr/>
          <p:nvPr/>
        </p:nvSpPr>
        <p:spPr>
          <a:xfrm>
            <a:off x="6620256" y="1828800"/>
            <a:ext cx="5349240" cy="475488"/>
          </a:xfrm>
          <a:prstGeom prst="rect">
            <a:avLst/>
          </a:prstGeom>
          <a:solidFill>
            <a:srgbClr val="FFFFFF"/>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29984" y="1865376"/>
            <a:ext cx="5193792" cy="420624"/>
          </a:xfrm>
          <a:prstGeom prst="rect">
            <a:avLst/>
          </a:prstGeom>
          <a:noFill/>
        </p:spPr>
        <p:txBody>
          <a:bodyPr wrap="square">
            <a:spAutoFit/>
          </a:bodyPr>
          <a:lstStyle/>
          <a:p>
            <a:pPr algn="l"/>
            <a:r>
              <a:rPr sz="900" b="1" i="0">
                <a:solidFill>
                  <a:srgbClr val="333344"/>
                </a:solidFill>
                <a:latin typeface="Calibri"/>
              </a:rPr>
              <a:t>Body Surface Area (BSA)
self-assessment — % skin affected</a:t>
            </a:r>
          </a:p>
        </p:txBody>
      </p:sp>
      <p:sp>
        <p:nvSpPr>
          <p:cNvPr id="24" name="Rectangle 23"/>
          <p:cNvSpPr/>
          <p:nvPr/>
        </p:nvSpPr>
        <p:spPr>
          <a:xfrm>
            <a:off x="2130552" y="2304288"/>
            <a:ext cx="4434840" cy="475488"/>
          </a:xfrm>
          <a:prstGeom prst="rect">
            <a:avLst/>
          </a:prstGeom>
          <a:solidFill>
            <a:srgbClr val="ECF4FB"/>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40280" y="2340864"/>
            <a:ext cx="4279392" cy="420624"/>
          </a:xfrm>
          <a:prstGeom prst="rect">
            <a:avLst/>
          </a:prstGeom>
          <a:noFill/>
        </p:spPr>
        <p:txBody>
          <a:bodyPr wrap="square">
            <a:spAutoFit/>
          </a:bodyPr>
          <a:lstStyle/>
          <a:p>
            <a:pPr algn="l"/>
            <a:r>
              <a:rPr sz="900" b="0" i="0">
                <a:solidFill>
                  <a:srgbClr val="333344"/>
                </a:solidFill>
                <a:latin typeface="Calibri"/>
              </a:rPr>
              <a:t>Abdominal pain score
(0–10 scale)</a:t>
            </a:r>
          </a:p>
        </p:txBody>
      </p:sp>
      <p:sp>
        <p:nvSpPr>
          <p:cNvPr id="26" name="Rectangle 25"/>
          <p:cNvSpPr/>
          <p:nvPr/>
        </p:nvSpPr>
        <p:spPr>
          <a:xfrm>
            <a:off x="6620256" y="2304288"/>
            <a:ext cx="5349240" cy="475488"/>
          </a:xfrm>
          <a:prstGeom prst="rect">
            <a:avLst/>
          </a:prstGeom>
          <a:solidFill>
            <a:srgbClr val="ECF4FB"/>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29984" y="2340864"/>
            <a:ext cx="5193792" cy="420624"/>
          </a:xfrm>
          <a:prstGeom prst="rect">
            <a:avLst/>
          </a:prstGeom>
          <a:noFill/>
        </p:spPr>
        <p:txBody>
          <a:bodyPr wrap="square">
            <a:spAutoFit/>
          </a:bodyPr>
          <a:lstStyle/>
          <a:p>
            <a:pPr algn="l"/>
            <a:r>
              <a:rPr sz="900" b="1" i="0">
                <a:solidFill>
                  <a:srgbClr val="333344"/>
                </a:solidFill>
                <a:latin typeface="Calibri"/>
              </a:rPr>
              <a:t>Skin pain &amp; burning score
(0–10 scale)</a:t>
            </a:r>
          </a:p>
        </p:txBody>
      </p:sp>
      <p:sp>
        <p:nvSpPr>
          <p:cNvPr id="28" name="Rectangle 27"/>
          <p:cNvSpPr/>
          <p:nvPr/>
        </p:nvSpPr>
        <p:spPr>
          <a:xfrm>
            <a:off x="2130552" y="2779776"/>
            <a:ext cx="4434840" cy="475488"/>
          </a:xfrm>
          <a:prstGeom prst="rect">
            <a:avLst/>
          </a:prstGeom>
          <a:solidFill>
            <a:srgbClr val="FFF3E0"/>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40280" y="2816352"/>
            <a:ext cx="4279392" cy="420624"/>
          </a:xfrm>
          <a:prstGeom prst="rect">
            <a:avLst/>
          </a:prstGeom>
          <a:noFill/>
        </p:spPr>
        <p:txBody>
          <a:bodyPr wrap="square">
            <a:spAutoFit/>
          </a:bodyPr>
          <a:lstStyle/>
          <a:p>
            <a:pPr algn="l"/>
            <a:r>
              <a:rPr sz="900" b="0" i="1">
                <a:solidFill>
                  <a:srgbClr val="886600"/>
                </a:solidFill>
                <a:latin typeface="Calibri"/>
              </a:rPr>
              <a:t>Blood in stool tracker</a:t>
            </a:r>
          </a:p>
        </p:txBody>
      </p:sp>
      <p:sp>
        <p:nvSpPr>
          <p:cNvPr id="30" name="Rectangle 29"/>
          <p:cNvSpPr/>
          <p:nvPr/>
        </p:nvSpPr>
        <p:spPr>
          <a:xfrm>
            <a:off x="6620256" y="2779776"/>
            <a:ext cx="5349240" cy="475488"/>
          </a:xfrm>
          <a:prstGeom prst="rect">
            <a:avLst/>
          </a:prstGeom>
          <a:solidFill>
            <a:srgbClr val="FFF3E0"/>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711696" y="2898648"/>
            <a:ext cx="512064" cy="219456"/>
          </a:xfrm>
          <a:prstGeom prst="roundRect">
            <a:avLst>
              <a:gd name="adj" fmla="val 20000"/>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11696" y="2898648"/>
            <a:ext cx="466344" cy="219456"/>
          </a:xfrm>
          <a:prstGeom prst="rect">
            <a:avLst/>
          </a:prstGeom>
          <a:noFill/>
        </p:spPr>
        <p:txBody>
          <a:bodyPr wrap="square">
            <a:spAutoFit/>
          </a:bodyPr>
          <a:lstStyle/>
          <a:p>
            <a:pPr algn="ctr"/>
            <a:r>
              <a:rPr sz="700" b="1" i="0">
                <a:solidFill>
                  <a:srgbClr val="FFFFFF"/>
                </a:solidFill>
                <a:latin typeface="Calibri"/>
              </a:rPr>
              <a:t>NEW</a:t>
            </a:r>
          </a:p>
        </p:txBody>
      </p:sp>
      <p:sp>
        <p:nvSpPr>
          <p:cNvPr id="33" name="TextBox 32"/>
          <p:cNvSpPr txBox="1"/>
          <p:nvPr/>
        </p:nvSpPr>
        <p:spPr>
          <a:xfrm>
            <a:off x="7388352" y="2816352"/>
            <a:ext cx="4462272" cy="420624"/>
          </a:xfrm>
          <a:prstGeom prst="rect">
            <a:avLst/>
          </a:prstGeom>
          <a:noFill/>
        </p:spPr>
        <p:txBody>
          <a:bodyPr wrap="square">
            <a:spAutoFit/>
          </a:bodyPr>
          <a:lstStyle/>
          <a:p>
            <a:pPr algn="l"/>
            <a:r>
              <a:rPr sz="900" b="0" i="0">
                <a:solidFill>
                  <a:srgbClr val="5C3A00"/>
                </a:solidFill>
                <a:latin typeface="Calibri"/>
              </a:rPr>
              <a:t>Body map annotation —
touch-to-mark affected areas on silhouette</a:t>
            </a:r>
          </a:p>
        </p:txBody>
      </p:sp>
      <p:sp>
        <p:nvSpPr>
          <p:cNvPr id="34" name="Rectangle 33"/>
          <p:cNvSpPr/>
          <p:nvPr/>
        </p:nvSpPr>
        <p:spPr>
          <a:xfrm>
            <a:off x="2130552" y="3246120"/>
            <a:ext cx="9838944" cy="27432"/>
          </a:xfrm>
          <a:prstGeom prst="rect">
            <a:avLst/>
          </a:prstGeom>
          <a:solidFill>
            <a:srgbClr val="BBB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11480" y="3291840"/>
            <a:ext cx="1664208" cy="1426464"/>
          </a:xfrm>
          <a:prstGeom prst="rect">
            <a:avLst/>
          </a:prstGeom>
          <a:solidFill>
            <a:srgbClr val="00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1208" y="3803904"/>
            <a:ext cx="1508760" cy="402336"/>
          </a:xfrm>
          <a:prstGeom prst="rect">
            <a:avLst/>
          </a:prstGeom>
          <a:noFill/>
        </p:spPr>
        <p:txBody>
          <a:bodyPr wrap="square">
            <a:spAutoFit/>
          </a:bodyPr>
          <a:lstStyle/>
          <a:p>
            <a:pPr algn="ctr"/>
            <a:r>
              <a:rPr sz="800" b="1" i="0">
                <a:solidFill>
                  <a:srgbClr val="FFFFFF"/>
                </a:solidFill>
                <a:latin typeface="Calibri"/>
              </a:rPr>
              <a:t>DISEASE ACTIVITY SCORING</a:t>
            </a:r>
          </a:p>
        </p:txBody>
      </p:sp>
      <p:sp>
        <p:nvSpPr>
          <p:cNvPr id="37" name="Rectangle 36"/>
          <p:cNvSpPr/>
          <p:nvPr/>
        </p:nvSpPr>
        <p:spPr>
          <a:xfrm>
            <a:off x="2130552" y="3291840"/>
            <a:ext cx="4434840" cy="475488"/>
          </a:xfrm>
          <a:prstGeom prst="rect">
            <a:avLst/>
          </a:prstGeom>
          <a:solidFill>
            <a:srgbClr val="ECF4FB"/>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240280" y="3328416"/>
            <a:ext cx="4279392" cy="420624"/>
          </a:xfrm>
          <a:prstGeom prst="rect">
            <a:avLst/>
          </a:prstGeom>
          <a:noFill/>
        </p:spPr>
        <p:txBody>
          <a:bodyPr wrap="square">
            <a:spAutoFit/>
          </a:bodyPr>
          <a:lstStyle/>
          <a:p>
            <a:pPr algn="l"/>
            <a:r>
              <a:rPr sz="900" b="0" i="0">
                <a:solidFill>
                  <a:srgbClr val="333344"/>
                </a:solidFill>
                <a:latin typeface="Calibri"/>
              </a:rPr>
              <a:t>Harvey-Bradshaw Index
(Crohn's disease activity)</a:t>
            </a:r>
          </a:p>
        </p:txBody>
      </p:sp>
      <p:sp>
        <p:nvSpPr>
          <p:cNvPr id="39" name="Rectangle 38"/>
          <p:cNvSpPr/>
          <p:nvPr/>
        </p:nvSpPr>
        <p:spPr>
          <a:xfrm>
            <a:off x="6620256" y="3291840"/>
            <a:ext cx="5349240" cy="475488"/>
          </a:xfrm>
          <a:prstGeom prst="rect">
            <a:avLst/>
          </a:prstGeom>
          <a:solidFill>
            <a:srgbClr val="ECF4FB"/>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29984" y="3328416"/>
            <a:ext cx="5193792" cy="420624"/>
          </a:xfrm>
          <a:prstGeom prst="rect">
            <a:avLst/>
          </a:prstGeom>
          <a:noFill/>
        </p:spPr>
        <p:txBody>
          <a:bodyPr wrap="square">
            <a:spAutoFit/>
          </a:bodyPr>
          <a:lstStyle/>
          <a:p>
            <a:pPr algn="l"/>
            <a:r>
              <a:rPr sz="900" b="1" i="0">
                <a:solidFill>
                  <a:srgbClr val="333344"/>
                </a:solidFill>
                <a:latin typeface="Calibri"/>
              </a:rPr>
              <a:t>PASI self-assessment
(Psoriasis Area &amp; Severity Index)</a:t>
            </a:r>
          </a:p>
        </p:txBody>
      </p:sp>
      <p:sp>
        <p:nvSpPr>
          <p:cNvPr id="41" name="Rectangle 40"/>
          <p:cNvSpPr/>
          <p:nvPr/>
        </p:nvSpPr>
        <p:spPr>
          <a:xfrm>
            <a:off x="2130552" y="3767328"/>
            <a:ext cx="4434840" cy="475488"/>
          </a:xfrm>
          <a:prstGeom prst="rect">
            <a:avLst/>
          </a:prstGeom>
          <a:solidFill>
            <a:srgbClr val="FFFFFF"/>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240280" y="3803904"/>
            <a:ext cx="4279392" cy="420624"/>
          </a:xfrm>
          <a:prstGeom prst="rect">
            <a:avLst/>
          </a:prstGeom>
          <a:noFill/>
        </p:spPr>
        <p:txBody>
          <a:bodyPr wrap="square">
            <a:spAutoFit/>
          </a:bodyPr>
          <a:lstStyle/>
          <a:p>
            <a:pPr algn="l"/>
            <a:r>
              <a:rPr sz="900" b="0" i="0">
                <a:solidFill>
                  <a:srgbClr val="333344"/>
                </a:solidFill>
                <a:latin typeface="Calibri"/>
              </a:rPr>
              <a:t>Partial Mayo Score
(ulcerative colitis activity)</a:t>
            </a:r>
          </a:p>
        </p:txBody>
      </p:sp>
      <p:sp>
        <p:nvSpPr>
          <p:cNvPr id="43" name="Rectangle 42"/>
          <p:cNvSpPr/>
          <p:nvPr/>
        </p:nvSpPr>
        <p:spPr>
          <a:xfrm>
            <a:off x="6620256" y="3767328"/>
            <a:ext cx="5349240" cy="475488"/>
          </a:xfrm>
          <a:prstGeom prst="rect">
            <a:avLst/>
          </a:prstGeom>
          <a:solidFill>
            <a:srgbClr val="FFFFFF"/>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29984" y="3803904"/>
            <a:ext cx="5193792" cy="420624"/>
          </a:xfrm>
          <a:prstGeom prst="rect">
            <a:avLst/>
          </a:prstGeom>
          <a:noFill/>
        </p:spPr>
        <p:txBody>
          <a:bodyPr wrap="square">
            <a:spAutoFit/>
          </a:bodyPr>
          <a:lstStyle/>
          <a:p>
            <a:pPr algn="l"/>
            <a:r>
              <a:rPr sz="900" b="1" i="0">
                <a:solidFill>
                  <a:srgbClr val="333344"/>
                </a:solidFill>
                <a:latin typeface="Calibri"/>
              </a:rPr>
              <a:t>IGA patient-reported score
(Investigator's Global Assessment)</a:t>
            </a:r>
          </a:p>
        </p:txBody>
      </p:sp>
      <p:sp>
        <p:nvSpPr>
          <p:cNvPr id="45" name="Rectangle 44"/>
          <p:cNvSpPr/>
          <p:nvPr/>
        </p:nvSpPr>
        <p:spPr>
          <a:xfrm>
            <a:off x="2130552" y="4242816"/>
            <a:ext cx="4434840" cy="475488"/>
          </a:xfrm>
          <a:prstGeom prst="rect">
            <a:avLst/>
          </a:prstGeom>
          <a:solidFill>
            <a:srgbClr val="ECF4FB"/>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240280" y="4279392"/>
            <a:ext cx="4279392" cy="420624"/>
          </a:xfrm>
          <a:prstGeom prst="rect">
            <a:avLst/>
          </a:prstGeom>
          <a:noFill/>
        </p:spPr>
        <p:txBody>
          <a:bodyPr wrap="square">
            <a:spAutoFit/>
          </a:bodyPr>
          <a:lstStyle/>
          <a:p>
            <a:pPr algn="l"/>
            <a:r>
              <a:rPr sz="900" b="0" i="0">
                <a:solidFill>
                  <a:srgbClr val="333344"/>
                </a:solidFill>
                <a:latin typeface="Calibri"/>
              </a:rPr>
              <a:t>Flare early warning
(pattern-based alert)</a:t>
            </a:r>
          </a:p>
        </p:txBody>
      </p:sp>
      <p:sp>
        <p:nvSpPr>
          <p:cNvPr id="47" name="Rectangle 46"/>
          <p:cNvSpPr/>
          <p:nvPr/>
        </p:nvSpPr>
        <p:spPr>
          <a:xfrm>
            <a:off x="6620256" y="4242816"/>
            <a:ext cx="5349240" cy="475488"/>
          </a:xfrm>
          <a:prstGeom prst="rect">
            <a:avLst/>
          </a:prstGeom>
          <a:solidFill>
            <a:srgbClr val="ECF4FB"/>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729984" y="4279392"/>
            <a:ext cx="5193792" cy="420624"/>
          </a:xfrm>
          <a:prstGeom prst="rect">
            <a:avLst/>
          </a:prstGeom>
          <a:noFill/>
        </p:spPr>
        <p:txBody>
          <a:bodyPr wrap="square">
            <a:spAutoFit/>
          </a:bodyPr>
          <a:lstStyle/>
          <a:p>
            <a:pPr algn="l"/>
            <a:r>
              <a:rPr sz="900" b="1" i="0">
                <a:solidFill>
                  <a:srgbClr val="333344"/>
                </a:solidFill>
                <a:latin typeface="Calibri"/>
              </a:rPr>
              <a:t>Itch &amp; BSA trend alert —
flare prediction via AI pattern recognition</a:t>
            </a:r>
          </a:p>
        </p:txBody>
      </p:sp>
      <p:sp>
        <p:nvSpPr>
          <p:cNvPr id="49" name="Rectangle 48"/>
          <p:cNvSpPr/>
          <p:nvPr/>
        </p:nvSpPr>
        <p:spPr>
          <a:xfrm>
            <a:off x="2130552" y="4709160"/>
            <a:ext cx="9838944" cy="27432"/>
          </a:xfrm>
          <a:prstGeom prst="rect">
            <a:avLst/>
          </a:prstGeom>
          <a:solidFill>
            <a:srgbClr val="BBB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11480" y="4754880"/>
            <a:ext cx="1664208" cy="950976"/>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21208" y="5029200"/>
            <a:ext cx="1508760" cy="402336"/>
          </a:xfrm>
          <a:prstGeom prst="rect">
            <a:avLst/>
          </a:prstGeom>
          <a:noFill/>
        </p:spPr>
        <p:txBody>
          <a:bodyPr wrap="square">
            <a:spAutoFit/>
          </a:bodyPr>
          <a:lstStyle/>
          <a:p>
            <a:pPr algn="ctr"/>
            <a:r>
              <a:rPr sz="800" b="1" i="0">
                <a:solidFill>
                  <a:srgbClr val="FFFFFF"/>
                </a:solidFill>
                <a:latin typeface="Calibri"/>
              </a:rPr>
              <a:t>MEDICATION MANAGEMENT</a:t>
            </a:r>
          </a:p>
        </p:txBody>
      </p:sp>
      <p:sp>
        <p:nvSpPr>
          <p:cNvPr id="52" name="Rectangle 51"/>
          <p:cNvSpPr/>
          <p:nvPr/>
        </p:nvSpPr>
        <p:spPr>
          <a:xfrm>
            <a:off x="2130552" y="4754880"/>
            <a:ext cx="4434840" cy="475488"/>
          </a:xfrm>
          <a:prstGeom prst="rect">
            <a:avLst/>
          </a:prstGeom>
          <a:solidFill>
            <a:srgbClr val="ECF4FB"/>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240280" y="4791456"/>
            <a:ext cx="4279392" cy="420624"/>
          </a:xfrm>
          <a:prstGeom prst="rect">
            <a:avLst/>
          </a:prstGeom>
          <a:noFill/>
        </p:spPr>
        <p:txBody>
          <a:bodyPr wrap="square">
            <a:spAutoFit/>
          </a:bodyPr>
          <a:lstStyle/>
          <a:p>
            <a:pPr algn="l"/>
            <a:r>
              <a:rPr sz="900" b="0" i="0">
                <a:solidFill>
                  <a:srgbClr val="333344"/>
                </a:solidFill>
                <a:latin typeface="Calibri"/>
              </a:rPr>
              <a:t>Biologic infusion / injection
reminder &amp; scheduling</a:t>
            </a:r>
          </a:p>
        </p:txBody>
      </p:sp>
      <p:sp>
        <p:nvSpPr>
          <p:cNvPr id="54" name="Rectangle 53"/>
          <p:cNvSpPr/>
          <p:nvPr/>
        </p:nvSpPr>
        <p:spPr>
          <a:xfrm>
            <a:off x="6620256" y="4754880"/>
            <a:ext cx="5349240" cy="475488"/>
          </a:xfrm>
          <a:prstGeom prst="rect">
            <a:avLst/>
          </a:prstGeom>
          <a:solidFill>
            <a:srgbClr val="ECF4FB"/>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729984" y="4791456"/>
            <a:ext cx="5193792" cy="420624"/>
          </a:xfrm>
          <a:prstGeom prst="rect">
            <a:avLst/>
          </a:prstGeom>
          <a:noFill/>
        </p:spPr>
        <p:txBody>
          <a:bodyPr wrap="square">
            <a:spAutoFit/>
          </a:bodyPr>
          <a:lstStyle/>
          <a:p>
            <a:pPr algn="l"/>
            <a:r>
              <a:rPr sz="900" b="1" i="0">
                <a:solidFill>
                  <a:srgbClr val="333344"/>
                </a:solidFill>
                <a:latin typeface="Calibri"/>
              </a:rPr>
              <a:t>Daily oral dose confirmation
(tap-to-confirm + adherence streak counter)</a:t>
            </a:r>
          </a:p>
        </p:txBody>
      </p:sp>
      <p:sp>
        <p:nvSpPr>
          <p:cNvPr id="56" name="Rectangle 55"/>
          <p:cNvSpPr/>
          <p:nvPr/>
        </p:nvSpPr>
        <p:spPr>
          <a:xfrm>
            <a:off x="2130552" y="5230368"/>
            <a:ext cx="4434840" cy="475488"/>
          </a:xfrm>
          <a:prstGeom prst="rect">
            <a:avLst/>
          </a:prstGeom>
          <a:solidFill>
            <a:srgbClr val="FFFFFF"/>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240280" y="5266944"/>
            <a:ext cx="4279392" cy="420624"/>
          </a:xfrm>
          <a:prstGeom prst="rect">
            <a:avLst/>
          </a:prstGeom>
          <a:noFill/>
        </p:spPr>
        <p:txBody>
          <a:bodyPr wrap="square">
            <a:spAutoFit/>
          </a:bodyPr>
          <a:lstStyle/>
          <a:p>
            <a:pPr algn="l"/>
            <a:r>
              <a:rPr sz="900" b="0" i="0">
                <a:solidFill>
                  <a:srgbClr val="333344"/>
                </a:solidFill>
                <a:latin typeface="Calibri"/>
              </a:rPr>
              <a:t>Prescription refill reminder</a:t>
            </a:r>
          </a:p>
        </p:txBody>
      </p:sp>
      <p:sp>
        <p:nvSpPr>
          <p:cNvPr id="58" name="Rectangle 57"/>
          <p:cNvSpPr/>
          <p:nvPr/>
        </p:nvSpPr>
        <p:spPr>
          <a:xfrm>
            <a:off x="6620256" y="5230368"/>
            <a:ext cx="5349240" cy="475488"/>
          </a:xfrm>
          <a:prstGeom prst="rect">
            <a:avLst/>
          </a:prstGeom>
          <a:solidFill>
            <a:srgbClr val="FFFFFF"/>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729984" y="5266944"/>
            <a:ext cx="5193792" cy="420624"/>
          </a:xfrm>
          <a:prstGeom prst="rect">
            <a:avLst/>
          </a:prstGeom>
          <a:noFill/>
        </p:spPr>
        <p:txBody>
          <a:bodyPr wrap="square">
            <a:spAutoFit/>
          </a:bodyPr>
          <a:lstStyle/>
          <a:p>
            <a:pPr algn="l"/>
            <a:r>
              <a:rPr sz="900" b="1" i="0">
                <a:solidFill>
                  <a:srgbClr val="333344"/>
                </a:solidFill>
                <a:latin typeface="Calibri"/>
              </a:rPr>
              <a:t>Proactive refill management —
alert before supply runs out</a:t>
            </a:r>
          </a:p>
        </p:txBody>
      </p:sp>
      <p:sp>
        <p:nvSpPr>
          <p:cNvPr id="60" name="Rectangle 59"/>
          <p:cNvSpPr/>
          <p:nvPr/>
        </p:nvSpPr>
        <p:spPr>
          <a:xfrm>
            <a:off x="2130552" y="5696712"/>
            <a:ext cx="9838944" cy="27432"/>
          </a:xfrm>
          <a:prstGeom prst="rect">
            <a:avLst/>
          </a:prstGeom>
          <a:solidFill>
            <a:srgbClr val="BBB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411480" y="5742432"/>
            <a:ext cx="1664208" cy="1426464"/>
          </a:xfrm>
          <a:prstGeom prst="rect">
            <a:avLst/>
          </a:prstGeom>
          <a:solidFill>
            <a:srgbClr val="552C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21208" y="6254496"/>
            <a:ext cx="1508760" cy="402336"/>
          </a:xfrm>
          <a:prstGeom prst="rect">
            <a:avLst/>
          </a:prstGeom>
          <a:noFill/>
        </p:spPr>
        <p:txBody>
          <a:bodyPr wrap="square">
            <a:spAutoFit/>
          </a:bodyPr>
          <a:lstStyle/>
          <a:p>
            <a:pPr algn="ctr"/>
            <a:r>
              <a:rPr sz="800" b="1" i="0">
                <a:solidFill>
                  <a:srgbClr val="FFFFFF"/>
                </a:solidFill>
                <a:latin typeface="Calibri"/>
              </a:rPr>
              <a:t>HCP INTEGRATION</a:t>
            </a:r>
          </a:p>
        </p:txBody>
      </p:sp>
      <p:sp>
        <p:nvSpPr>
          <p:cNvPr id="63" name="Rectangle 62"/>
          <p:cNvSpPr/>
          <p:nvPr/>
        </p:nvSpPr>
        <p:spPr>
          <a:xfrm>
            <a:off x="2130552" y="5742432"/>
            <a:ext cx="4434840" cy="475488"/>
          </a:xfrm>
          <a:prstGeom prst="rect">
            <a:avLst/>
          </a:prstGeom>
          <a:solidFill>
            <a:srgbClr val="ECF4FB"/>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240280" y="5779008"/>
            <a:ext cx="4279392" cy="420624"/>
          </a:xfrm>
          <a:prstGeom prst="rect">
            <a:avLst/>
          </a:prstGeom>
          <a:noFill/>
        </p:spPr>
        <p:txBody>
          <a:bodyPr wrap="square">
            <a:spAutoFit/>
          </a:bodyPr>
          <a:lstStyle/>
          <a:p>
            <a:pPr algn="l"/>
            <a:r>
              <a:rPr sz="900" b="0" i="0">
                <a:solidFill>
                  <a:srgbClr val="333344"/>
                </a:solidFill>
                <a:latin typeface="Calibri"/>
              </a:rPr>
              <a:t>My Health Report
(auto-generated PDF for HCP visit)</a:t>
            </a:r>
          </a:p>
        </p:txBody>
      </p:sp>
      <p:sp>
        <p:nvSpPr>
          <p:cNvPr id="65" name="Rectangle 64"/>
          <p:cNvSpPr/>
          <p:nvPr/>
        </p:nvSpPr>
        <p:spPr>
          <a:xfrm>
            <a:off x="6620256" y="5742432"/>
            <a:ext cx="5349240" cy="475488"/>
          </a:xfrm>
          <a:prstGeom prst="rect">
            <a:avLst/>
          </a:prstGeom>
          <a:solidFill>
            <a:srgbClr val="ECF4FB"/>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729984" y="5779008"/>
            <a:ext cx="5193792" cy="420624"/>
          </a:xfrm>
          <a:prstGeom prst="rect">
            <a:avLst/>
          </a:prstGeom>
          <a:noFill/>
        </p:spPr>
        <p:txBody>
          <a:bodyPr wrap="square">
            <a:spAutoFit/>
          </a:bodyPr>
          <a:lstStyle/>
          <a:p>
            <a:pPr algn="l"/>
            <a:r>
              <a:rPr sz="900" b="1" i="0">
                <a:solidFill>
                  <a:srgbClr val="333344"/>
                </a:solidFill>
                <a:latin typeface="Calibri"/>
              </a:rPr>
              <a:t>My Health Report — same feature;
dermatologist-ready symptom trend summary</a:t>
            </a:r>
          </a:p>
        </p:txBody>
      </p:sp>
      <p:sp>
        <p:nvSpPr>
          <p:cNvPr id="67" name="Rectangle 66"/>
          <p:cNvSpPr/>
          <p:nvPr/>
        </p:nvSpPr>
        <p:spPr>
          <a:xfrm>
            <a:off x="2130552" y="6217920"/>
            <a:ext cx="4434840" cy="475488"/>
          </a:xfrm>
          <a:prstGeom prst="rect">
            <a:avLst/>
          </a:prstGeom>
          <a:solidFill>
            <a:srgbClr val="FFFFFF"/>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240280" y="6254496"/>
            <a:ext cx="4279392" cy="420624"/>
          </a:xfrm>
          <a:prstGeom prst="rect">
            <a:avLst/>
          </a:prstGeom>
          <a:noFill/>
        </p:spPr>
        <p:txBody>
          <a:bodyPr wrap="square">
            <a:spAutoFit/>
          </a:bodyPr>
          <a:lstStyle/>
          <a:p>
            <a:pPr algn="l"/>
            <a:r>
              <a:rPr sz="900" b="0" i="0">
                <a:solidFill>
                  <a:srgbClr val="333344"/>
                </a:solidFill>
                <a:latin typeface="Calibri"/>
              </a:rPr>
              <a:t>IBD nurse specialist line
(in-app access)</a:t>
            </a:r>
          </a:p>
        </p:txBody>
      </p:sp>
      <p:sp>
        <p:nvSpPr>
          <p:cNvPr id="69" name="Rectangle 68"/>
          <p:cNvSpPr/>
          <p:nvPr/>
        </p:nvSpPr>
        <p:spPr>
          <a:xfrm>
            <a:off x="6620256" y="6217920"/>
            <a:ext cx="5349240" cy="475488"/>
          </a:xfrm>
          <a:prstGeom prst="rect">
            <a:avLst/>
          </a:prstGeom>
          <a:solidFill>
            <a:srgbClr val="FFFFFF"/>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729984" y="6254496"/>
            <a:ext cx="5193792" cy="420624"/>
          </a:xfrm>
          <a:prstGeom prst="rect">
            <a:avLst/>
          </a:prstGeom>
          <a:noFill/>
        </p:spPr>
        <p:txBody>
          <a:bodyPr wrap="square">
            <a:spAutoFit/>
          </a:bodyPr>
          <a:lstStyle/>
          <a:p>
            <a:pPr algn="l"/>
            <a:r>
              <a:rPr sz="900" b="1" i="0">
                <a:solidFill>
                  <a:srgbClr val="333344"/>
                </a:solidFill>
                <a:latin typeface="Calibri"/>
              </a:rPr>
              <a:t>Dermatology nurse specialist line
(in-app access)</a:t>
            </a:r>
          </a:p>
        </p:txBody>
      </p:sp>
      <p:sp>
        <p:nvSpPr>
          <p:cNvPr id="71" name="Rectangle 70"/>
          <p:cNvSpPr/>
          <p:nvPr/>
        </p:nvSpPr>
        <p:spPr>
          <a:xfrm>
            <a:off x="2130552" y="6693408"/>
            <a:ext cx="4434840" cy="475488"/>
          </a:xfrm>
          <a:prstGeom prst="rect">
            <a:avLst/>
          </a:prstGeom>
          <a:solidFill>
            <a:srgbClr val="ECF4FB"/>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240280" y="6729984"/>
            <a:ext cx="4279392" cy="420624"/>
          </a:xfrm>
          <a:prstGeom prst="rect">
            <a:avLst/>
          </a:prstGeom>
          <a:noFill/>
        </p:spPr>
        <p:txBody>
          <a:bodyPr wrap="square">
            <a:spAutoFit/>
          </a:bodyPr>
          <a:lstStyle/>
          <a:p>
            <a:pPr algn="l"/>
            <a:r>
              <a:rPr sz="900" b="0" i="0">
                <a:solidFill>
                  <a:srgbClr val="333344"/>
                </a:solidFill>
                <a:latin typeface="Calibri"/>
              </a:rPr>
              <a:t>Appointment reminders
(infusion clinic, outpatient)</a:t>
            </a:r>
          </a:p>
        </p:txBody>
      </p:sp>
      <p:sp>
        <p:nvSpPr>
          <p:cNvPr id="73" name="Rectangle 72"/>
          <p:cNvSpPr/>
          <p:nvPr/>
        </p:nvSpPr>
        <p:spPr>
          <a:xfrm>
            <a:off x="6620256" y="6693408"/>
            <a:ext cx="5349240" cy="475488"/>
          </a:xfrm>
          <a:prstGeom prst="rect">
            <a:avLst/>
          </a:prstGeom>
          <a:solidFill>
            <a:srgbClr val="ECF4FB"/>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729984" y="6729984"/>
            <a:ext cx="5193792" cy="420624"/>
          </a:xfrm>
          <a:prstGeom prst="rect">
            <a:avLst/>
          </a:prstGeom>
          <a:noFill/>
        </p:spPr>
        <p:txBody>
          <a:bodyPr wrap="square">
            <a:spAutoFit/>
          </a:bodyPr>
          <a:lstStyle/>
          <a:p>
            <a:pPr algn="l"/>
            <a:r>
              <a:rPr sz="900" b="1" i="0">
                <a:solidFill>
                  <a:srgbClr val="333344"/>
                </a:solidFill>
                <a:latin typeface="Calibri"/>
              </a:rPr>
              <a:t>Dermatologist visit reminders +
pre-visit report auto-prepared</a:t>
            </a:r>
          </a:p>
        </p:txBody>
      </p:sp>
      <p:sp>
        <p:nvSpPr>
          <p:cNvPr id="75" name="Rectangle 74"/>
          <p:cNvSpPr/>
          <p:nvPr/>
        </p:nvSpPr>
        <p:spPr>
          <a:xfrm>
            <a:off x="2130552" y="7159752"/>
            <a:ext cx="9838944" cy="27432"/>
          </a:xfrm>
          <a:prstGeom prst="rect">
            <a:avLst/>
          </a:prstGeom>
          <a:solidFill>
            <a:srgbClr val="BBB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411480" y="7205472"/>
            <a:ext cx="1664208" cy="950976"/>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21208" y="7479792"/>
            <a:ext cx="1508760" cy="402336"/>
          </a:xfrm>
          <a:prstGeom prst="rect">
            <a:avLst/>
          </a:prstGeom>
          <a:noFill/>
        </p:spPr>
        <p:txBody>
          <a:bodyPr wrap="square">
            <a:spAutoFit/>
          </a:bodyPr>
          <a:lstStyle/>
          <a:p>
            <a:pPr algn="ctr"/>
            <a:r>
              <a:rPr sz="800" b="1" i="0">
                <a:solidFill>
                  <a:srgbClr val="FFFFFF"/>
                </a:solidFill>
                <a:latin typeface="Calibri"/>
              </a:rPr>
              <a:t>WELLBEING &amp; QUALITY OF LIFE</a:t>
            </a:r>
          </a:p>
        </p:txBody>
      </p:sp>
      <p:sp>
        <p:nvSpPr>
          <p:cNvPr id="78" name="Rectangle 77"/>
          <p:cNvSpPr/>
          <p:nvPr/>
        </p:nvSpPr>
        <p:spPr>
          <a:xfrm>
            <a:off x="2130552" y="7205472"/>
            <a:ext cx="4434840" cy="475488"/>
          </a:xfrm>
          <a:prstGeom prst="rect">
            <a:avLst/>
          </a:prstGeom>
          <a:solidFill>
            <a:srgbClr val="ECF4FB"/>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240280" y="7242048"/>
            <a:ext cx="4279392" cy="420624"/>
          </a:xfrm>
          <a:prstGeom prst="rect">
            <a:avLst/>
          </a:prstGeom>
          <a:noFill/>
        </p:spPr>
        <p:txBody>
          <a:bodyPr wrap="square">
            <a:spAutoFit/>
          </a:bodyPr>
          <a:lstStyle/>
          <a:p>
            <a:pPr algn="l"/>
            <a:r>
              <a:rPr sz="900" b="0" i="0">
                <a:solidFill>
                  <a:srgbClr val="333344"/>
                </a:solidFill>
                <a:latin typeface="Calibri"/>
              </a:rPr>
              <a:t>Daily mood &amp; wellbeing check-in
(anxiety, fatigue, sleep)</a:t>
            </a:r>
          </a:p>
        </p:txBody>
      </p:sp>
      <p:sp>
        <p:nvSpPr>
          <p:cNvPr id="80" name="Rectangle 79"/>
          <p:cNvSpPr/>
          <p:nvPr/>
        </p:nvSpPr>
        <p:spPr>
          <a:xfrm>
            <a:off x="6620256" y="7205472"/>
            <a:ext cx="5349240" cy="475488"/>
          </a:xfrm>
          <a:prstGeom prst="rect">
            <a:avLst/>
          </a:prstGeom>
          <a:solidFill>
            <a:srgbClr val="ECF4FB"/>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729984" y="7242048"/>
            <a:ext cx="5193792" cy="420624"/>
          </a:xfrm>
          <a:prstGeom prst="rect">
            <a:avLst/>
          </a:prstGeom>
          <a:noFill/>
        </p:spPr>
        <p:txBody>
          <a:bodyPr wrap="square">
            <a:spAutoFit/>
          </a:bodyPr>
          <a:lstStyle/>
          <a:p>
            <a:pPr algn="l"/>
            <a:r>
              <a:rPr sz="900" b="1" i="0">
                <a:solidFill>
                  <a:srgbClr val="333344"/>
                </a:solidFill>
                <a:latin typeface="Calibri"/>
              </a:rPr>
              <a:t>DLQI survey (Dermatology Life Quality Index)
+ body confidence + social impact score</a:t>
            </a:r>
          </a:p>
        </p:txBody>
      </p:sp>
      <p:sp>
        <p:nvSpPr>
          <p:cNvPr id="82" name="Rectangle 81"/>
          <p:cNvSpPr/>
          <p:nvPr/>
        </p:nvSpPr>
        <p:spPr>
          <a:xfrm>
            <a:off x="2130552" y="7680960"/>
            <a:ext cx="4434840" cy="475488"/>
          </a:xfrm>
          <a:prstGeom prst="rect">
            <a:avLst/>
          </a:prstGeom>
          <a:solidFill>
            <a:srgbClr val="FFFFFF"/>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240280" y="7717536"/>
            <a:ext cx="4279392" cy="420624"/>
          </a:xfrm>
          <a:prstGeom prst="rect">
            <a:avLst/>
          </a:prstGeom>
          <a:noFill/>
        </p:spPr>
        <p:txBody>
          <a:bodyPr wrap="square">
            <a:spAutoFit/>
          </a:bodyPr>
          <a:lstStyle/>
          <a:p>
            <a:pPr algn="l"/>
            <a:r>
              <a:rPr sz="900" b="0" i="0">
                <a:solidFill>
                  <a:srgbClr val="333344"/>
                </a:solidFill>
                <a:latin typeface="Calibri"/>
              </a:rPr>
              <a:t>Mental health &amp; anxiety resources</a:t>
            </a:r>
          </a:p>
        </p:txBody>
      </p:sp>
      <p:sp>
        <p:nvSpPr>
          <p:cNvPr id="84" name="Rectangle 83"/>
          <p:cNvSpPr/>
          <p:nvPr/>
        </p:nvSpPr>
        <p:spPr>
          <a:xfrm>
            <a:off x="6620256" y="7680960"/>
            <a:ext cx="5349240" cy="475488"/>
          </a:xfrm>
          <a:prstGeom prst="rect">
            <a:avLst/>
          </a:prstGeom>
          <a:solidFill>
            <a:srgbClr val="FFFFFF"/>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729984" y="7717536"/>
            <a:ext cx="5193792" cy="420624"/>
          </a:xfrm>
          <a:prstGeom prst="rect">
            <a:avLst/>
          </a:prstGeom>
          <a:noFill/>
        </p:spPr>
        <p:txBody>
          <a:bodyPr wrap="square">
            <a:spAutoFit/>
          </a:bodyPr>
          <a:lstStyle/>
          <a:p>
            <a:pPr algn="l"/>
            <a:r>
              <a:rPr sz="900" b="1" i="0">
                <a:solidFill>
                  <a:srgbClr val="333344"/>
                </a:solidFill>
                <a:latin typeface="Calibri"/>
              </a:rPr>
              <a:t>Body confidence resources —
psychosocial support for skin-related anxiety</a:t>
            </a:r>
          </a:p>
        </p:txBody>
      </p:sp>
      <p:sp>
        <p:nvSpPr>
          <p:cNvPr id="86" name="Rectangle 85"/>
          <p:cNvSpPr/>
          <p:nvPr/>
        </p:nvSpPr>
        <p:spPr>
          <a:xfrm>
            <a:off x="2130552" y="8147304"/>
            <a:ext cx="9838944" cy="27432"/>
          </a:xfrm>
          <a:prstGeom prst="rect">
            <a:avLst/>
          </a:prstGeom>
          <a:solidFill>
            <a:srgbClr val="BBB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1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46520"/>
            <a:ext cx="12188952" cy="411480"/>
          </a:xfrm>
          <a:prstGeom prst="rect">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
            <a:ext cx="11201400" cy="384048"/>
          </a:xfrm>
          <a:prstGeom prst="rect">
            <a:avLst/>
          </a:prstGeom>
          <a:noFill/>
        </p:spPr>
        <p:txBody>
          <a:bodyPr wrap="square">
            <a:spAutoFit/>
          </a:bodyPr>
          <a:lstStyle/>
          <a:p>
            <a:pPr algn="l"/>
            <a:r>
              <a:rPr sz="1300" b="1" i="0">
                <a:solidFill>
                  <a:srgbClr val="FFFFFF"/>
                </a:solidFill>
                <a:latin typeface="Calibri"/>
              </a:rPr>
              <a:t>"For You With You" IBD  →  Zasocitinib: Capability Comparison  (2/2)</a:t>
            </a:r>
          </a:p>
        </p:txBody>
      </p:sp>
      <p:sp>
        <p:nvSpPr>
          <p:cNvPr id="6" name="TextBox 5"/>
          <p:cNvSpPr txBox="1"/>
          <p:nvPr/>
        </p:nvSpPr>
        <p:spPr>
          <a:xfrm>
            <a:off x="457200" y="512064"/>
            <a:ext cx="11201400" cy="329184"/>
          </a:xfrm>
          <a:prstGeom prst="rect">
            <a:avLst/>
          </a:prstGeom>
          <a:noFill/>
        </p:spPr>
        <p:txBody>
          <a:bodyPr wrap="square">
            <a:spAutoFit/>
          </a:bodyPr>
          <a:lstStyle/>
          <a:p>
            <a:pPr algn="l"/>
            <a:r>
              <a:rPr sz="1100" b="0" i="1">
                <a:solidFill>
                  <a:srgbClr val="88AACC"/>
                </a:solidFill>
                <a:latin typeface="Calibri"/>
              </a:rPr>
              <a:t>Every zasocitinib capability is grounded in a live feature from Takeda's IBD companion app — mapped, not invented</a:t>
            </a:r>
          </a:p>
        </p:txBody>
      </p:sp>
      <p:sp>
        <p:nvSpPr>
          <p:cNvPr id="7" name="Rectangle 6"/>
          <p:cNvSpPr/>
          <p:nvPr/>
        </p:nvSpPr>
        <p:spPr>
          <a:xfrm>
            <a:off x="411480" y="969264"/>
            <a:ext cx="1664208" cy="347472"/>
          </a:xfrm>
          <a:prstGeom prst="rect">
            <a:avLst/>
          </a:prstGeom>
          <a:solidFill>
            <a:srgbClr val="1B1F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130552" y="969264"/>
            <a:ext cx="4434840" cy="347472"/>
          </a:xfrm>
          <a:prstGeom prst="rect">
            <a:avLst/>
          </a:prstGeom>
          <a:solidFill>
            <a:srgbClr val="005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20256" y="969264"/>
            <a:ext cx="5349240" cy="347472"/>
          </a:xfrm>
          <a:prstGeom prst="rect">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 y="969264"/>
            <a:ext cx="1508760" cy="347472"/>
          </a:xfrm>
          <a:prstGeom prst="rect">
            <a:avLst/>
          </a:prstGeom>
          <a:noFill/>
        </p:spPr>
        <p:txBody>
          <a:bodyPr wrap="square">
            <a:spAutoFit/>
          </a:bodyPr>
          <a:lstStyle/>
          <a:p>
            <a:pPr algn="ctr"/>
            <a:r>
              <a:rPr sz="1000" b="1" i="0">
                <a:solidFill>
                  <a:srgbClr val="FFFFFF"/>
                </a:solidFill>
                <a:latin typeface="Calibri"/>
              </a:rPr>
              <a:t>Category</a:t>
            </a:r>
          </a:p>
        </p:txBody>
      </p:sp>
      <p:sp>
        <p:nvSpPr>
          <p:cNvPr id="11" name="TextBox 10"/>
          <p:cNvSpPr txBox="1"/>
          <p:nvPr/>
        </p:nvSpPr>
        <p:spPr>
          <a:xfrm>
            <a:off x="2240280" y="969264"/>
            <a:ext cx="4279392" cy="347472"/>
          </a:xfrm>
          <a:prstGeom prst="rect">
            <a:avLst/>
          </a:prstGeom>
          <a:noFill/>
        </p:spPr>
        <p:txBody>
          <a:bodyPr wrap="square">
            <a:spAutoFit/>
          </a:bodyPr>
          <a:lstStyle/>
          <a:p>
            <a:pPr algn="ctr"/>
            <a:r>
              <a:rPr sz="1000" b="1" i="0">
                <a:solidFill>
                  <a:srgbClr val="FFFFFF"/>
                </a:solidFill>
                <a:latin typeface="Calibri"/>
              </a:rPr>
              <a:t>"For You With You: IBD"  capability</a:t>
            </a:r>
          </a:p>
        </p:txBody>
      </p:sp>
      <p:sp>
        <p:nvSpPr>
          <p:cNvPr id="12" name="TextBox 11"/>
          <p:cNvSpPr txBox="1"/>
          <p:nvPr/>
        </p:nvSpPr>
        <p:spPr>
          <a:xfrm>
            <a:off x="6729984" y="969264"/>
            <a:ext cx="5193792" cy="347472"/>
          </a:xfrm>
          <a:prstGeom prst="rect">
            <a:avLst/>
          </a:prstGeom>
          <a:noFill/>
        </p:spPr>
        <p:txBody>
          <a:bodyPr wrap="square">
            <a:spAutoFit/>
          </a:bodyPr>
          <a:lstStyle/>
          <a:p>
            <a:pPr algn="ctr"/>
            <a:r>
              <a:rPr sz="1000" b="1" i="0">
                <a:solidFill>
                  <a:srgbClr val="FFFFFF"/>
                </a:solidFill>
                <a:latin typeface="Calibri"/>
              </a:rPr>
              <a:t>Proposed  "For You With You: Zasocitinib"  capability</a:t>
            </a:r>
          </a:p>
        </p:txBody>
      </p:sp>
      <p:sp>
        <p:nvSpPr>
          <p:cNvPr id="13" name="Rectangle 12"/>
          <p:cNvSpPr/>
          <p:nvPr/>
        </p:nvSpPr>
        <p:spPr>
          <a:xfrm>
            <a:off x="411480" y="1316736"/>
            <a:ext cx="11558016" cy="27432"/>
          </a:xfrm>
          <a:prstGeom prst="rect">
            <a:avLst/>
          </a:prstGeom>
          <a:solidFill>
            <a:srgbClr val="E400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 y="1353312"/>
            <a:ext cx="1664208" cy="950976"/>
          </a:xfrm>
          <a:prstGeom prst="rect">
            <a:avLst/>
          </a:prstGeom>
          <a:solidFill>
            <a:srgbClr val="E64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627632"/>
            <a:ext cx="1508760" cy="402336"/>
          </a:xfrm>
          <a:prstGeom prst="rect">
            <a:avLst/>
          </a:prstGeom>
          <a:noFill/>
        </p:spPr>
        <p:txBody>
          <a:bodyPr wrap="square">
            <a:spAutoFit/>
          </a:bodyPr>
          <a:lstStyle/>
          <a:p>
            <a:pPr algn="ctr"/>
            <a:r>
              <a:rPr sz="800" b="1" i="0">
                <a:solidFill>
                  <a:srgbClr val="FFFFFF"/>
                </a:solidFill>
                <a:latin typeface="Calibri"/>
              </a:rPr>
              <a:t>TRIGGERS &amp; LIFESTYLE</a:t>
            </a:r>
          </a:p>
        </p:txBody>
      </p:sp>
      <p:sp>
        <p:nvSpPr>
          <p:cNvPr id="16" name="Rectangle 15"/>
          <p:cNvSpPr/>
          <p:nvPr/>
        </p:nvSpPr>
        <p:spPr>
          <a:xfrm>
            <a:off x="2130552" y="1353312"/>
            <a:ext cx="4434840" cy="475488"/>
          </a:xfrm>
          <a:prstGeom prst="rect">
            <a:avLst/>
          </a:prstGeom>
          <a:solidFill>
            <a:srgbClr val="ECF4FB"/>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40280" y="1389888"/>
            <a:ext cx="4279392" cy="420624"/>
          </a:xfrm>
          <a:prstGeom prst="rect">
            <a:avLst/>
          </a:prstGeom>
          <a:noFill/>
        </p:spPr>
        <p:txBody>
          <a:bodyPr wrap="square">
            <a:spAutoFit/>
          </a:bodyPr>
          <a:lstStyle/>
          <a:p>
            <a:pPr algn="l"/>
            <a:r>
              <a:rPr sz="900" b="0" i="0">
                <a:solidFill>
                  <a:srgbClr val="333344"/>
                </a:solidFill>
                <a:latin typeface="Calibri"/>
              </a:rPr>
              <a:t>Food &amp; nutrition diary
(identify dietary triggers)</a:t>
            </a:r>
          </a:p>
        </p:txBody>
      </p:sp>
      <p:sp>
        <p:nvSpPr>
          <p:cNvPr id="18" name="Rectangle 17"/>
          <p:cNvSpPr/>
          <p:nvPr/>
        </p:nvSpPr>
        <p:spPr>
          <a:xfrm>
            <a:off x="6620256" y="1353312"/>
            <a:ext cx="5349240" cy="475488"/>
          </a:xfrm>
          <a:prstGeom prst="rect">
            <a:avLst/>
          </a:prstGeom>
          <a:solidFill>
            <a:srgbClr val="ECF4FB"/>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29984" y="1389888"/>
            <a:ext cx="5193792" cy="420624"/>
          </a:xfrm>
          <a:prstGeom prst="rect">
            <a:avLst/>
          </a:prstGeom>
          <a:noFill/>
        </p:spPr>
        <p:txBody>
          <a:bodyPr wrap="square">
            <a:spAutoFit/>
          </a:bodyPr>
          <a:lstStyle/>
          <a:p>
            <a:pPr algn="l"/>
            <a:r>
              <a:rPr sz="900" b="1" i="0">
                <a:solidFill>
                  <a:srgbClr val="333344"/>
                </a:solidFill>
                <a:latin typeface="Calibri"/>
              </a:rPr>
              <a:t>Skin trigger diary —
stress, UV exposure, skincare products, diet</a:t>
            </a:r>
          </a:p>
        </p:txBody>
      </p:sp>
      <p:sp>
        <p:nvSpPr>
          <p:cNvPr id="20" name="Rectangle 19"/>
          <p:cNvSpPr/>
          <p:nvPr/>
        </p:nvSpPr>
        <p:spPr>
          <a:xfrm>
            <a:off x="2130552" y="1828800"/>
            <a:ext cx="4434840" cy="475488"/>
          </a:xfrm>
          <a:prstGeom prst="rect">
            <a:avLst/>
          </a:prstGeom>
          <a:solidFill>
            <a:srgbClr val="FFFFFF"/>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40280" y="1865376"/>
            <a:ext cx="4279392" cy="420624"/>
          </a:xfrm>
          <a:prstGeom prst="rect">
            <a:avLst/>
          </a:prstGeom>
          <a:noFill/>
        </p:spPr>
        <p:txBody>
          <a:bodyPr wrap="square">
            <a:spAutoFit/>
          </a:bodyPr>
          <a:lstStyle/>
          <a:p>
            <a:pPr algn="l"/>
            <a:r>
              <a:rPr sz="900" b="0" i="0">
                <a:solidFill>
                  <a:srgbClr val="333344"/>
                </a:solidFill>
                <a:latin typeface="Calibri"/>
              </a:rPr>
              <a:t>Sleep &amp; fatigue tracking</a:t>
            </a:r>
          </a:p>
        </p:txBody>
      </p:sp>
      <p:sp>
        <p:nvSpPr>
          <p:cNvPr id="22" name="Rectangle 21"/>
          <p:cNvSpPr/>
          <p:nvPr/>
        </p:nvSpPr>
        <p:spPr>
          <a:xfrm>
            <a:off x="6620256" y="1828800"/>
            <a:ext cx="5349240" cy="475488"/>
          </a:xfrm>
          <a:prstGeom prst="rect">
            <a:avLst/>
          </a:prstGeom>
          <a:solidFill>
            <a:srgbClr val="FFFFFF"/>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29984" y="1865376"/>
            <a:ext cx="5193792" cy="420624"/>
          </a:xfrm>
          <a:prstGeom prst="rect">
            <a:avLst/>
          </a:prstGeom>
          <a:noFill/>
        </p:spPr>
        <p:txBody>
          <a:bodyPr wrap="square">
            <a:spAutoFit/>
          </a:bodyPr>
          <a:lstStyle/>
          <a:p>
            <a:pPr algn="l"/>
            <a:r>
              <a:rPr sz="900" b="1" i="0">
                <a:solidFill>
                  <a:srgbClr val="333344"/>
                </a:solidFill>
                <a:latin typeface="Calibri"/>
              </a:rPr>
              <a:t>Sleep quality log +
seasonal/weather trigger tracking</a:t>
            </a:r>
          </a:p>
        </p:txBody>
      </p:sp>
      <p:sp>
        <p:nvSpPr>
          <p:cNvPr id="24" name="Rectangle 23"/>
          <p:cNvSpPr/>
          <p:nvPr/>
        </p:nvSpPr>
        <p:spPr>
          <a:xfrm>
            <a:off x="2130552" y="2295144"/>
            <a:ext cx="9838944" cy="27432"/>
          </a:xfrm>
          <a:prstGeom prst="rect">
            <a:avLst/>
          </a:prstGeom>
          <a:solidFill>
            <a:srgbClr val="BBB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11480" y="2340864"/>
            <a:ext cx="1664208" cy="950976"/>
          </a:xfrm>
          <a:prstGeom prst="rect">
            <a:avLst/>
          </a:prstGeom>
          <a:solidFill>
            <a:srgbClr val="006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1208" y="2615184"/>
            <a:ext cx="1508760" cy="402336"/>
          </a:xfrm>
          <a:prstGeom prst="rect">
            <a:avLst/>
          </a:prstGeom>
          <a:noFill/>
        </p:spPr>
        <p:txBody>
          <a:bodyPr wrap="square">
            <a:spAutoFit/>
          </a:bodyPr>
          <a:lstStyle/>
          <a:p>
            <a:pPr algn="ctr"/>
            <a:r>
              <a:rPr sz="800" b="1" i="0">
                <a:solidFill>
                  <a:srgbClr val="FFFFFF"/>
                </a:solidFill>
                <a:latin typeface="Calibri"/>
              </a:rPr>
              <a:t>EDUCATION</a:t>
            </a:r>
          </a:p>
        </p:txBody>
      </p:sp>
      <p:sp>
        <p:nvSpPr>
          <p:cNvPr id="27" name="Rectangle 26"/>
          <p:cNvSpPr/>
          <p:nvPr/>
        </p:nvSpPr>
        <p:spPr>
          <a:xfrm>
            <a:off x="2130552" y="2340864"/>
            <a:ext cx="4434840" cy="475488"/>
          </a:xfrm>
          <a:prstGeom prst="rect">
            <a:avLst/>
          </a:prstGeom>
          <a:solidFill>
            <a:srgbClr val="ECF4FB"/>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240280" y="2377440"/>
            <a:ext cx="4279392" cy="420624"/>
          </a:xfrm>
          <a:prstGeom prst="rect">
            <a:avLst/>
          </a:prstGeom>
          <a:noFill/>
        </p:spPr>
        <p:txBody>
          <a:bodyPr wrap="square">
            <a:spAutoFit/>
          </a:bodyPr>
          <a:lstStyle/>
          <a:p>
            <a:pPr algn="l"/>
            <a:r>
              <a:rPr sz="900" b="0" i="0">
                <a:solidFill>
                  <a:srgbClr val="333344"/>
                </a:solidFill>
                <a:latin typeface="Calibri"/>
              </a:rPr>
              <a:t>IBD disease education
(Crohn's, UC, biologics mechanism)</a:t>
            </a:r>
          </a:p>
        </p:txBody>
      </p:sp>
      <p:sp>
        <p:nvSpPr>
          <p:cNvPr id="29" name="Rectangle 28"/>
          <p:cNvSpPr/>
          <p:nvPr/>
        </p:nvSpPr>
        <p:spPr>
          <a:xfrm>
            <a:off x="6620256" y="2340864"/>
            <a:ext cx="5349240" cy="475488"/>
          </a:xfrm>
          <a:prstGeom prst="rect">
            <a:avLst/>
          </a:prstGeom>
          <a:solidFill>
            <a:srgbClr val="ECF4FB"/>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29984" y="2377440"/>
            <a:ext cx="5193792" cy="420624"/>
          </a:xfrm>
          <a:prstGeom prst="rect">
            <a:avLst/>
          </a:prstGeom>
          <a:noFill/>
        </p:spPr>
        <p:txBody>
          <a:bodyPr wrap="square">
            <a:spAutoFit/>
          </a:bodyPr>
          <a:lstStyle/>
          <a:p>
            <a:pPr algn="l"/>
            <a:r>
              <a:rPr sz="900" b="1" i="0">
                <a:solidFill>
                  <a:srgbClr val="333344"/>
                </a:solidFill>
                <a:latin typeface="Calibri"/>
              </a:rPr>
              <a:t>Psoriasis &amp; TYK2 education —
week-by-week response timeline, skin science</a:t>
            </a:r>
          </a:p>
        </p:txBody>
      </p:sp>
      <p:sp>
        <p:nvSpPr>
          <p:cNvPr id="31" name="Rectangle 30"/>
          <p:cNvSpPr/>
          <p:nvPr/>
        </p:nvSpPr>
        <p:spPr>
          <a:xfrm>
            <a:off x="2130552" y="2816352"/>
            <a:ext cx="4434840" cy="475488"/>
          </a:xfrm>
          <a:prstGeom prst="rect">
            <a:avLst/>
          </a:prstGeom>
          <a:solidFill>
            <a:srgbClr val="FFFFFF"/>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240280" y="2852928"/>
            <a:ext cx="4279392" cy="420624"/>
          </a:xfrm>
          <a:prstGeom prst="rect">
            <a:avLst/>
          </a:prstGeom>
          <a:noFill/>
        </p:spPr>
        <p:txBody>
          <a:bodyPr wrap="square">
            <a:spAutoFit/>
          </a:bodyPr>
          <a:lstStyle/>
          <a:p>
            <a:pPr algn="l"/>
            <a:r>
              <a:rPr sz="900" b="0" i="0">
                <a:solidFill>
                  <a:srgbClr val="333344"/>
                </a:solidFill>
                <a:latin typeface="Calibri"/>
              </a:rPr>
              <a:t>Living well with IBD guides</a:t>
            </a:r>
          </a:p>
        </p:txBody>
      </p:sp>
      <p:sp>
        <p:nvSpPr>
          <p:cNvPr id="33" name="Rectangle 32"/>
          <p:cNvSpPr/>
          <p:nvPr/>
        </p:nvSpPr>
        <p:spPr>
          <a:xfrm>
            <a:off x="6620256" y="2816352"/>
            <a:ext cx="5349240" cy="475488"/>
          </a:xfrm>
          <a:prstGeom prst="rect">
            <a:avLst/>
          </a:prstGeom>
          <a:solidFill>
            <a:srgbClr val="FFFFFF"/>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29984" y="2852928"/>
            <a:ext cx="5193792" cy="420624"/>
          </a:xfrm>
          <a:prstGeom prst="rect">
            <a:avLst/>
          </a:prstGeom>
          <a:noFill/>
        </p:spPr>
        <p:txBody>
          <a:bodyPr wrap="square">
            <a:spAutoFit/>
          </a:bodyPr>
          <a:lstStyle/>
          <a:p>
            <a:pPr algn="l"/>
            <a:r>
              <a:rPr sz="900" b="1" i="0">
                <a:solidFill>
                  <a:srgbClr val="333344"/>
                </a:solidFill>
                <a:latin typeface="Calibri"/>
              </a:rPr>
              <a:t>Living well with psoriasis —
trigger management, skincare, confidence</a:t>
            </a:r>
          </a:p>
        </p:txBody>
      </p:sp>
      <p:sp>
        <p:nvSpPr>
          <p:cNvPr id="35" name="Rectangle 34"/>
          <p:cNvSpPr/>
          <p:nvPr/>
        </p:nvSpPr>
        <p:spPr>
          <a:xfrm>
            <a:off x="2130552" y="3282696"/>
            <a:ext cx="9838944" cy="27432"/>
          </a:xfrm>
          <a:prstGeom prst="rect">
            <a:avLst/>
          </a:prstGeom>
          <a:solidFill>
            <a:srgbClr val="BBB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11480" y="3328416"/>
            <a:ext cx="1664208" cy="475488"/>
          </a:xfrm>
          <a:prstGeom prst="rect">
            <a:avLst/>
          </a:prstGeom>
          <a:solidFill>
            <a:srgbClr val="1A5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21208" y="3364992"/>
            <a:ext cx="1508760" cy="402336"/>
          </a:xfrm>
          <a:prstGeom prst="rect">
            <a:avLst/>
          </a:prstGeom>
          <a:noFill/>
        </p:spPr>
        <p:txBody>
          <a:bodyPr wrap="square">
            <a:spAutoFit/>
          </a:bodyPr>
          <a:lstStyle/>
          <a:p>
            <a:pPr algn="ctr"/>
            <a:r>
              <a:rPr sz="800" b="1" i="0">
                <a:solidFill>
                  <a:srgbClr val="FFFFFF"/>
                </a:solidFill>
                <a:latin typeface="Calibri"/>
              </a:rPr>
              <a:t>COMMUNITY</a:t>
            </a:r>
          </a:p>
        </p:txBody>
      </p:sp>
      <p:sp>
        <p:nvSpPr>
          <p:cNvPr id="38" name="Rectangle 37"/>
          <p:cNvSpPr/>
          <p:nvPr/>
        </p:nvSpPr>
        <p:spPr>
          <a:xfrm>
            <a:off x="2130552" y="3328416"/>
            <a:ext cx="4434840" cy="475488"/>
          </a:xfrm>
          <a:prstGeom prst="rect">
            <a:avLst/>
          </a:prstGeom>
          <a:solidFill>
            <a:srgbClr val="ECF4FB"/>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240280" y="3364992"/>
            <a:ext cx="4279392" cy="420624"/>
          </a:xfrm>
          <a:prstGeom prst="rect">
            <a:avLst/>
          </a:prstGeom>
          <a:noFill/>
        </p:spPr>
        <p:txBody>
          <a:bodyPr wrap="square">
            <a:spAutoFit/>
          </a:bodyPr>
          <a:lstStyle/>
          <a:p>
            <a:pPr algn="l"/>
            <a:r>
              <a:rPr sz="900" b="0" i="0">
                <a:solidFill>
                  <a:srgbClr val="333344"/>
                </a:solidFill>
                <a:latin typeface="Calibri"/>
              </a:rPr>
              <a:t>Patient community &amp; peer
support resources</a:t>
            </a:r>
          </a:p>
        </p:txBody>
      </p:sp>
      <p:sp>
        <p:nvSpPr>
          <p:cNvPr id="40" name="Rectangle 39"/>
          <p:cNvSpPr/>
          <p:nvPr/>
        </p:nvSpPr>
        <p:spPr>
          <a:xfrm>
            <a:off x="6620256" y="3328416"/>
            <a:ext cx="5349240" cy="475488"/>
          </a:xfrm>
          <a:prstGeom prst="rect">
            <a:avLst/>
          </a:prstGeom>
          <a:solidFill>
            <a:srgbClr val="ECF4FB"/>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729984" y="3364992"/>
            <a:ext cx="5193792" cy="420624"/>
          </a:xfrm>
          <a:prstGeom prst="rect">
            <a:avLst/>
          </a:prstGeom>
          <a:noFill/>
        </p:spPr>
        <p:txBody>
          <a:bodyPr wrap="square">
            <a:spAutoFit/>
          </a:bodyPr>
          <a:lstStyle/>
          <a:p>
            <a:pPr algn="l"/>
            <a:r>
              <a:rPr sz="900" b="1" i="0">
                <a:solidFill>
                  <a:srgbClr val="333344"/>
                </a:solidFill>
                <a:latin typeface="Calibri"/>
              </a:rPr>
              <a:t>Psoriasis community —
peer support, skin confidence stories</a:t>
            </a:r>
          </a:p>
        </p:txBody>
      </p:sp>
      <p:sp>
        <p:nvSpPr>
          <p:cNvPr id="42" name="Rectangle 41"/>
          <p:cNvSpPr/>
          <p:nvPr/>
        </p:nvSpPr>
        <p:spPr>
          <a:xfrm>
            <a:off x="2130552" y="3794760"/>
            <a:ext cx="9838944" cy="27432"/>
          </a:xfrm>
          <a:prstGeom prst="rect">
            <a:avLst/>
          </a:prstGeom>
          <a:solidFill>
            <a:srgbClr val="BBB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11480" y="3840480"/>
            <a:ext cx="1664208" cy="1901952"/>
          </a:xfrm>
          <a:prstGeom prst="rect">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21208" y="4590288"/>
            <a:ext cx="1508760" cy="402336"/>
          </a:xfrm>
          <a:prstGeom prst="rect">
            <a:avLst/>
          </a:prstGeom>
          <a:noFill/>
        </p:spPr>
        <p:txBody>
          <a:bodyPr wrap="square">
            <a:spAutoFit/>
          </a:bodyPr>
          <a:lstStyle/>
          <a:p>
            <a:pPr algn="ctr"/>
            <a:r>
              <a:rPr sz="800" b="1" i="0">
                <a:solidFill>
                  <a:srgbClr val="333344"/>
                </a:solidFill>
                <a:latin typeface="Calibri"/>
              </a:rPr>
              <a:t>NEW — UNIQUE TO DERMATOLOGY / ZASOCITINIB</a:t>
            </a:r>
          </a:p>
        </p:txBody>
      </p:sp>
      <p:sp>
        <p:nvSpPr>
          <p:cNvPr id="45" name="Rectangle 44"/>
          <p:cNvSpPr/>
          <p:nvPr/>
        </p:nvSpPr>
        <p:spPr>
          <a:xfrm>
            <a:off x="2130552" y="3840480"/>
            <a:ext cx="4434840" cy="475488"/>
          </a:xfrm>
          <a:prstGeom prst="rect">
            <a:avLst/>
          </a:prstGeom>
          <a:solidFill>
            <a:srgbClr val="FFF3E0"/>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240280" y="3877056"/>
            <a:ext cx="4279392" cy="420624"/>
          </a:xfrm>
          <a:prstGeom prst="rect">
            <a:avLst/>
          </a:prstGeom>
          <a:noFill/>
        </p:spPr>
        <p:txBody>
          <a:bodyPr wrap="square">
            <a:spAutoFit/>
          </a:bodyPr>
          <a:lstStyle/>
          <a:p>
            <a:pPr algn="l"/>
            <a:r>
              <a:rPr sz="900" b="0" i="1">
                <a:solidFill>
                  <a:srgbClr val="886600"/>
                </a:solidFill>
                <a:latin typeface="Calibri"/>
              </a:rPr>
              <a:t>No equivalent in IBD app</a:t>
            </a:r>
          </a:p>
        </p:txBody>
      </p:sp>
      <p:sp>
        <p:nvSpPr>
          <p:cNvPr id="47" name="Rectangle 46"/>
          <p:cNvSpPr/>
          <p:nvPr/>
        </p:nvSpPr>
        <p:spPr>
          <a:xfrm>
            <a:off x="6620256" y="3840480"/>
            <a:ext cx="5349240" cy="475488"/>
          </a:xfrm>
          <a:prstGeom prst="rect">
            <a:avLst/>
          </a:prstGeom>
          <a:solidFill>
            <a:srgbClr val="FFF3E0"/>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711696" y="3959352"/>
            <a:ext cx="512064" cy="219456"/>
          </a:xfrm>
          <a:prstGeom prst="roundRect">
            <a:avLst>
              <a:gd name="adj" fmla="val 20000"/>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711696" y="3959352"/>
            <a:ext cx="466344" cy="219456"/>
          </a:xfrm>
          <a:prstGeom prst="rect">
            <a:avLst/>
          </a:prstGeom>
          <a:noFill/>
        </p:spPr>
        <p:txBody>
          <a:bodyPr wrap="square">
            <a:spAutoFit/>
          </a:bodyPr>
          <a:lstStyle/>
          <a:p>
            <a:pPr algn="ctr"/>
            <a:r>
              <a:rPr sz="700" b="1" i="0">
                <a:solidFill>
                  <a:srgbClr val="FFFFFF"/>
                </a:solidFill>
                <a:latin typeface="Calibri"/>
              </a:rPr>
              <a:t>NEW</a:t>
            </a:r>
          </a:p>
        </p:txBody>
      </p:sp>
      <p:sp>
        <p:nvSpPr>
          <p:cNvPr id="50" name="TextBox 49"/>
          <p:cNvSpPr txBox="1"/>
          <p:nvPr/>
        </p:nvSpPr>
        <p:spPr>
          <a:xfrm>
            <a:off x="7388352" y="3877056"/>
            <a:ext cx="4462272" cy="420624"/>
          </a:xfrm>
          <a:prstGeom prst="rect">
            <a:avLst/>
          </a:prstGeom>
          <a:noFill/>
        </p:spPr>
        <p:txBody>
          <a:bodyPr wrap="square">
            <a:spAutoFit/>
          </a:bodyPr>
          <a:lstStyle/>
          <a:p>
            <a:pPr algn="l"/>
            <a:r>
              <a:rPr sz="900" b="0" i="0">
                <a:solidFill>
                  <a:srgbClr val="5C3A00"/>
                </a:solidFill>
                <a:latin typeface="Calibri"/>
              </a:rPr>
              <a:t>Photo diary — baseline vs. current
side-by-side skin comparison</a:t>
            </a:r>
          </a:p>
        </p:txBody>
      </p:sp>
      <p:sp>
        <p:nvSpPr>
          <p:cNvPr id="51" name="Rectangle 50"/>
          <p:cNvSpPr/>
          <p:nvPr/>
        </p:nvSpPr>
        <p:spPr>
          <a:xfrm>
            <a:off x="2130552" y="4315968"/>
            <a:ext cx="4434840" cy="475488"/>
          </a:xfrm>
          <a:prstGeom prst="rect">
            <a:avLst/>
          </a:prstGeom>
          <a:solidFill>
            <a:srgbClr val="FFF3E0"/>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240280" y="4352544"/>
            <a:ext cx="4279392" cy="420624"/>
          </a:xfrm>
          <a:prstGeom prst="rect">
            <a:avLst/>
          </a:prstGeom>
          <a:noFill/>
        </p:spPr>
        <p:txBody>
          <a:bodyPr wrap="square">
            <a:spAutoFit/>
          </a:bodyPr>
          <a:lstStyle/>
          <a:p>
            <a:pPr algn="l"/>
            <a:r>
              <a:rPr sz="900" b="0" i="1">
                <a:solidFill>
                  <a:srgbClr val="886600"/>
                </a:solidFill>
                <a:latin typeface="Calibri"/>
              </a:rPr>
              <a:t>No equivalent in IBD app</a:t>
            </a:r>
          </a:p>
        </p:txBody>
      </p:sp>
      <p:sp>
        <p:nvSpPr>
          <p:cNvPr id="53" name="Rectangle 52"/>
          <p:cNvSpPr/>
          <p:nvPr/>
        </p:nvSpPr>
        <p:spPr>
          <a:xfrm>
            <a:off x="6620256" y="4315968"/>
            <a:ext cx="5349240" cy="475488"/>
          </a:xfrm>
          <a:prstGeom prst="rect">
            <a:avLst/>
          </a:prstGeom>
          <a:solidFill>
            <a:srgbClr val="FFF3E0"/>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711696" y="4434840"/>
            <a:ext cx="512064" cy="219456"/>
          </a:xfrm>
          <a:prstGeom prst="roundRect">
            <a:avLst>
              <a:gd name="adj" fmla="val 20000"/>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711696" y="4434840"/>
            <a:ext cx="466344" cy="219456"/>
          </a:xfrm>
          <a:prstGeom prst="rect">
            <a:avLst/>
          </a:prstGeom>
          <a:noFill/>
        </p:spPr>
        <p:txBody>
          <a:bodyPr wrap="square">
            <a:spAutoFit/>
          </a:bodyPr>
          <a:lstStyle/>
          <a:p>
            <a:pPr algn="ctr"/>
            <a:r>
              <a:rPr sz="700" b="1" i="0">
                <a:solidFill>
                  <a:srgbClr val="FFFFFF"/>
                </a:solidFill>
                <a:latin typeface="Calibri"/>
              </a:rPr>
              <a:t>NEW</a:t>
            </a:r>
          </a:p>
        </p:txBody>
      </p:sp>
      <p:sp>
        <p:nvSpPr>
          <p:cNvPr id="56" name="TextBox 55"/>
          <p:cNvSpPr txBox="1"/>
          <p:nvPr/>
        </p:nvSpPr>
        <p:spPr>
          <a:xfrm>
            <a:off x="7388352" y="4352544"/>
            <a:ext cx="4462272" cy="420624"/>
          </a:xfrm>
          <a:prstGeom prst="rect">
            <a:avLst/>
          </a:prstGeom>
          <a:noFill/>
        </p:spPr>
        <p:txBody>
          <a:bodyPr wrap="square">
            <a:spAutoFit/>
          </a:bodyPr>
          <a:lstStyle/>
          <a:p>
            <a:pPr algn="l"/>
            <a:r>
              <a:rPr sz="900" b="0" i="0">
                <a:solidFill>
                  <a:srgbClr val="5C3A00"/>
                </a:solidFill>
                <a:latin typeface="Calibri"/>
              </a:rPr>
              <a:t>Clearance milestone celebration —
PASI 75 / PASI 90 achievement notification</a:t>
            </a:r>
          </a:p>
        </p:txBody>
      </p:sp>
      <p:sp>
        <p:nvSpPr>
          <p:cNvPr id="57" name="Rectangle 56"/>
          <p:cNvSpPr/>
          <p:nvPr/>
        </p:nvSpPr>
        <p:spPr>
          <a:xfrm>
            <a:off x="2130552" y="4791456"/>
            <a:ext cx="4434840" cy="475488"/>
          </a:xfrm>
          <a:prstGeom prst="rect">
            <a:avLst/>
          </a:prstGeom>
          <a:solidFill>
            <a:srgbClr val="FFF3E0"/>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240280" y="4828032"/>
            <a:ext cx="4279392" cy="420624"/>
          </a:xfrm>
          <a:prstGeom prst="rect">
            <a:avLst/>
          </a:prstGeom>
          <a:noFill/>
        </p:spPr>
        <p:txBody>
          <a:bodyPr wrap="square">
            <a:spAutoFit/>
          </a:bodyPr>
          <a:lstStyle/>
          <a:p>
            <a:pPr algn="l"/>
            <a:r>
              <a:rPr sz="900" b="0" i="1">
                <a:solidFill>
                  <a:srgbClr val="886600"/>
                </a:solidFill>
                <a:latin typeface="Calibri"/>
              </a:rPr>
              <a:t>No equivalent in IBD app</a:t>
            </a:r>
          </a:p>
        </p:txBody>
      </p:sp>
      <p:sp>
        <p:nvSpPr>
          <p:cNvPr id="59" name="Rectangle 58"/>
          <p:cNvSpPr/>
          <p:nvPr/>
        </p:nvSpPr>
        <p:spPr>
          <a:xfrm>
            <a:off x="6620256" y="4791456"/>
            <a:ext cx="5349240" cy="475488"/>
          </a:xfrm>
          <a:prstGeom prst="rect">
            <a:avLst/>
          </a:prstGeom>
          <a:solidFill>
            <a:srgbClr val="FFF3E0"/>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711696" y="4910328"/>
            <a:ext cx="512064" cy="219456"/>
          </a:xfrm>
          <a:prstGeom prst="roundRect">
            <a:avLst>
              <a:gd name="adj" fmla="val 20000"/>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711696" y="4910328"/>
            <a:ext cx="466344" cy="219456"/>
          </a:xfrm>
          <a:prstGeom prst="rect">
            <a:avLst/>
          </a:prstGeom>
          <a:noFill/>
        </p:spPr>
        <p:txBody>
          <a:bodyPr wrap="square">
            <a:spAutoFit/>
          </a:bodyPr>
          <a:lstStyle/>
          <a:p>
            <a:pPr algn="ctr"/>
            <a:r>
              <a:rPr sz="700" b="1" i="0">
                <a:solidFill>
                  <a:srgbClr val="FFFFFF"/>
                </a:solidFill>
                <a:latin typeface="Calibri"/>
              </a:rPr>
              <a:t>NEW</a:t>
            </a:r>
          </a:p>
        </p:txBody>
      </p:sp>
      <p:sp>
        <p:nvSpPr>
          <p:cNvPr id="62" name="TextBox 61"/>
          <p:cNvSpPr txBox="1"/>
          <p:nvPr/>
        </p:nvSpPr>
        <p:spPr>
          <a:xfrm>
            <a:off x="7388352" y="4828032"/>
            <a:ext cx="4462272" cy="420624"/>
          </a:xfrm>
          <a:prstGeom prst="rect">
            <a:avLst/>
          </a:prstGeom>
          <a:noFill/>
        </p:spPr>
        <p:txBody>
          <a:bodyPr wrap="square">
            <a:spAutoFit/>
          </a:bodyPr>
          <a:lstStyle/>
          <a:p>
            <a:pPr algn="l"/>
            <a:r>
              <a:rPr sz="900" b="0" i="0">
                <a:solidFill>
                  <a:srgbClr val="5C3A00"/>
                </a:solidFill>
                <a:latin typeface="Calibri"/>
              </a:rPr>
              <a:t>Zasocitinib Phase 3 stat card:
~2× more effective than current best oral therapy</a:t>
            </a:r>
          </a:p>
        </p:txBody>
      </p:sp>
      <p:sp>
        <p:nvSpPr>
          <p:cNvPr id="63" name="Rectangle 62"/>
          <p:cNvSpPr/>
          <p:nvPr/>
        </p:nvSpPr>
        <p:spPr>
          <a:xfrm>
            <a:off x="2130552" y="5266944"/>
            <a:ext cx="4434840" cy="475488"/>
          </a:xfrm>
          <a:prstGeom prst="rect">
            <a:avLst/>
          </a:prstGeom>
          <a:solidFill>
            <a:srgbClr val="FFF3E0"/>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240280" y="5303520"/>
            <a:ext cx="4279392" cy="420624"/>
          </a:xfrm>
          <a:prstGeom prst="rect">
            <a:avLst/>
          </a:prstGeom>
          <a:noFill/>
        </p:spPr>
        <p:txBody>
          <a:bodyPr wrap="square">
            <a:spAutoFit/>
          </a:bodyPr>
          <a:lstStyle/>
          <a:p>
            <a:pPr algn="l"/>
            <a:r>
              <a:rPr sz="900" b="0" i="1">
                <a:solidFill>
                  <a:srgbClr val="886600"/>
                </a:solidFill>
                <a:latin typeface="Calibri"/>
              </a:rPr>
              <a:t>Also in development for Crohn's disease —
same platform, new IBD module</a:t>
            </a:r>
          </a:p>
        </p:txBody>
      </p:sp>
      <p:sp>
        <p:nvSpPr>
          <p:cNvPr id="65" name="Rectangle 64"/>
          <p:cNvSpPr/>
          <p:nvPr/>
        </p:nvSpPr>
        <p:spPr>
          <a:xfrm>
            <a:off x="6620256" y="5266944"/>
            <a:ext cx="5349240" cy="475488"/>
          </a:xfrm>
          <a:prstGeom prst="rect">
            <a:avLst/>
          </a:prstGeom>
          <a:solidFill>
            <a:srgbClr val="FFF3E0"/>
          </a:solidFill>
          <a:ln w="6350">
            <a:solidFill>
              <a:srgbClr val="BBBB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711696" y="5385816"/>
            <a:ext cx="512064" cy="219456"/>
          </a:xfrm>
          <a:prstGeom prst="roundRect">
            <a:avLst>
              <a:gd name="adj" fmla="val 20000"/>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711696" y="5385816"/>
            <a:ext cx="466344" cy="219456"/>
          </a:xfrm>
          <a:prstGeom prst="rect">
            <a:avLst/>
          </a:prstGeom>
          <a:noFill/>
        </p:spPr>
        <p:txBody>
          <a:bodyPr wrap="square">
            <a:spAutoFit/>
          </a:bodyPr>
          <a:lstStyle/>
          <a:p>
            <a:pPr algn="ctr"/>
            <a:r>
              <a:rPr sz="700" b="1" i="0">
                <a:solidFill>
                  <a:srgbClr val="FFFFFF"/>
                </a:solidFill>
                <a:latin typeface="Calibri"/>
              </a:rPr>
              <a:t>NEW</a:t>
            </a:r>
          </a:p>
        </p:txBody>
      </p:sp>
      <p:sp>
        <p:nvSpPr>
          <p:cNvPr id="68" name="TextBox 67"/>
          <p:cNvSpPr txBox="1"/>
          <p:nvPr/>
        </p:nvSpPr>
        <p:spPr>
          <a:xfrm>
            <a:off x="7388352" y="5303520"/>
            <a:ext cx="4462272" cy="420624"/>
          </a:xfrm>
          <a:prstGeom prst="rect">
            <a:avLst/>
          </a:prstGeom>
          <a:noFill/>
        </p:spPr>
        <p:txBody>
          <a:bodyPr wrap="square">
            <a:spAutoFit/>
          </a:bodyPr>
          <a:lstStyle/>
          <a:p>
            <a:pPr algn="l"/>
            <a:r>
              <a:rPr sz="900" b="0" i="0">
                <a:solidFill>
                  <a:srgbClr val="5C3A00"/>
                </a:solidFill>
                <a:latin typeface="Calibri"/>
              </a:rPr>
              <a:t>Extensible: zasocitinib IBD module
shares app infrastructure across indications</a:t>
            </a:r>
          </a:p>
        </p:txBody>
      </p:sp>
      <p:sp>
        <p:nvSpPr>
          <p:cNvPr id="69" name="Rectangle 68"/>
          <p:cNvSpPr/>
          <p:nvPr/>
        </p:nvSpPr>
        <p:spPr>
          <a:xfrm>
            <a:off x="2130552" y="5733288"/>
            <a:ext cx="9838944" cy="27432"/>
          </a:xfrm>
          <a:prstGeom prst="rect">
            <a:avLst/>
          </a:prstGeom>
          <a:solidFill>
            <a:srgbClr val="BBB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